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35" r:id="rId1"/>
  </p:sld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71" r:id="rId14"/>
    <p:sldId id="272" r:id="rId15"/>
    <p:sldId id="273" r:id="rId16"/>
    <p:sldId id="269" r:id="rId17"/>
    <p:sldId id="270" r:id="rId18"/>
    <p:sldId id="274" r:id="rId19"/>
    <p:sldId id="275" r:id="rId20"/>
    <p:sldId id="276" r:id="rId21"/>
    <p:sldId id="280" r:id="rId22"/>
    <p:sldId id="281" r:id="rId23"/>
    <p:sldId id="282" r:id="rId24"/>
    <p:sldId id="283" r:id="rId25"/>
    <p:sldId id="284" r:id="rId26"/>
    <p:sldId id="285" r:id="rId27"/>
    <p:sldId id="286" r:id="rId28"/>
    <p:sldId id="287" r:id="rId29"/>
    <p:sldId id="288" r:id="rId30"/>
    <p:sldId id="292" r:id="rId31"/>
    <p:sldId id="293" r:id="rId32"/>
    <p:sldId id="294" r:id="rId33"/>
    <p:sldId id="289" r:id="rId34"/>
    <p:sldId id="290" r:id="rId35"/>
    <p:sldId id="291" r:id="rId36"/>
    <p:sldId id="277" r:id="rId37"/>
    <p:sldId id="278" r:id="rId38"/>
    <p:sldId id="279"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2250C12-445A-4B10-A52F-DFD2B7BDC684}">
          <p14:sldIdLst>
            <p14:sldId id="256"/>
            <p14:sldId id="257"/>
            <p14:sldId id="258"/>
            <p14:sldId id="259"/>
            <p14:sldId id="260"/>
            <p14:sldId id="262"/>
            <p14:sldId id="263"/>
            <p14:sldId id="264"/>
            <p14:sldId id="265"/>
            <p14:sldId id="266"/>
            <p14:sldId id="267"/>
            <p14:sldId id="268"/>
            <p14:sldId id="271"/>
            <p14:sldId id="272"/>
            <p14:sldId id="273"/>
            <p14:sldId id="269"/>
            <p14:sldId id="270"/>
            <p14:sldId id="274"/>
            <p14:sldId id="275"/>
            <p14:sldId id="276"/>
            <p14:sldId id="280"/>
            <p14:sldId id="281"/>
            <p14:sldId id="282"/>
            <p14:sldId id="283"/>
            <p14:sldId id="284"/>
            <p14:sldId id="285"/>
            <p14:sldId id="286"/>
            <p14:sldId id="287"/>
            <p14:sldId id="288"/>
            <p14:sldId id="292"/>
            <p14:sldId id="293"/>
            <p14:sldId id="294"/>
            <p14:sldId id="289"/>
            <p14:sldId id="290"/>
            <p14:sldId id="291"/>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9F5914-5F2F-46AC-AD02-D417D8539EF7}" v="18" dt="2026-02-25T19:02:27.7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10504" autoAdjust="0"/>
    <p:restoredTop sz="86410" autoAdjust="0"/>
  </p:normalViewPr>
  <p:slideViewPr>
    <p:cSldViewPr snapToGrid="0">
      <p:cViewPr varScale="1">
        <p:scale>
          <a:sx n="82" d="100"/>
          <a:sy n="82" d="100"/>
        </p:scale>
        <p:origin x="1296" y="72"/>
      </p:cViewPr>
      <p:guideLst/>
    </p:cSldViewPr>
  </p:slideViewPr>
  <p:outlineViewPr>
    <p:cViewPr>
      <p:scale>
        <a:sx n="33" d="100"/>
        <a:sy n="33" d="100"/>
      </p:scale>
      <p:origin x="0" y="-40904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NEM VEERANJI REDDY" userId="91d8171bc9e939bf" providerId="LiveId" clId="{54DED5D2-187F-4CD1-90AF-93C9DC9CA6B0}"/>
    <pc:docChg chg="undo custSel addSld modSld modSection">
      <pc:chgData name="ANNEM VEERANJI REDDY" userId="91d8171bc9e939bf" providerId="LiveId" clId="{54DED5D2-187F-4CD1-90AF-93C9DC9CA6B0}" dt="2026-02-25T19:16:16.582" v="178" actId="115"/>
      <pc:docMkLst>
        <pc:docMk/>
      </pc:docMkLst>
      <pc:sldChg chg="modSp mod">
        <pc:chgData name="ANNEM VEERANJI REDDY" userId="91d8171bc9e939bf" providerId="LiveId" clId="{54DED5D2-187F-4CD1-90AF-93C9DC9CA6B0}" dt="2026-02-25T19:10:33.093" v="160" actId="115"/>
        <pc:sldMkLst>
          <pc:docMk/>
          <pc:sldMk cId="2852172104" sldId="259"/>
        </pc:sldMkLst>
        <pc:spChg chg="mod">
          <ac:chgData name="ANNEM VEERANJI REDDY" userId="91d8171bc9e939bf" providerId="LiveId" clId="{54DED5D2-187F-4CD1-90AF-93C9DC9CA6B0}" dt="2026-02-25T19:10:33.093" v="160" actId="115"/>
          <ac:spMkLst>
            <pc:docMk/>
            <pc:sldMk cId="2852172104" sldId="259"/>
            <ac:spMk id="2" creationId="{68BC778F-76A0-5B7D-5C1E-B82E542972FC}"/>
          </ac:spMkLst>
        </pc:spChg>
      </pc:sldChg>
      <pc:sldChg chg="modSp mod">
        <pc:chgData name="ANNEM VEERANJI REDDY" userId="91d8171bc9e939bf" providerId="LiveId" clId="{54DED5D2-187F-4CD1-90AF-93C9DC9CA6B0}" dt="2026-02-25T19:10:44.917" v="161" actId="115"/>
        <pc:sldMkLst>
          <pc:docMk/>
          <pc:sldMk cId="2400053342" sldId="260"/>
        </pc:sldMkLst>
        <pc:spChg chg="mod">
          <ac:chgData name="ANNEM VEERANJI REDDY" userId="91d8171bc9e939bf" providerId="LiveId" clId="{54DED5D2-187F-4CD1-90AF-93C9DC9CA6B0}" dt="2026-02-25T19:10:44.917" v="161" actId="115"/>
          <ac:spMkLst>
            <pc:docMk/>
            <pc:sldMk cId="2400053342" sldId="260"/>
            <ac:spMk id="2" creationId="{6C2C489C-AEF8-ED70-508F-4CB00FB15C9A}"/>
          </ac:spMkLst>
        </pc:spChg>
      </pc:sldChg>
      <pc:sldChg chg="modSp mod">
        <pc:chgData name="ANNEM VEERANJI REDDY" userId="91d8171bc9e939bf" providerId="LiveId" clId="{54DED5D2-187F-4CD1-90AF-93C9DC9CA6B0}" dt="2026-02-25T19:11:03.154" v="162" actId="115"/>
        <pc:sldMkLst>
          <pc:docMk/>
          <pc:sldMk cId="1335418109" sldId="262"/>
        </pc:sldMkLst>
        <pc:spChg chg="mod">
          <ac:chgData name="ANNEM VEERANJI REDDY" userId="91d8171bc9e939bf" providerId="LiveId" clId="{54DED5D2-187F-4CD1-90AF-93C9DC9CA6B0}" dt="2026-02-25T19:11:03.154" v="162" actId="115"/>
          <ac:spMkLst>
            <pc:docMk/>
            <pc:sldMk cId="1335418109" sldId="262"/>
            <ac:spMk id="2" creationId="{74A29606-F547-9E43-A38A-9AA4A62FB7B8}"/>
          </ac:spMkLst>
        </pc:spChg>
      </pc:sldChg>
      <pc:sldChg chg="modSp mod">
        <pc:chgData name="ANNEM VEERANJI REDDY" userId="91d8171bc9e939bf" providerId="LiveId" clId="{54DED5D2-187F-4CD1-90AF-93C9DC9CA6B0}" dt="2026-02-25T19:11:20.210" v="163" actId="115"/>
        <pc:sldMkLst>
          <pc:docMk/>
          <pc:sldMk cId="2533155582" sldId="265"/>
        </pc:sldMkLst>
        <pc:spChg chg="mod">
          <ac:chgData name="ANNEM VEERANJI REDDY" userId="91d8171bc9e939bf" providerId="LiveId" clId="{54DED5D2-187F-4CD1-90AF-93C9DC9CA6B0}" dt="2026-02-25T19:11:20.210" v="163" actId="115"/>
          <ac:spMkLst>
            <pc:docMk/>
            <pc:sldMk cId="2533155582" sldId="265"/>
            <ac:spMk id="2" creationId="{645865E1-819E-87B7-9A5E-8D0F08E88758}"/>
          </ac:spMkLst>
        </pc:spChg>
      </pc:sldChg>
      <pc:sldChg chg="modSp mod">
        <pc:chgData name="ANNEM VEERANJI REDDY" userId="91d8171bc9e939bf" providerId="LiveId" clId="{54DED5D2-187F-4CD1-90AF-93C9DC9CA6B0}" dt="2026-02-25T19:11:27.638" v="164" actId="115"/>
        <pc:sldMkLst>
          <pc:docMk/>
          <pc:sldMk cId="1574919991" sldId="266"/>
        </pc:sldMkLst>
        <pc:spChg chg="mod">
          <ac:chgData name="ANNEM VEERANJI REDDY" userId="91d8171bc9e939bf" providerId="LiveId" clId="{54DED5D2-187F-4CD1-90AF-93C9DC9CA6B0}" dt="2026-02-25T19:11:27.638" v="164" actId="115"/>
          <ac:spMkLst>
            <pc:docMk/>
            <pc:sldMk cId="1574919991" sldId="266"/>
            <ac:spMk id="2" creationId="{649F344B-04AE-24F5-0FDD-60952C0AD301}"/>
          </ac:spMkLst>
        </pc:spChg>
      </pc:sldChg>
      <pc:sldChg chg="modSp mod">
        <pc:chgData name="ANNEM VEERANJI REDDY" userId="91d8171bc9e939bf" providerId="LiveId" clId="{54DED5D2-187F-4CD1-90AF-93C9DC9CA6B0}" dt="2026-02-25T19:11:39.434" v="165" actId="115"/>
        <pc:sldMkLst>
          <pc:docMk/>
          <pc:sldMk cId="3005302572" sldId="267"/>
        </pc:sldMkLst>
        <pc:spChg chg="mod">
          <ac:chgData name="ANNEM VEERANJI REDDY" userId="91d8171bc9e939bf" providerId="LiveId" clId="{54DED5D2-187F-4CD1-90AF-93C9DC9CA6B0}" dt="2026-02-25T19:11:39.434" v="165" actId="115"/>
          <ac:spMkLst>
            <pc:docMk/>
            <pc:sldMk cId="3005302572" sldId="267"/>
            <ac:spMk id="2" creationId="{604CEECD-98DC-11F2-0049-EE7F867230CF}"/>
          </ac:spMkLst>
        </pc:spChg>
      </pc:sldChg>
      <pc:sldChg chg="modSp mod">
        <pc:chgData name="ANNEM VEERANJI REDDY" userId="91d8171bc9e939bf" providerId="LiveId" clId="{54DED5D2-187F-4CD1-90AF-93C9DC9CA6B0}" dt="2026-02-25T19:11:51.104" v="166" actId="115"/>
        <pc:sldMkLst>
          <pc:docMk/>
          <pc:sldMk cId="332664843" sldId="268"/>
        </pc:sldMkLst>
        <pc:spChg chg="mod">
          <ac:chgData name="ANNEM VEERANJI REDDY" userId="91d8171bc9e939bf" providerId="LiveId" clId="{54DED5D2-187F-4CD1-90AF-93C9DC9CA6B0}" dt="2026-02-25T19:11:51.104" v="166" actId="115"/>
          <ac:spMkLst>
            <pc:docMk/>
            <pc:sldMk cId="332664843" sldId="268"/>
            <ac:spMk id="2" creationId="{588C2ACA-A5A8-063A-26A7-A42B4B2CE847}"/>
          </ac:spMkLst>
        </pc:spChg>
      </pc:sldChg>
      <pc:sldChg chg="modSp mod">
        <pc:chgData name="ANNEM VEERANJI REDDY" userId="91d8171bc9e939bf" providerId="LiveId" clId="{54DED5D2-187F-4CD1-90AF-93C9DC9CA6B0}" dt="2026-02-25T19:12:07.845" v="167" actId="115"/>
        <pc:sldMkLst>
          <pc:docMk/>
          <pc:sldMk cId="775138012" sldId="269"/>
        </pc:sldMkLst>
        <pc:spChg chg="mod">
          <ac:chgData name="ANNEM VEERANJI REDDY" userId="91d8171bc9e939bf" providerId="LiveId" clId="{54DED5D2-187F-4CD1-90AF-93C9DC9CA6B0}" dt="2026-02-25T19:12:07.845" v="167" actId="115"/>
          <ac:spMkLst>
            <pc:docMk/>
            <pc:sldMk cId="775138012" sldId="269"/>
            <ac:spMk id="2" creationId="{45D02201-A386-4376-E40F-8E90DB9046F3}"/>
          </ac:spMkLst>
        </pc:spChg>
      </pc:sldChg>
      <pc:sldChg chg="modSp mod">
        <pc:chgData name="ANNEM VEERANJI REDDY" userId="91d8171bc9e939bf" providerId="LiveId" clId="{54DED5D2-187F-4CD1-90AF-93C9DC9CA6B0}" dt="2026-02-25T19:12:18.542" v="168" actId="115"/>
        <pc:sldMkLst>
          <pc:docMk/>
          <pc:sldMk cId="824580717" sldId="270"/>
        </pc:sldMkLst>
        <pc:spChg chg="mod">
          <ac:chgData name="ANNEM VEERANJI REDDY" userId="91d8171bc9e939bf" providerId="LiveId" clId="{54DED5D2-187F-4CD1-90AF-93C9DC9CA6B0}" dt="2026-02-25T19:12:18.542" v="168" actId="115"/>
          <ac:spMkLst>
            <pc:docMk/>
            <pc:sldMk cId="824580717" sldId="270"/>
            <ac:spMk id="2" creationId="{0EC53A12-248D-87A0-B863-C2C208C9E534}"/>
          </ac:spMkLst>
        </pc:spChg>
      </pc:sldChg>
      <pc:sldChg chg="modSp mod">
        <pc:chgData name="ANNEM VEERANJI REDDY" userId="91d8171bc9e939bf" providerId="LiveId" clId="{54DED5D2-187F-4CD1-90AF-93C9DC9CA6B0}" dt="2026-02-25T19:12:31.618" v="169" actId="115"/>
        <pc:sldMkLst>
          <pc:docMk/>
          <pc:sldMk cId="3417623453" sldId="274"/>
        </pc:sldMkLst>
        <pc:spChg chg="mod">
          <ac:chgData name="ANNEM VEERANJI REDDY" userId="91d8171bc9e939bf" providerId="LiveId" clId="{54DED5D2-187F-4CD1-90AF-93C9DC9CA6B0}" dt="2026-02-25T19:12:31.618" v="169" actId="115"/>
          <ac:spMkLst>
            <pc:docMk/>
            <pc:sldMk cId="3417623453" sldId="274"/>
            <ac:spMk id="2" creationId="{04E65772-4096-B5E4-EACF-C965BBBC343E}"/>
          </ac:spMkLst>
        </pc:spChg>
      </pc:sldChg>
      <pc:sldChg chg="modSp mod">
        <pc:chgData name="ANNEM VEERANJI REDDY" userId="91d8171bc9e939bf" providerId="LiveId" clId="{54DED5D2-187F-4CD1-90AF-93C9DC9CA6B0}" dt="2026-02-25T19:13:55.736" v="170" actId="115"/>
        <pc:sldMkLst>
          <pc:docMk/>
          <pc:sldMk cId="4293532391" sldId="275"/>
        </pc:sldMkLst>
        <pc:spChg chg="mod">
          <ac:chgData name="ANNEM VEERANJI REDDY" userId="91d8171bc9e939bf" providerId="LiveId" clId="{54DED5D2-187F-4CD1-90AF-93C9DC9CA6B0}" dt="2026-02-25T19:13:55.736" v="170" actId="115"/>
          <ac:spMkLst>
            <pc:docMk/>
            <pc:sldMk cId="4293532391" sldId="275"/>
            <ac:spMk id="2" creationId="{99D81602-FFD6-8968-6CE7-C26389745288}"/>
          </ac:spMkLst>
        </pc:spChg>
      </pc:sldChg>
      <pc:sldChg chg="modSp mod">
        <pc:chgData name="ANNEM VEERANJI REDDY" userId="91d8171bc9e939bf" providerId="LiveId" clId="{54DED5D2-187F-4CD1-90AF-93C9DC9CA6B0}" dt="2026-02-25T19:14:09.668" v="171" actId="115"/>
        <pc:sldMkLst>
          <pc:docMk/>
          <pc:sldMk cId="2929388821" sldId="276"/>
        </pc:sldMkLst>
        <pc:spChg chg="mod">
          <ac:chgData name="ANNEM VEERANJI REDDY" userId="91d8171bc9e939bf" providerId="LiveId" clId="{54DED5D2-187F-4CD1-90AF-93C9DC9CA6B0}" dt="2026-02-25T19:14:09.668" v="171" actId="115"/>
          <ac:spMkLst>
            <pc:docMk/>
            <pc:sldMk cId="2929388821" sldId="276"/>
            <ac:spMk id="2" creationId="{7C637C31-9303-BA1A-8043-41A50A59EFD3}"/>
          </ac:spMkLst>
        </pc:spChg>
      </pc:sldChg>
      <pc:sldChg chg="modSp mod">
        <pc:chgData name="ANNEM VEERANJI REDDY" userId="91d8171bc9e939bf" providerId="LiveId" clId="{54DED5D2-187F-4CD1-90AF-93C9DC9CA6B0}" dt="2026-02-25T19:16:16.582" v="178" actId="115"/>
        <pc:sldMkLst>
          <pc:docMk/>
          <pc:sldMk cId="1490123743" sldId="277"/>
        </pc:sldMkLst>
        <pc:spChg chg="mod">
          <ac:chgData name="ANNEM VEERANJI REDDY" userId="91d8171bc9e939bf" providerId="LiveId" clId="{54DED5D2-187F-4CD1-90AF-93C9DC9CA6B0}" dt="2026-02-25T19:16:16.582" v="178" actId="115"/>
          <ac:spMkLst>
            <pc:docMk/>
            <pc:sldMk cId="1490123743" sldId="277"/>
            <ac:spMk id="2" creationId="{DA7F9E8F-625C-ED02-8577-2350545E0D92}"/>
          </ac:spMkLst>
        </pc:spChg>
      </pc:sldChg>
      <pc:sldChg chg="modSp mod">
        <pc:chgData name="ANNEM VEERANJI REDDY" userId="91d8171bc9e939bf" providerId="LiveId" clId="{54DED5D2-187F-4CD1-90AF-93C9DC9CA6B0}" dt="2026-02-25T19:14:25.401" v="172" actId="115"/>
        <pc:sldMkLst>
          <pc:docMk/>
          <pc:sldMk cId="1342880414" sldId="280"/>
        </pc:sldMkLst>
        <pc:spChg chg="mod">
          <ac:chgData name="ANNEM VEERANJI REDDY" userId="91d8171bc9e939bf" providerId="LiveId" clId="{54DED5D2-187F-4CD1-90AF-93C9DC9CA6B0}" dt="2026-02-25T19:14:25.401" v="172" actId="115"/>
          <ac:spMkLst>
            <pc:docMk/>
            <pc:sldMk cId="1342880414" sldId="280"/>
            <ac:spMk id="2" creationId="{38A8ECD1-69FC-DACB-DD29-6C9D55746827}"/>
          </ac:spMkLst>
        </pc:spChg>
      </pc:sldChg>
      <pc:sldChg chg="modSp mod">
        <pc:chgData name="ANNEM VEERANJI REDDY" userId="91d8171bc9e939bf" providerId="LiveId" clId="{54DED5D2-187F-4CD1-90AF-93C9DC9CA6B0}" dt="2026-02-25T19:15:00.477" v="173" actId="115"/>
        <pc:sldMkLst>
          <pc:docMk/>
          <pc:sldMk cId="123013191" sldId="283"/>
        </pc:sldMkLst>
        <pc:spChg chg="mod">
          <ac:chgData name="ANNEM VEERANJI REDDY" userId="91d8171bc9e939bf" providerId="LiveId" clId="{54DED5D2-187F-4CD1-90AF-93C9DC9CA6B0}" dt="2026-02-25T19:15:00.477" v="173" actId="115"/>
          <ac:spMkLst>
            <pc:docMk/>
            <pc:sldMk cId="123013191" sldId="283"/>
            <ac:spMk id="2" creationId="{3BA89D32-F064-538C-D39B-37FC9768DDEE}"/>
          </ac:spMkLst>
        </pc:spChg>
      </pc:sldChg>
      <pc:sldChg chg="addSp modSp mod">
        <pc:chgData name="ANNEM VEERANJI REDDY" userId="91d8171bc9e939bf" providerId="LiveId" clId="{54DED5D2-187F-4CD1-90AF-93C9DC9CA6B0}" dt="2026-02-25T19:15:38.990" v="175" actId="115"/>
        <pc:sldMkLst>
          <pc:docMk/>
          <pc:sldMk cId="227080537" sldId="289"/>
        </pc:sldMkLst>
        <pc:spChg chg="mod">
          <ac:chgData name="ANNEM VEERANJI REDDY" userId="91d8171bc9e939bf" providerId="LiveId" clId="{54DED5D2-187F-4CD1-90AF-93C9DC9CA6B0}" dt="2026-02-25T19:15:38.990" v="175" actId="115"/>
          <ac:spMkLst>
            <pc:docMk/>
            <pc:sldMk cId="227080537" sldId="289"/>
            <ac:spMk id="2" creationId="{6F67B4BB-FE90-F5E0-6B6F-2CCE3BB57D94}"/>
          </ac:spMkLst>
        </pc:spChg>
        <pc:spChg chg="mod">
          <ac:chgData name="ANNEM VEERANJI REDDY" userId="91d8171bc9e939bf" providerId="LiveId" clId="{54DED5D2-187F-4CD1-90AF-93C9DC9CA6B0}" dt="2026-02-25T19:08:48.211" v="153" actId="114"/>
          <ac:spMkLst>
            <pc:docMk/>
            <pc:sldMk cId="227080537" sldId="289"/>
            <ac:spMk id="3" creationId="{B153C119-ED6C-A5B8-2D93-9227BD632D5A}"/>
          </ac:spMkLst>
        </pc:spChg>
        <pc:picChg chg="add mod">
          <ac:chgData name="ANNEM VEERANJI REDDY" userId="91d8171bc9e939bf" providerId="LiveId" clId="{54DED5D2-187F-4CD1-90AF-93C9DC9CA6B0}" dt="2026-02-25T19:02:18.589" v="129"/>
          <ac:picMkLst>
            <pc:docMk/>
            <pc:sldMk cId="227080537" sldId="289"/>
            <ac:picMk id="4" creationId="{95F92577-7220-1CF4-B9E0-E1A64859C6D3}"/>
          </ac:picMkLst>
        </pc:picChg>
      </pc:sldChg>
      <pc:sldChg chg="addSp modSp mod">
        <pc:chgData name="ANNEM VEERANJI REDDY" userId="91d8171bc9e939bf" providerId="LiveId" clId="{54DED5D2-187F-4CD1-90AF-93C9DC9CA6B0}" dt="2026-02-25T19:15:49.974" v="176" actId="115"/>
        <pc:sldMkLst>
          <pc:docMk/>
          <pc:sldMk cId="1819940928" sldId="290"/>
        </pc:sldMkLst>
        <pc:spChg chg="mod">
          <ac:chgData name="ANNEM VEERANJI REDDY" userId="91d8171bc9e939bf" providerId="LiveId" clId="{54DED5D2-187F-4CD1-90AF-93C9DC9CA6B0}" dt="2026-02-25T19:15:49.974" v="176" actId="115"/>
          <ac:spMkLst>
            <pc:docMk/>
            <pc:sldMk cId="1819940928" sldId="290"/>
            <ac:spMk id="2" creationId="{846C428B-7E07-25B8-A43F-69F34D05AB74}"/>
          </ac:spMkLst>
        </pc:spChg>
        <pc:spChg chg="mod">
          <ac:chgData name="ANNEM VEERANJI REDDY" userId="91d8171bc9e939bf" providerId="LiveId" clId="{54DED5D2-187F-4CD1-90AF-93C9DC9CA6B0}" dt="2026-02-25T19:08:26.730" v="152" actId="114"/>
          <ac:spMkLst>
            <pc:docMk/>
            <pc:sldMk cId="1819940928" sldId="290"/>
            <ac:spMk id="3" creationId="{9FE7711E-3100-E72B-7A78-174C18F38F7E}"/>
          </ac:spMkLst>
        </pc:spChg>
        <pc:picChg chg="add mod">
          <ac:chgData name="ANNEM VEERANJI REDDY" userId="91d8171bc9e939bf" providerId="LiveId" clId="{54DED5D2-187F-4CD1-90AF-93C9DC9CA6B0}" dt="2026-02-25T19:02:21.287" v="130"/>
          <ac:picMkLst>
            <pc:docMk/>
            <pc:sldMk cId="1819940928" sldId="290"/>
            <ac:picMk id="4" creationId="{285D57C7-4F5D-C94B-23EC-3287703D26AA}"/>
          </ac:picMkLst>
        </pc:picChg>
      </pc:sldChg>
      <pc:sldChg chg="addSp modSp mod">
        <pc:chgData name="ANNEM VEERANJI REDDY" userId="91d8171bc9e939bf" providerId="LiveId" clId="{54DED5D2-187F-4CD1-90AF-93C9DC9CA6B0}" dt="2026-02-25T19:16:02.575" v="177" actId="115"/>
        <pc:sldMkLst>
          <pc:docMk/>
          <pc:sldMk cId="2096371715" sldId="291"/>
        </pc:sldMkLst>
        <pc:spChg chg="mod">
          <ac:chgData name="ANNEM VEERANJI REDDY" userId="91d8171bc9e939bf" providerId="LiveId" clId="{54DED5D2-187F-4CD1-90AF-93C9DC9CA6B0}" dt="2026-02-25T19:16:02.575" v="177" actId="115"/>
          <ac:spMkLst>
            <pc:docMk/>
            <pc:sldMk cId="2096371715" sldId="291"/>
            <ac:spMk id="2" creationId="{8724E5CF-898F-EEB8-BC06-98EA1405E024}"/>
          </ac:spMkLst>
        </pc:spChg>
        <pc:picChg chg="add mod">
          <ac:chgData name="ANNEM VEERANJI REDDY" userId="91d8171bc9e939bf" providerId="LiveId" clId="{54DED5D2-187F-4CD1-90AF-93C9DC9CA6B0}" dt="2026-02-25T19:01:54.672" v="124"/>
          <ac:picMkLst>
            <pc:docMk/>
            <pc:sldMk cId="2096371715" sldId="291"/>
            <ac:picMk id="4" creationId="{F87B8350-3941-F095-06B2-ED5CE74126E4}"/>
          </ac:picMkLst>
        </pc:picChg>
        <pc:picChg chg="add mod">
          <ac:chgData name="ANNEM VEERANJI REDDY" userId="91d8171bc9e939bf" providerId="LiveId" clId="{54DED5D2-187F-4CD1-90AF-93C9DC9CA6B0}" dt="2026-02-25T19:02:23.725" v="131"/>
          <ac:picMkLst>
            <pc:docMk/>
            <pc:sldMk cId="2096371715" sldId="291"/>
            <ac:picMk id="5" creationId="{2D39CE69-F28D-2C3B-AFE1-DC99622895F4}"/>
          </ac:picMkLst>
        </pc:picChg>
      </pc:sldChg>
      <pc:sldChg chg="addSp modSp new mod">
        <pc:chgData name="ANNEM VEERANJI REDDY" userId="91d8171bc9e939bf" providerId="LiveId" clId="{54DED5D2-187F-4CD1-90AF-93C9DC9CA6B0}" dt="2026-02-25T19:15:23.263" v="174" actId="115"/>
        <pc:sldMkLst>
          <pc:docMk/>
          <pc:sldMk cId="1994906637" sldId="292"/>
        </pc:sldMkLst>
        <pc:spChg chg="mod">
          <ac:chgData name="ANNEM VEERANJI REDDY" userId="91d8171bc9e939bf" providerId="LiveId" clId="{54DED5D2-187F-4CD1-90AF-93C9DC9CA6B0}" dt="2026-02-25T19:15:23.263" v="174" actId="115"/>
          <ac:spMkLst>
            <pc:docMk/>
            <pc:sldMk cId="1994906637" sldId="292"/>
            <ac:spMk id="2" creationId="{50194FA0-BC21-0000-97FD-5D907728A36E}"/>
          </ac:spMkLst>
        </pc:spChg>
        <pc:spChg chg="mod">
          <ac:chgData name="ANNEM VEERANJI REDDY" userId="91d8171bc9e939bf" providerId="LiveId" clId="{54DED5D2-187F-4CD1-90AF-93C9DC9CA6B0}" dt="2026-02-25T19:09:37.057" v="159" actId="114"/>
          <ac:spMkLst>
            <pc:docMk/>
            <pc:sldMk cId="1994906637" sldId="292"/>
            <ac:spMk id="3" creationId="{C9F340E9-8303-4E95-0538-635883C9D180}"/>
          </ac:spMkLst>
        </pc:spChg>
        <pc:picChg chg="add mod">
          <ac:chgData name="ANNEM VEERANJI REDDY" userId="91d8171bc9e939bf" providerId="LiveId" clId="{54DED5D2-187F-4CD1-90AF-93C9DC9CA6B0}" dt="2026-02-25T19:02:06.093" v="126" actId="1036"/>
          <ac:picMkLst>
            <pc:docMk/>
            <pc:sldMk cId="1994906637" sldId="292"/>
            <ac:picMk id="4" creationId="{0CC107F4-F9ED-446C-CDF5-DA62D73B6E4D}"/>
          </ac:picMkLst>
        </pc:picChg>
      </pc:sldChg>
      <pc:sldChg chg="addSp modSp new mod">
        <pc:chgData name="ANNEM VEERANJI REDDY" userId="91d8171bc9e939bf" providerId="LiveId" clId="{54DED5D2-187F-4CD1-90AF-93C9DC9CA6B0}" dt="2026-02-25T19:09:29.119" v="158" actId="114"/>
        <pc:sldMkLst>
          <pc:docMk/>
          <pc:sldMk cId="3861555461" sldId="293"/>
        </pc:sldMkLst>
        <pc:spChg chg="mod">
          <ac:chgData name="ANNEM VEERANJI REDDY" userId="91d8171bc9e939bf" providerId="LiveId" clId="{54DED5D2-187F-4CD1-90AF-93C9DC9CA6B0}" dt="2026-02-25T18:51:07.522" v="34" actId="27636"/>
          <ac:spMkLst>
            <pc:docMk/>
            <pc:sldMk cId="3861555461" sldId="293"/>
            <ac:spMk id="2" creationId="{1D302975-E98E-ACB6-41E2-56BDBF36AB68}"/>
          </ac:spMkLst>
        </pc:spChg>
        <pc:spChg chg="mod">
          <ac:chgData name="ANNEM VEERANJI REDDY" userId="91d8171bc9e939bf" providerId="LiveId" clId="{54DED5D2-187F-4CD1-90AF-93C9DC9CA6B0}" dt="2026-02-25T19:09:29.119" v="158" actId="114"/>
          <ac:spMkLst>
            <pc:docMk/>
            <pc:sldMk cId="3861555461" sldId="293"/>
            <ac:spMk id="3" creationId="{24B6BFD9-43C9-1ADD-7216-200219E7E4A5}"/>
          </ac:spMkLst>
        </pc:spChg>
        <pc:picChg chg="add mod">
          <ac:chgData name="ANNEM VEERANJI REDDY" userId="91d8171bc9e939bf" providerId="LiveId" clId="{54DED5D2-187F-4CD1-90AF-93C9DC9CA6B0}" dt="2026-02-25T19:02:12.158" v="127"/>
          <ac:picMkLst>
            <pc:docMk/>
            <pc:sldMk cId="3861555461" sldId="293"/>
            <ac:picMk id="4" creationId="{F79D1F27-5007-697E-827A-28E37DEFDFEE}"/>
          </ac:picMkLst>
        </pc:picChg>
      </pc:sldChg>
      <pc:sldChg chg="addSp modSp new mod">
        <pc:chgData name="ANNEM VEERANJI REDDY" userId="91d8171bc9e939bf" providerId="LiveId" clId="{54DED5D2-187F-4CD1-90AF-93C9DC9CA6B0}" dt="2026-02-25T19:09:07.428" v="155" actId="114"/>
        <pc:sldMkLst>
          <pc:docMk/>
          <pc:sldMk cId="1247697447" sldId="294"/>
        </pc:sldMkLst>
        <pc:spChg chg="mod">
          <ac:chgData name="ANNEM VEERANJI REDDY" userId="91d8171bc9e939bf" providerId="LiveId" clId="{54DED5D2-187F-4CD1-90AF-93C9DC9CA6B0}" dt="2026-02-25T18:58:14.035" v="88" actId="27636"/>
          <ac:spMkLst>
            <pc:docMk/>
            <pc:sldMk cId="1247697447" sldId="294"/>
            <ac:spMk id="2" creationId="{CA32CDA7-097C-0881-F9A4-2366D4CDA53F}"/>
          </ac:spMkLst>
        </pc:spChg>
        <pc:spChg chg="mod">
          <ac:chgData name="ANNEM VEERANJI REDDY" userId="91d8171bc9e939bf" providerId="LiveId" clId="{54DED5D2-187F-4CD1-90AF-93C9DC9CA6B0}" dt="2026-02-25T19:09:07.428" v="155" actId="114"/>
          <ac:spMkLst>
            <pc:docMk/>
            <pc:sldMk cId="1247697447" sldId="294"/>
            <ac:spMk id="3" creationId="{C28D447E-C579-955C-EAA7-6AE5B133C8EA}"/>
          </ac:spMkLst>
        </pc:spChg>
        <pc:picChg chg="add mod">
          <ac:chgData name="ANNEM VEERANJI REDDY" userId="91d8171bc9e939bf" providerId="LiveId" clId="{54DED5D2-187F-4CD1-90AF-93C9DC9CA6B0}" dt="2026-02-25T19:02:15.823" v="128"/>
          <ac:picMkLst>
            <pc:docMk/>
            <pc:sldMk cId="1247697447" sldId="294"/>
            <ac:picMk id="4" creationId="{C592DBF3-F0C2-E073-B24D-B1FC5D6FA113}"/>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2A5C6-8F36-B2F4-3F93-A041F24A46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1DC997D-7366-4A54-2B27-537ED62D3C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5918A33-3229-69A7-810F-5BB0D496F47C}"/>
              </a:ext>
            </a:extLst>
          </p:cNvPr>
          <p:cNvSpPr>
            <a:spLocks noGrp="1"/>
          </p:cNvSpPr>
          <p:nvPr>
            <p:ph type="dt" sz="half" idx="10"/>
          </p:nvPr>
        </p:nvSpPr>
        <p:spPr/>
        <p:txBody>
          <a:bodyPr/>
          <a:lstStyle/>
          <a:p>
            <a:fld id="{48A87A34-81AB-432B-8DAE-1953F412C126}" type="datetimeFigureOut">
              <a:rPr lang="en-US" smtClean="0"/>
              <a:t>2/25/2026</a:t>
            </a:fld>
            <a:endParaRPr lang="en-US" dirty="0"/>
          </a:p>
        </p:txBody>
      </p:sp>
      <p:sp>
        <p:nvSpPr>
          <p:cNvPr id="5" name="Footer Placeholder 4">
            <a:extLst>
              <a:ext uri="{FF2B5EF4-FFF2-40B4-BE49-F238E27FC236}">
                <a16:creationId xmlns:a16="http://schemas.microsoft.com/office/drawing/2014/main" id="{952C3A56-897B-01C0-3819-87FBF861AC3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FB90A0A-9D8B-B694-8545-0A06DCAB9792}"/>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623583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516FD-631D-6A9E-6515-2681A817E17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C52182E-4222-7363-9AD6-72387D1627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BC00CF-3C27-88BF-9C9D-1B733020AFBF}"/>
              </a:ext>
            </a:extLst>
          </p:cNvPr>
          <p:cNvSpPr>
            <a:spLocks noGrp="1"/>
          </p:cNvSpPr>
          <p:nvPr>
            <p:ph type="dt" sz="half" idx="10"/>
          </p:nvPr>
        </p:nvSpPr>
        <p:spPr/>
        <p:txBody>
          <a:bodyPr/>
          <a:lstStyle/>
          <a:p>
            <a:fld id="{48A87A34-81AB-432B-8DAE-1953F412C126}" type="datetimeFigureOut">
              <a:rPr lang="en-US" smtClean="0"/>
              <a:t>2/25/2026</a:t>
            </a:fld>
            <a:endParaRPr lang="en-US" dirty="0"/>
          </a:p>
        </p:txBody>
      </p:sp>
      <p:sp>
        <p:nvSpPr>
          <p:cNvPr id="5" name="Footer Placeholder 4">
            <a:extLst>
              <a:ext uri="{FF2B5EF4-FFF2-40B4-BE49-F238E27FC236}">
                <a16:creationId xmlns:a16="http://schemas.microsoft.com/office/drawing/2014/main" id="{5ABDBD43-2CEF-F33D-CDB6-5261F3BB148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625598D-BA91-B227-840C-7BCC48BC9E99}"/>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83776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C4723-BE81-4121-DA50-0A4016883D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BBC0992-D680-D4D9-FC5B-AF4CC237ED8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45A7B1-4264-E545-18BD-918A0320A875}"/>
              </a:ext>
            </a:extLst>
          </p:cNvPr>
          <p:cNvSpPr>
            <a:spLocks noGrp="1"/>
          </p:cNvSpPr>
          <p:nvPr>
            <p:ph type="dt" sz="half" idx="10"/>
          </p:nvPr>
        </p:nvSpPr>
        <p:spPr/>
        <p:txBody>
          <a:bodyPr/>
          <a:lstStyle/>
          <a:p>
            <a:fld id="{48A87A34-81AB-432B-8DAE-1953F412C126}" type="datetimeFigureOut">
              <a:rPr lang="en-US" smtClean="0"/>
              <a:t>2/25/2026</a:t>
            </a:fld>
            <a:endParaRPr lang="en-US" dirty="0"/>
          </a:p>
        </p:txBody>
      </p:sp>
      <p:sp>
        <p:nvSpPr>
          <p:cNvPr id="5" name="Footer Placeholder 4">
            <a:extLst>
              <a:ext uri="{FF2B5EF4-FFF2-40B4-BE49-F238E27FC236}">
                <a16:creationId xmlns:a16="http://schemas.microsoft.com/office/drawing/2014/main" id="{F477D70E-02A8-F124-2864-0527E3E01A9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05AC6F5-E0FB-3F8B-3A40-4188D85F6779}"/>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74547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82957-1F7D-14D9-6720-450A1F2B4F9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48DFF25-E653-2128-EDF4-31C5D4BE2EA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2BA7525-9640-2BD3-6C4D-46D1174ACA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C9FDCC3-A517-ABED-66F0-F14FAA5FABA6}"/>
              </a:ext>
            </a:extLst>
          </p:cNvPr>
          <p:cNvSpPr>
            <a:spLocks noGrp="1"/>
          </p:cNvSpPr>
          <p:nvPr>
            <p:ph type="dt" sz="half" idx="10"/>
          </p:nvPr>
        </p:nvSpPr>
        <p:spPr/>
        <p:txBody>
          <a:bodyPr/>
          <a:lstStyle/>
          <a:p>
            <a:fld id="{48A87A34-81AB-432B-8DAE-1953F412C126}" type="datetimeFigureOut">
              <a:rPr lang="en-US" smtClean="0"/>
              <a:t>2/25/2026</a:t>
            </a:fld>
            <a:endParaRPr lang="en-US" dirty="0"/>
          </a:p>
        </p:txBody>
      </p:sp>
      <p:sp>
        <p:nvSpPr>
          <p:cNvPr id="6" name="Footer Placeholder 5">
            <a:extLst>
              <a:ext uri="{FF2B5EF4-FFF2-40B4-BE49-F238E27FC236}">
                <a16:creationId xmlns:a16="http://schemas.microsoft.com/office/drawing/2014/main" id="{B107E85C-DAE4-3149-39A2-43A045061AD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95A88E9-F358-65C0-B508-29EFB962B969}"/>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657992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38BD4-5CE3-86FC-5DD0-965D805771C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A95E12-BE07-9493-8F5D-BEF4E84601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6ABC48-80AB-60F6-ABCD-1A4D2F3886A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1DA933E-47B9-E430-2651-A648F5312E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FBC72D0-B722-401A-89C9-7474C2D9C8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EB61EED-7762-6D79-C2F2-AD62891F6158}"/>
              </a:ext>
            </a:extLst>
          </p:cNvPr>
          <p:cNvSpPr>
            <a:spLocks noGrp="1"/>
          </p:cNvSpPr>
          <p:nvPr>
            <p:ph type="dt" sz="half" idx="10"/>
          </p:nvPr>
        </p:nvSpPr>
        <p:spPr/>
        <p:txBody>
          <a:bodyPr/>
          <a:lstStyle/>
          <a:p>
            <a:fld id="{48A87A34-81AB-432B-8DAE-1953F412C126}" type="datetimeFigureOut">
              <a:rPr lang="en-US" smtClean="0"/>
              <a:t>2/25/2026</a:t>
            </a:fld>
            <a:endParaRPr lang="en-US" dirty="0"/>
          </a:p>
        </p:txBody>
      </p:sp>
      <p:sp>
        <p:nvSpPr>
          <p:cNvPr id="8" name="Footer Placeholder 7">
            <a:extLst>
              <a:ext uri="{FF2B5EF4-FFF2-40B4-BE49-F238E27FC236}">
                <a16:creationId xmlns:a16="http://schemas.microsoft.com/office/drawing/2014/main" id="{5DE02214-F8CF-A9C0-BB3E-F09B0452B90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34AD35D-5C4E-6819-DB54-F09E23558588}"/>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1800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488CD-AE81-0EB0-3253-1C21F182095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345E852-CD98-8AFC-9636-8FF223F030F7}"/>
              </a:ext>
            </a:extLst>
          </p:cNvPr>
          <p:cNvSpPr>
            <a:spLocks noGrp="1"/>
          </p:cNvSpPr>
          <p:nvPr>
            <p:ph type="dt" sz="half" idx="10"/>
          </p:nvPr>
        </p:nvSpPr>
        <p:spPr/>
        <p:txBody>
          <a:bodyPr/>
          <a:lstStyle/>
          <a:p>
            <a:fld id="{48A87A34-81AB-432B-8DAE-1953F412C126}" type="datetimeFigureOut">
              <a:rPr lang="en-US" smtClean="0"/>
              <a:t>2/25/2026</a:t>
            </a:fld>
            <a:endParaRPr lang="en-US" dirty="0"/>
          </a:p>
        </p:txBody>
      </p:sp>
      <p:sp>
        <p:nvSpPr>
          <p:cNvPr id="4" name="Footer Placeholder 3">
            <a:extLst>
              <a:ext uri="{FF2B5EF4-FFF2-40B4-BE49-F238E27FC236}">
                <a16:creationId xmlns:a16="http://schemas.microsoft.com/office/drawing/2014/main" id="{03AD1847-460B-51DD-DBB1-DADE0F4CB11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22C17902-A02A-222F-4D35-2D7CBE81C9FD}"/>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382993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A3A097-87C9-BBCB-D222-9CB1051BC5C2}"/>
              </a:ext>
            </a:extLst>
          </p:cNvPr>
          <p:cNvSpPr>
            <a:spLocks noGrp="1"/>
          </p:cNvSpPr>
          <p:nvPr>
            <p:ph type="dt" sz="half" idx="10"/>
          </p:nvPr>
        </p:nvSpPr>
        <p:spPr/>
        <p:txBody>
          <a:bodyPr/>
          <a:lstStyle/>
          <a:p>
            <a:fld id="{48A87A34-81AB-432B-8DAE-1953F412C126}" type="datetimeFigureOut">
              <a:rPr lang="en-US" smtClean="0"/>
              <a:t>2/25/2026</a:t>
            </a:fld>
            <a:endParaRPr lang="en-US" dirty="0"/>
          </a:p>
        </p:txBody>
      </p:sp>
      <p:sp>
        <p:nvSpPr>
          <p:cNvPr id="3" name="Footer Placeholder 2">
            <a:extLst>
              <a:ext uri="{FF2B5EF4-FFF2-40B4-BE49-F238E27FC236}">
                <a16:creationId xmlns:a16="http://schemas.microsoft.com/office/drawing/2014/main" id="{8CECEB2D-0D83-0D61-1AC8-2FDE4A6CA4B1}"/>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D8CAA0DD-5477-7AD7-F019-937EDF915258}"/>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82094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9935A-D757-E3A5-EBC8-19907D8A55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0FF3280-02E8-B95B-9197-A081ED2196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1FADBF9-F356-E4F9-0DE4-611E91B99B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3F9F8C-C5D9-0710-3BB0-B4666426226E}"/>
              </a:ext>
            </a:extLst>
          </p:cNvPr>
          <p:cNvSpPr>
            <a:spLocks noGrp="1"/>
          </p:cNvSpPr>
          <p:nvPr>
            <p:ph type="dt" sz="half" idx="10"/>
          </p:nvPr>
        </p:nvSpPr>
        <p:spPr/>
        <p:txBody>
          <a:bodyPr/>
          <a:lstStyle/>
          <a:p>
            <a:fld id="{48A87A34-81AB-432B-8DAE-1953F412C126}" type="datetimeFigureOut">
              <a:rPr lang="en-US" smtClean="0"/>
              <a:t>2/25/2026</a:t>
            </a:fld>
            <a:endParaRPr lang="en-US" dirty="0"/>
          </a:p>
        </p:txBody>
      </p:sp>
      <p:sp>
        <p:nvSpPr>
          <p:cNvPr id="6" name="Footer Placeholder 5">
            <a:extLst>
              <a:ext uri="{FF2B5EF4-FFF2-40B4-BE49-F238E27FC236}">
                <a16:creationId xmlns:a16="http://schemas.microsoft.com/office/drawing/2014/main" id="{888A5B2B-2C3F-34D6-5289-917CADBA4A9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E53B39F-4851-8B24-C009-34FE80078C1A}"/>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70568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32096-50BE-8790-8A1F-95F3171873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6AAA91C-3E02-7A88-A81F-8970396201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6F4F74A-C028-0EB7-B3F6-271FB5BDDF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A8FBD1-E2D3-8D61-DE09-AF9148AD9573}"/>
              </a:ext>
            </a:extLst>
          </p:cNvPr>
          <p:cNvSpPr>
            <a:spLocks noGrp="1"/>
          </p:cNvSpPr>
          <p:nvPr>
            <p:ph type="dt" sz="half" idx="10"/>
          </p:nvPr>
        </p:nvSpPr>
        <p:spPr/>
        <p:txBody>
          <a:bodyPr/>
          <a:lstStyle/>
          <a:p>
            <a:fld id="{48A87A34-81AB-432B-8DAE-1953F412C126}" type="datetimeFigureOut">
              <a:rPr lang="en-US" smtClean="0"/>
              <a:t>2/25/2026</a:t>
            </a:fld>
            <a:endParaRPr lang="en-US" dirty="0"/>
          </a:p>
        </p:txBody>
      </p:sp>
      <p:sp>
        <p:nvSpPr>
          <p:cNvPr id="6" name="Footer Placeholder 5">
            <a:extLst>
              <a:ext uri="{FF2B5EF4-FFF2-40B4-BE49-F238E27FC236}">
                <a16:creationId xmlns:a16="http://schemas.microsoft.com/office/drawing/2014/main" id="{BE7C112D-F0A0-417B-B0D9-4F377736432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063FC3-1216-AB8D-3BF7-C94A172DA650}"/>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48771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35656-84E1-E427-4379-78940E3B9FE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09743F3-EF10-7494-28BE-4D0D248D1D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FABA53-8EF2-DFD3-ACCB-09ADAD80F38F}"/>
              </a:ext>
            </a:extLst>
          </p:cNvPr>
          <p:cNvSpPr>
            <a:spLocks noGrp="1"/>
          </p:cNvSpPr>
          <p:nvPr>
            <p:ph type="dt" sz="half" idx="10"/>
          </p:nvPr>
        </p:nvSpPr>
        <p:spPr/>
        <p:txBody>
          <a:bodyPr/>
          <a:lstStyle/>
          <a:p>
            <a:fld id="{48A87A34-81AB-432B-8DAE-1953F412C126}" type="datetimeFigureOut">
              <a:rPr lang="en-US" smtClean="0"/>
              <a:t>2/25/2026</a:t>
            </a:fld>
            <a:endParaRPr lang="en-US" dirty="0"/>
          </a:p>
        </p:txBody>
      </p:sp>
      <p:sp>
        <p:nvSpPr>
          <p:cNvPr id="5" name="Footer Placeholder 4">
            <a:extLst>
              <a:ext uri="{FF2B5EF4-FFF2-40B4-BE49-F238E27FC236}">
                <a16:creationId xmlns:a16="http://schemas.microsoft.com/office/drawing/2014/main" id="{2099D72A-B589-AF27-E2E2-C83CE88D60B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97EBC7E-E528-ED7F-93BD-930197BCD441}"/>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742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6B4484-EA97-CD8B-7A44-F788D4A6AAB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36EDC8E-66A5-3E62-BB03-D972EE8B32E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423618-F6BE-5147-AA3D-2C0082D8AACA}"/>
              </a:ext>
            </a:extLst>
          </p:cNvPr>
          <p:cNvSpPr>
            <a:spLocks noGrp="1"/>
          </p:cNvSpPr>
          <p:nvPr>
            <p:ph type="dt" sz="half" idx="10"/>
          </p:nvPr>
        </p:nvSpPr>
        <p:spPr/>
        <p:txBody>
          <a:bodyPr/>
          <a:lstStyle/>
          <a:p>
            <a:fld id="{48A87A34-81AB-432B-8DAE-1953F412C126}" type="datetimeFigureOut">
              <a:rPr lang="en-US" smtClean="0"/>
              <a:t>2/25/2026</a:t>
            </a:fld>
            <a:endParaRPr lang="en-US" dirty="0"/>
          </a:p>
        </p:txBody>
      </p:sp>
      <p:sp>
        <p:nvSpPr>
          <p:cNvPr id="5" name="Footer Placeholder 4">
            <a:extLst>
              <a:ext uri="{FF2B5EF4-FFF2-40B4-BE49-F238E27FC236}">
                <a16:creationId xmlns:a16="http://schemas.microsoft.com/office/drawing/2014/main" id="{72AC87A4-C4B4-9138-83F9-20E91D6BC48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B183107-6B32-73EE-AD1B-3407C03EEB04}"/>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62437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BF7C9A-45B0-8F15-2ABC-5085EC0BCD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A74FB19-85F5-EC88-ACB0-A9BD44609D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2EB39F-39E9-5891-CF2B-68FEB13E42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8A87A34-81AB-432B-8DAE-1953F412C126}" type="datetimeFigureOut">
              <a:rPr lang="en-US" smtClean="0"/>
              <a:pPr/>
              <a:t>2/25/2026</a:t>
            </a:fld>
            <a:endParaRPr lang="en-US" dirty="0"/>
          </a:p>
        </p:txBody>
      </p:sp>
      <p:sp>
        <p:nvSpPr>
          <p:cNvPr id="5" name="Footer Placeholder 4">
            <a:extLst>
              <a:ext uri="{FF2B5EF4-FFF2-40B4-BE49-F238E27FC236}">
                <a16:creationId xmlns:a16="http://schemas.microsoft.com/office/drawing/2014/main" id="{9A969AB2-8367-5A3A-4285-80F1E34EE2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F8A2E8EA-3719-225C-544E-D7FA6A1E8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599565332"/>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ijca.phdfocus.com/archives/volume180/issue37/29303-2018916914/?utm_source=chatgpt.com" TargetMode="External"/><Relationship Id="rId2" Type="http://schemas.openxmlformats.org/officeDocument/2006/relationships/hyperlink" Target="https://digitalcommons.chapman.edu/engineering_articles/232/?utm_source=chatgpt.com" TargetMode="Externa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hyperlink" Target="https://www.researchgate.net/publication/275051459_Refreshing_Refreshable_Braille_Displays?utm_source=chatgpt.com"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ijhati.utem.edu.my/ijhati/article/view/5963?utm_source=chatgpt.com" TargetMode="External"/><Relationship Id="rId2" Type="http://schemas.openxmlformats.org/officeDocument/2006/relationships/hyperlink" Target="https://pubmed.ncbi.nlm.nih.gov/38324442/?utm_source=chatgpt.com" TargetMode="Externa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hyperlink" Target="https://www.pices-journal.com/ojs/index.php/pices/article/view/290?utm_source=chatgpt.com" TargetMode="External"/><Relationship Id="rId4" Type="http://schemas.openxmlformats.org/officeDocument/2006/relationships/hyperlink" Target="https://ijarcce.com/papers/smart-tactile-to-audio-braille-converter-with-attention-mechanism-model/?utm_source=chatgpt.com"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ijaem.net/issue_dcp/A%20Comprehensive%20Review%20of%20Speech%20To%20Text%20Technologies%20%20Incorporating%20Translation%2C%20Summarization%2C%20And%20Beyond.pdf?utm_source=chatgpt.com" TargetMode="External"/><Relationship Id="rId2" Type="http://schemas.openxmlformats.org/officeDocument/2006/relationships/hyperlink" Target="https://www.rehabilitationjournals.com/special-education-journal/archives/2025.v5.i1.C.120?utm_source=chatgpt.com" TargetMode="Externa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hyperlink" Target="https://ijcttjournal.org/archives/ijctt-v68i3p116?utm_source=chatgpt.com"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ijca.phdfocus.com/archives/volume180/issue37/29303-2018916914/?utm_source=chatgpt.com" TargetMode="External"/><Relationship Id="rId7" Type="http://schemas.openxmlformats.org/officeDocument/2006/relationships/image" Target="../media/image1.png"/><Relationship Id="rId2" Type="http://schemas.openxmlformats.org/officeDocument/2006/relationships/hyperlink" Target="https://digitalcommons.chapman.edu/engineering_articles/232/?utm_source=chatgpt.com" TargetMode="External"/><Relationship Id="rId1" Type="http://schemas.openxmlformats.org/officeDocument/2006/relationships/slideLayout" Target="../slideLayouts/slideLayout2.xml"/><Relationship Id="rId6" Type="http://schemas.openxmlformats.org/officeDocument/2006/relationships/hyperlink" Target="https://pubmed.ncbi.nlm.nih.gov/38324442/?utm_source=chatgpt.com" TargetMode="External"/><Relationship Id="rId5" Type="http://schemas.openxmlformats.org/officeDocument/2006/relationships/hyperlink" Target="https://www.mdpi.com/2227-7102/15/9/1110?utm_source=chatgpt.com" TargetMode="External"/><Relationship Id="rId4" Type="http://schemas.openxmlformats.org/officeDocument/2006/relationships/hyperlink" Target="https://mnsl-journal.springeropen.com/articles/10.1186/s40486-023-00191-w?utm_source=chatgpt.com" TargetMode="External"/></Relationships>
</file>

<file path=ppt/slides/_rels/slide37.xml.rels><?xml version="1.0" encoding="UTF-8" standalone="yes"?>
<Relationships xmlns="http://schemas.openxmlformats.org/package/2006/relationships"><Relationship Id="rId3" Type="http://schemas.openxmlformats.org/officeDocument/2006/relationships/hyperlink" Target="https://arxiv.org/abs/1708.03783?utm_source=chatgpt.com" TargetMode="External"/><Relationship Id="rId7" Type="http://schemas.openxmlformats.org/officeDocument/2006/relationships/image" Target="../media/image1.png"/><Relationship Id="rId2" Type="http://schemas.openxmlformats.org/officeDocument/2006/relationships/hyperlink" Target="https://ijhati.utem.edu.my/ijhati/article/view/5963?utm_source=chatgpt.com" TargetMode="External"/><Relationship Id="rId1" Type="http://schemas.openxmlformats.org/officeDocument/2006/relationships/slideLayout" Target="../slideLayouts/slideLayout2.xml"/><Relationship Id="rId6" Type="http://schemas.openxmlformats.org/officeDocument/2006/relationships/hyperlink" Target="https://experts.umn.edu/en/publications/designing-media-for-visually-impaired-users-of-refreshable-touch-/?utm_source=chatgpt.com" TargetMode="External"/><Relationship Id="rId5" Type="http://schemas.openxmlformats.org/officeDocument/2006/relationships/hyperlink" Target="https://pubmed.ncbi.nlm.nih.gov/34077370/?utm_source=chatgpt.com" TargetMode="External"/><Relationship Id="rId4" Type="http://schemas.openxmlformats.org/officeDocument/2006/relationships/hyperlink" Target="https://arxiv.org/abs/2305.19444?utm_source=chatgpt.com" TargetMode="Externa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3BBDD-4EFD-1756-293A-BF30F8E409FF}"/>
              </a:ext>
            </a:extLst>
          </p:cNvPr>
          <p:cNvSpPr>
            <a:spLocks noGrp="1"/>
          </p:cNvSpPr>
          <p:nvPr>
            <p:ph type="ctrTitle"/>
          </p:nvPr>
        </p:nvSpPr>
        <p:spPr/>
        <p:txBody>
          <a:bodyPr>
            <a:normAutofit/>
          </a:bodyPr>
          <a:lstStyle/>
          <a:p>
            <a:r>
              <a:rPr lang="en-US" sz="4000" dirty="0">
                <a:latin typeface="Times New Roman" panose="02020603050405020304" pitchFamily="18" charset="0"/>
                <a:cs typeface="Times New Roman" panose="02020603050405020304" pitchFamily="18" charset="0"/>
              </a:rPr>
              <a:t>Voice Enabled Smart Braille Assistive System</a:t>
            </a:r>
            <a:endParaRPr lang="en-IN" sz="4000" dirty="0">
              <a:latin typeface="Times New Roman" panose="02020603050405020304" pitchFamily="18" charset="0"/>
              <a:cs typeface="Times New Roman" panose="02020603050405020304" pitchFamily="18" charset="0"/>
            </a:endParaRPr>
          </a:p>
        </p:txBody>
      </p:sp>
      <p:sp>
        <p:nvSpPr>
          <p:cNvPr id="5" name="Subtitle 4">
            <a:extLst>
              <a:ext uri="{FF2B5EF4-FFF2-40B4-BE49-F238E27FC236}">
                <a16:creationId xmlns:a16="http://schemas.microsoft.com/office/drawing/2014/main" id="{8E12A6EE-0325-28EF-4B7C-5A0E669FCC38}"/>
              </a:ext>
            </a:extLst>
          </p:cNvPr>
          <p:cNvSpPr>
            <a:spLocks noGrp="1"/>
          </p:cNvSpPr>
          <p:nvPr>
            <p:ph type="subTitle" idx="1"/>
          </p:nvPr>
        </p:nvSpPr>
        <p:spPr/>
        <p:txBody>
          <a:bodyPr/>
          <a:lstStyle/>
          <a:p>
            <a:r>
              <a:rPr lang="en-US" dirty="0"/>
              <a:t> </a:t>
            </a:r>
            <a:endParaRPr lang="en-IN" dirty="0"/>
          </a:p>
        </p:txBody>
      </p:sp>
      <p:pic>
        <p:nvPicPr>
          <p:cNvPr id="6" name="Google Shape;201;p24">
            <a:extLst>
              <a:ext uri="{FF2B5EF4-FFF2-40B4-BE49-F238E27FC236}">
                <a16:creationId xmlns:a16="http://schemas.microsoft.com/office/drawing/2014/main" id="{1E58E5F1-2838-A065-4A93-1ABC5FF45154}"/>
              </a:ext>
            </a:extLst>
          </p:cNvPr>
          <p:cNvPicPr preferRelativeResize="0"/>
          <p:nvPr/>
        </p:nvPicPr>
        <p:blipFill rotWithShape="1">
          <a:blip r:embed="rId2"/>
          <a:srcRect/>
          <a:stretch>
            <a:fillRect/>
          </a:stretch>
        </p:blipFill>
        <p:spPr>
          <a:xfrm>
            <a:off x="10920412" y="158750"/>
            <a:ext cx="981075" cy="838200"/>
          </a:xfrm>
          <a:prstGeom prst="rect">
            <a:avLst/>
          </a:prstGeom>
          <a:noFill/>
          <a:ln>
            <a:noFill/>
          </a:ln>
        </p:spPr>
      </p:pic>
    </p:spTree>
    <p:extLst>
      <p:ext uri="{BB962C8B-B14F-4D97-AF65-F5344CB8AC3E}">
        <p14:creationId xmlns:p14="http://schemas.microsoft.com/office/powerpoint/2010/main" val="38865000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1C7B6-DB3A-B9F1-BBB6-A6CAF8DCEC4F}"/>
              </a:ext>
            </a:extLst>
          </p:cNvPr>
          <p:cNvSpPr>
            <a:spLocks noGrp="1"/>
          </p:cNvSpPr>
          <p:nvPr>
            <p:ph type="title"/>
          </p:nvPr>
        </p:nvSpPr>
        <p:spPr>
          <a:xfrm>
            <a:off x="1141413" y="618518"/>
            <a:ext cx="9905998" cy="854682"/>
          </a:xfrm>
        </p:spPr>
        <p:txBody>
          <a:bodyPr>
            <a:normAutofit/>
          </a:bodyPr>
          <a:lstStyle/>
          <a:p>
            <a:r>
              <a:rPr lang="en-US" sz="2000" dirty="0">
                <a:solidFill>
                  <a:schemeClr val="bg1"/>
                </a:solidFill>
                <a:latin typeface="Times New Roman" panose="02020603050405020304" pitchFamily="18" charset="0"/>
                <a:cs typeface="Times New Roman" panose="02020603050405020304" pitchFamily="18" charset="0"/>
              </a:rPr>
              <a:t>Voice Enabled Smart Braille Assistive System</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1FC0D3C-B5C0-57FA-2CB0-8F77859D3271}"/>
              </a:ext>
            </a:extLst>
          </p:cNvPr>
          <p:cNvSpPr>
            <a:spLocks noGrp="1"/>
          </p:cNvSpPr>
          <p:nvPr>
            <p:ph idx="1"/>
          </p:nvPr>
        </p:nvSpPr>
        <p:spPr>
          <a:xfrm>
            <a:off x="1082145" y="1600200"/>
            <a:ext cx="9905999" cy="4834467"/>
          </a:xfrm>
        </p:spPr>
        <p:txBody>
          <a:bodyPr>
            <a:normAutofit/>
          </a:bodyPr>
          <a:lstStyle/>
          <a:p>
            <a:pPr marL="0" indent="0">
              <a:lnSpc>
                <a:spcPct val="100000"/>
              </a:lnSpc>
              <a:buNone/>
            </a:pPr>
            <a:r>
              <a:rPr lang="en-US" b="1" dirty="0">
                <a:solidFill>
                  <a:srgbClr val="00B050"/>
                </a:solidFill>
                <a:latin typeface="Times New Roman" panose="02020503050405090304"/>
                <a:ea typeface="Times New Roman" panose="02020503050405090304"/>
                <a:cs typeface="Times New Roman" panose="02020503050405090304"/>
                <a:sym typeface="Times New Roman" panose="02020503050405090304"/>
              </a:rPr>
              <a:t>Presented by:  </a:t>
            </a:r>
            <a:r>
              <a:rPr lang="en-US" altLang="en-US" sz="2000" dirty="0" err="1">
                <a:latin typeface="Times New Roman" panose="02020603050405020304" pitchFamily="18" charset="0"/>
                <a:cs typeface="Times New Roman" panose="02020603050405020304" pitchFamily="18" charset="0"/>
                <a:sym typeface="+mn-ea"/>
              </a:rPr>
              <a:t>A.Naganjali</a:t>
            </a:r>
            <a:r>
              <a:rPr lang="en-IN" altLang="en-US" sz="2000" dirty="0">
                <a:latin typeface="Times New Roman" panose="02020603050405020304" pitchFamily="18" charset="0"/>
                <a:cs typeface="Times New Roman" panose="02020603050405020304" pitchFamily="18" charset="0"/>
                <a:sym typeface="+mn-ea"/>
              </a:rPr>
              <a:t>         (22491A056A)</a:t>
            </a:r>
          </a:p>
          <a:p>
            <a:pPr marL="0" indent="0">
              <a:lnSpc>
                <a:spcPct val="100000"/>
              </a:lnSpc>
              <a:buNone/>
            </a:pPr>
            <a:r>
              <a:rPr lang="en-IN" altLang="en-US" sz="2000" dirty="0">
                <a:latin typeface="Times New Roman" panose="02020603050405020304" pitchFamily="18" charset="0"/>
                <a:cs typeface="Times New Roman" panose="02020603050405020304" pitchFamily="18" charset="0"/>
                <a:sym typeface="+mn-ea"/>
              </a:rPr>
              <a:t>                                   </a:t>
            </a:r>
            <a:r>
              <a:rPr lang="en-IN" altLang="en-US" sz="2000" dirty="0" err="1">
                <a:latin typeface="Times New Roman" panose="02020603050405020304" pitchFamily="18" charset="0"/>
                <a:cs typeface="Times New Roman" panose="02020603050405020304" pitchFamily="18" charset="0"/>
                <a:sym typeface="+mn-ea"/>
              </a:rPr>
              <a:t>V.Amani</a:t>
            </a:r>
            <a:r>
              <a:rPr lang="en-IN" altLang="en-US" sz="2000" dirty="0">
                <a:latin typeface="Times New Roman" panose="02020603050405020304" pitchFamily="18" charset="0"/>
                <a:cs typeface="Times New Roman" panose="02020603050405020304" pitchFamily="18" charset="0"/>
                <a:sym typeface="+mn-ea"/>
              </a:rPr>
              <a:t>               (22491A055K)</a:t>
            </a:r>
          </a:p>
          <a:p>
            <a:pPr marL="0" indent="0">
              <a:lnSpc>
                <a:spcPct val="100000"/>
              </a:lnSpc>
              <a:buNone/>
            </a:pPr>
            <a:r>
              <a:rPr lang="en-IN" altLang="en-US" sz="2000" dirty="0">
                <a:latin typeface="Times New Roman" panose="02020603050405020304" pitchFamily="18" charset="0"/>
                <a:cs typeface="Times New Roman" panose="02020603050405020304" pitchFamily="18" charset="0"/>
                <a:sym typeface="+mn-ea"/>
              </a:rPr>
              <a:t>                                   </a:t>
            </a:r>
            <a:r>
              <a:rPr lang="en-US" altLang="en-US" sz="2000" dirty="0" err="1">
                <a:latin typeface="Times New Roman" panose="02020603050405020304" pitchFamily="18" charset="0"/>
                <a:cs typeface="Times New Roman" panose="02020603050405020304" pitchFamily="18" charset="0"/>
                <a:sym typeface="+mn-ea"/>
              </a:rPr>
              <a:t>V.kesava</a:t>
            </a:r>
            <a:r>
              <a:rPr lang="en-US" altLang="en-US" sz="2000" dirty="0">
                <a:latin typeface="Times New Roman" panose="02020603050405020304" pitchFamily="18" charset="0"/>
                <a:cs typeface="Times New Roman" panose="02020603050405020304" pitchFamily="18" charset="0"/>
                <a:sym typeface="+mn-ea"/>
              </a:rPr>
              <a:t> Rao       (22491A055I)</a:t>
            </a:r>
            <a:endParaRPr lang="en-IN" altLang="en-US" sz="2000" dirty="0">
              <a:latin typeface="Times New Roman" panose="02020603050405020304" pitchFamily="18" charset="0"/>
              <a:cs typeface="Times New Roman" panose="02020603050405020304" pitchFamily="18" charset="0"/>
              <a:sym typeface="+mn-ea"/>
            </a:endParaRPr>
          </a:p>
          <a:p>
            <a:pPr marL="0" indent="0">
              <a:lnSpc>
                <a:spcPct val="100000"/>
              </a:lnSpc>
              <a:buNone/>
            </a:pPr>
            <a:r>
              <a:rPr lang="en-IN" altLang="en-US" sz="2000" dirty="0">
                <a:latin typeface="Times New Roman" panose="02020603050405020304" pitchFamily="18" charset="0"/>
                <a:cs typeface="Times New Roman" panose="02020603050405020304" pitchFamily="18" charset="0"/>
                <a:sym typeface="+mn-ea"/>
              </a:rPr>
              <a:t>                                   </a:t>
            </a:r>
            <a:r>
              <a:rPr lang="en-US" altLang="en-US" sz="2000" dirty="0" err="1">
                <a:latin typeface="Times New Roman" panose="02020603050405020304" pitchFamily="18" charset="0"/>
                <a:cs typeface="Times New Roman" panose="02020603050405020304" pitchFamily="18" charset="0"/>
                <a:sym typeface="+mn-ea"/>
              </a:rPr>
              <a:t>B.Aravind</a:t>
            </a:r>
            <a:r>
              <a:rPr lang="en-US" altLang="en-US" sz="2000" dirty="0">
                <a:latin typeface="Times New Roman" panose="02020603050405020304" pitchFamily="18" charset="0"/>
                <a:cs typeface="Times New Roman" panose="02020603050405020304" pitchFamily="18" charset="0"/>
                <a:sym typeface="+mn-ea"/>
              </a:rPr>
              <a:t>            </a:t>
            </a:r>
            <a:r>
              <a:rPr lang="en-IN" altLang="en-US" sz="2000" dirty="0">
                <a:latin typeface="Times New Roman" panose="02020603050405020304" pitchFamily="18" charset="0"/>
                <a:cs typeface="Times New Roman" panose="02020603050405020304" pitchFamily="18" charset="0"/>
                <a:sym typeface="+mn-ea"/>
              </a:rPr>
              <a:t>(22491A056D)</a:t>
            </a:r>
          </a:p>
          <a:p>
            <a:pPr marL="0" indent="0">
              <a:lnSpc>
                <a:spcPct val="100000"/>
              </a:lnSpc>
              <a:buNone/>
            </a:pPr>
            <a:r>
              <a:rPr lang="en-IN" altLang="en-US" sz="2000" dirty="0">
                <a:latin typeface="Times New Roman" panose="02020603050405020304" pitchFamily="18" charset="0"/>
                <a:cs typeface="Times New Roman" panose="02020603050405020304" pitchFamily="18" charset="0"/>
                <a:sym typeface="+mn-ea"/>
              </a:rPr>
              <a:t>                                   </a:t>
            </a:r>
            <a:r>
              <a:rPr lang="en-IN" altLang="en-US" sz="2000" dirty="0" err="1">
                <a:latin typeface="Times New Roman" panose="02020603050405020304" pitchFamily="18" charset="0"/>
                <a:cs typeface="Times New Roman" panose="02020603050405020304" pitchFamily="18" charset="0"/>
                <a:sym typeface="+mn-ea"/>
              </a:rPr>
              <a:t>Ch.Hari</a:t>
            </a:r>
            <a:r>
              <a:rPr lang="en-IN" altLang="en-US" sz="2000" dirty="0">
                <a:latin typeface="Times New Roman" panose="02020603050405020304" pitchFamily="18" charset="0"/>
                <a:cs typeface="Times New Roman" panose="02020603050405020304" pitchFamily="18" charset="0"/>
                <a:sym typeface="+mn-ea"/>
              </a:rPr>
              <a:t> Krishna   (22491A056I)</a:t>
            </a:r>
          </a:p>
          <a:p>
            <a:pPr marL="0" indent="0">
              <a:lnSpc>
                <a:spcPct val="100000"/>
              </a:lnSpc>
              <a:buNone/>
            </a:pPr>
            <a:r>
              <a:rPr lang="en-IN" altLang="en-US" sz="2000" dirty="0">
                <a:latin typeface="Times New Roman" panose="02020603050405020304" pitchFamily="18" charset="0"/>
                <a:cs typeface="Times New Roman" panose="02020603050405020304" pitchFamily="18" charset="0"/>
                <a:sym typeface="+mn-ea"/>
              </a:rPr>
              <a:t>                                   </a:t>
            </a:r>
            <a:r>
              <a:rPr lang="en-US" altLang="en-US" sz="2000" dirty="0" err="1">
                <a:latin typeface="Times New Roman" panose="02020603050405020304" pitchFamily="18" charset="0"/>
                <a:cs typeface="Times New Roman" panose="02020603050405020304" pitchFamily="18" charset="0"/>
                <a:sym typeface="+mn-ea"/>
              </a:rPr>
              <a:t>Ch.Gopaiah</a:t>
            </a:r>
            <a:r>
              <a:rPr lang="en-IN" altLang="en-US" sz="2000" dirty="0">
                <a:latin typeface="Times New Roman" panose="02020603050405020304" pitchFamily="18" charset="0"/>
                <a:cs typeface="Times New Roman" panose="02020603050405020304" pitchFamily="18" charset="0"/>
                <a:sym typeface="+mn-ea"/>
              </a:rPr>
              <a:t>          (22491A056K)</a:t>
            </a:r>
            <a:endParaRPr lang="en-IN" altLang="en-US" sz="2000" b="1" i="1" dirty="0">
              <a:solidFill>
                <a:srgbClr val="00B050"/>
              </a:solidFill>
              <a:latin typeface="Times New Roman" panose="02020603050405020304" pitchFamily="18" charset="0"/>
              <a:ea typeface="Microsoft Sans Serif" panose="020B0604020202020204" pitchFamily="34" charset="0"/>
              <a:cs typeface="Times New Roman" panose="02020603050405020304" pitchFamily="18" charset="0"/>
            </a:endParaRPr>
          </a:p>
          <a:p>
            <a:pPr marL="0" lvl="0" indent="0" algn="r">
              <a:spcBef>
                <a:spcPts val="580"/>
              </a:spcBef>
              <a:buSzTx/>
              <a:buNone/>
              <a:defRPr/>
            </a:pPr>
            <a:r>
              <a:rPr lang="en-US" b="1" i="1" dirty="0">
                <a:solidFill>
                  <a:srgbClr val="00B050"/>
                </a:solidFill>
                <a:latin typeface="Times New Roman" panose="02020503050405090304"/>
                <a:ea typeface="Times New Roman" panose="02020503050405090304"/>
                <a:cs typeface="Times New Roman" panose="02020503050405090304"/>
                <a:sym typeface="Times New Roman" panose="02020503050405090304"/>
              </a:rPr>
              <a:t>Under the Guidance of:</a:t>
            </a:r>
          </a:p>
          <a:p>
            <a:pPr marL="0" lvl="0" indent="0" algn="r">
              <a:spcBef>
                <a:spcPts val="580"/>
              </a:spcBef>
              <a:buSzTx/>
              <a:buNone/>
              <a:defRPr/>
            </a:pPr>
            <a:r>
              <a:rPr lang="en-US" altLang="en-US" b="1" i="1" dirty="0">
                <a:solidFill>
                  <a:srgbClr val="002060"/>
                </a:solidFill>
                <a:latin typeface="Times New Roman" panose="02020603050405020304" pitchFamily="18" charset="0"/>
                <a:ea typeface="Microsoft Sans Serif" panose="020B0604020202020204" pitchFamily="34" charset="0"/>
                <a:cs typeface="Times New Roman" panose="02020603050405020304" pitchFamily="18" charset="0"/>
              </a:rPr>
              <a:t> </a:t>
            </a:r>
            <a:r>
              <a:rPr lang="en-US" altLang="en-US" sz="1800" b="1" i="1" dirty="0" err="1">
                <a:latin typeface="Times New Roman" panose="02020603050405020304" pitchFamily="18" charset="0"/>
                <a:ea typeface="Microsoft Sans Serif" panose="020B0604020202020204" pitchFamily="34" charset="0"/>
                <a:cs typeface="Times New Roman" panose="02020603050405020304" pitchFamily="18" charset="0"/>
              </a:rPr>
              <a:t>Dr.Kakumanu</a:t>
            </a:r>
            <a:r>
              <a:rPr lang="en-US" altLang="en-US" sz="1800" b="1" i="1" dirty="0">
                <a:latin typeface="Times New Roman" panose="02020603050405020304" pitchFamily="18" charset="0"/>
                <a:ea typeface="Microsoft Sans Serif" panose="020B0604020202020204" pitchFamily="34" charset="0"/>
                <a:cs typeface="Times New Roman" panose="02020603050405020304" pitchFamily="18" charset="0"/>
              </a:rPr>
              <a:t> Naga Raju</a:t>
            </a:r>
          </a:p>
          <a:p>
            <a:pPr marL="0" lvl="0" indent="0" algn="r">
              <a:spcBef>
                <a:spcPts val="580"/>
              </a:spcBef>
              <a:buSzTx/>
              <a:buNone/>
              <a:defRPr/>
            </a:pPr>
            <a:r>
              <a:rPr lang="en-US" sz="1800" b="1" i="1" dirty="0">
                <a:latin typeface="Times New Roman" panose="02020603050405020304" pitchFamily="18" charset="0"/>
                <a:ea typeface="Microsoft Sans Serif" panose="020B0604020202020204" pitchFamily="34" charset="0"/>
                <a:cs typeface="Times New Roman" panose="02020603050405020304" pitchFamily="18" charset="0"/>
              </a:rPr>
              <a:t>Assistant professor</a:t>
            </a:r>
          </a:p>
          <a:p>
            <a:pPr marL="0" lvl="0" indent="0" algn="r">
              <a:spcBef>
                <a:spcPts val="580"/>
              </a:spcBef>
              <a:buSzTx/>
              <a:buNone/>
              <a:defRPr/>
            </a:pPr>
            <a:r>
              <a:rPr lang="en-US" sz="2000" b="1" dirty="0">
                <a:latin typeface="Times New Roman" panose="02020603050405020304" pitchFamily="18" charset="0"/>
                <a:ea typeface="Microsoft Sans Serif" panose="020B0604020202020204" pitchFamily="34" charset="0"/>
                <a:cs typeface="Times New Roman" panose="02020603050405020304" pitchFamily="18" charset="0"/>
              </a:rPr>
              <a:t>Department of  CSE </a:t>
            </a:r>
          </a:p>
          <a:p>
            <a:pPr marL="0" indent="0">
              <a:lnSpc>
                <a:spcPct val="100000"/>
              </a:lnSpc>
              <a:buNone/>
            </a:pPr>
            <a:endParaRPr lang="en-IN" altLang="en-US" dirty="0">
              <a:latin typeface="Times New Roman" panose="02020603050405020304" pitchFamily="18" charset="0"/>
              <a:cs typeface="Times New Roman" panose="02020603050405020304" pitchFamily="18" charset="0"/>
              <a:sym typeface="+mn-ea"/>
            </a:endParaRPr>
          </a:p>
          <a:p>
            <a:pPr marL="0" indent="0">
              <a:lnSpc>
                <a:spcPct val="100000"/>
              </a:lnSpc>
              <a:buNone/>
            </a:pPr>
            <a:endParaRPr lang="en-IN" altLang="en-US" dirty="0">
              <a:latin typeface="Times New Roman" panose="02020603050405020304" pitchFamily="18" charset="0"/>
              <a:cs typeface="Times New Roman" panose="02020603050405020304" pitchFamily="18" charset="0"/>
              <a:sym typeface="+mn-ea"/>
            </a:endParaRPr>
          </a:p>
          <a:p>
            <a:pPr marL="0" indent="0">
              <a:lnSpc>
                <a:spcPct val="100000"/>
              </a:lnSpc>
              <a:buNone/>
            </a:pPr>
            <a:endParaRPr lang="en-US" b="1" dirty="0">
              <a:solidFill>
                <a:srgbClr val="00B050"/>
              </a:solidFill>
              <a:latin typeface="Times New Roman" panose="02020503050405090304"/>
              <a:ea typeface="Times New Roman" panose="02020503050405090304"/>
              <a:cs typeface="Times New Roman" panose="02020503050405090304"/>
              <a:sym typeface="Times New Roman" panose="02020503050405090304"/>
            </a:endParaRPr>
          </a:p>
          <a:p>
            <a:pPr marL="0" indent="0">
              <a:buNone/>
            </a:pPr>
            <a:endParaRPr lang="en-IN" dirty="0">
              <a:latin typeface="Times New Roman" panose="02020603050405020304" pitchFamily="18" charset="0"/>
              <a:cs typeface="Times New Roman" panose="02020603050405020304" pitchFamily="18" charset="0"/>
            </a:endParaRPr>
          </a:p>
        </p:txBody>
      </p:sp>
      <p:pic>
        <p:nvPicPr>
          <p:cNvPr id="4" name="Google Shape;201;p24">
            <a:extLst>
              <a:ext uri="{FF2B5EF4-FFF2-40B4-BE49-F238E27FC236}">
                <a16:creationId xmlns:a16="http://schemas.microsoft.com/office/drawing/2014/main" id="{6370F250-754B-CAA5-8F99-43B17B3FB99C}"/>
              </a:ext>
            </a:extLst>
          </p:cNvPr>
          <p:cNvPicPr preferRelativeResize="0"/>
          <p:nvPr/>
        </p:nvPicPr>
        <p:blipFill rotWithShape="1">
          <a:blip r:embed="rId2"/>
          <a:srcRect/>
          <a:stretch>
            <a:fillRect/>
          </a:stretch>
        </p:blipFill>
        <p:spPr>
          <a:xfrm>
            <a:off x="10928879" y="158750"/>
            <a:ext cx="981075" cy="838200"/>
          </a:xfrm>
          <a:prstGeom prst="rect">
            <a:avLst/>
          </a:prstGeom>
          <a:noFill/>
          <a:ln>
            <a:noFill/>
          </a:ln>
        </p:spPr>
      </p:pic>
    </p:spTree>
    <p:extLst>
      <p:ext uri="{BB962C8B-B14F-4D97-AF65-F5344CB8AC3E}">
        <p14:creationId xmlns:p14="http://schemas.microsoft.com/office/powerpoint/2010/main" val="11780782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C9EEF-5EF7-C13B-83EB-F305B47C5828}"/>
              </a:ext>
            </a:extLst>
          </p:cNvPr>
          <p:cNvSpPr>
            <a:spLocks noGrp="1"/>
          </p:cNvSpPr>
          <p:nvPr>
            <p:ph type="title"/>
          </p:nvPr>
        </p:nvSpPr>
        <p:spPr>
          <a:xfrm>
            <a:off x="5020733" y="455535"/>
            <a:ext cx="2150533" cy="541415"/>
          </a:xfrm>
        </p:spPr>
        <p:txBody>
          <a:bodyPr>
            <a:normAutofit fontScale="90000"/>
          </a:bodyPr>
          <a:lstStyle/>
          <a:p>
            <a:r>
              <a:rPr lang="en-US" b="1" dirty="0"/>
              <a:t>Outline</a:t>
            </a:r>
            <a:endParaRPr lang="en-IN" b="1" dirty="0"/>
          </a:p>
        </p:txBody>
      </p:sp>
      <p:sp>
        <p:nvSpPr>
          <p:cNvPr id="4" name="Rectangle 1">
            <a:extLst>
              <a:ext uri="{FF2B5EF4-FFF2-40B4-BE49-F238E27FC236}">
                <a16:creationId xmlns:a16="http://schemas.microsoft.com/office/drawing/2014/main" id="{03F03C9A-52F7-3529-DCE0-2400E7244523}"/>
              </a:ext>
            </a:extLst>
          </p:cNvPr>
          <p:cNvSpPr>
            <a:spLocks noGrp="1" noChangeArrowheads="1"/>
          </p:cNvSpPr>
          <p:nvPr>
            <p:ph idx="1"/>
          </p:nvPr>
        </p:nvSpPr>
        <p:spPr bwMode="auto">
          <a:xfrm>
            <a:off x="1371599" y="1235710"/>
            <a:ext cx="9770533"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Abstract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Introduction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Literature Review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Motivation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Objective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Existing Method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Proposed Method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Block Diagram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Hardware &amp; Software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Applications &amp; Advantages</a:t>
            </a:r>
          </a:p>
          <a:p>
            <a:pPr marL="0" lvl="0" indent="0" eaLnBrk="0" fontAlgn="base" hangingPunct="0">
              <a:lnSpc>
                <a:spcPct val="100000"/>
              </a:lnSpc>
              <a:spcBef>
                <a:spcPct val="0"/>
              </a:spcBef>
              <a:spcAft>
                <a:spcPct val="0"/>
              </a:spcAft>
              <a:buFontTx/>
              <a:buChar char="•"/>
            </a:pPr>
            <a:r>
              <a:rPr lang="en-US" sz="2000" dirty="0">
                <a:latin typeface="Times New Roman" panose="02020603050405020304" pitchFamily="18" charset="0"/>
                <a:ea typeface="Microsoft Sans Serif" panose="020B0604020202020204" pitchFamily="34" charset="0"/>
                <a:cs typeface="Times New Roman" panose="02020603050405020304" pitchFamily="18" charset="0"/>
              </a:rPr>
              <a:t>System Architecture/Proposed work Block diagram</a:t>
            </a:r>
          </a:p>
          <a:p>
            <a:pPr marL="0" lvl="0" indent="0" eaLnBrk="0" fontAlgn="base" hangingPunct="0">
              <a:lnSpc>
                <a:spcPct val="100000"/>
              </a:lnSpc>
              <a:spcBef>
                <a:spcPct val="0"/>
              </a:spcBef>
              <a:spcAft>
                <a:spcPct val="0"/>
              </a:spcAft>
              <a:buFontTx/>
              <a:buChar char="•"/>
            </a:pPr>
            <a:r>
              <a:rPr lang="en-US" sz="2000" dirty="0">
                <a:latin typeface="Times New Roman" panose="02020603050405020304" pitchFamily="18" charset="0"/>
                <a:ea typeface="Microsoft Sans Serif" panose="020B0604020202020204" pitchFamily="34" charset="0"/>
                <a:cs typeface="Times New Roman" panose="02020603050405020304" pitchFamily="18" charset="0"/>
              </a:rPr>
              <a:t>UML Diagrams (CSE &amp; Allied)/DFD CSE &amp; Allied / Prototype (others)</a:t>
            </a:r>
          </a:p>
          <a:p>
            <a:pPr marL="0" indent="0" eaLnBrk="0" fontAlgn="base" hangingPunct="0">
              <a:lnSpc>
                <a:spcPct val="100000"/>
              </a:lnSpc>
              <a:spcBef>
                <a:spcPct val="0"/>
              </a:spcBef>
              <a:spcAft>
                <a:spcPct val="0"/>
              </a:spcAft>
              <a:buFontTx/>
              <a:buChar char="•"/>
            </a:pPr>
            <a:r>
              <a:rPr lang="en-US" sz="2000" dirty="0">
                <a:latin typeface="Times New Roman" panose="02020603050405020304" pitchFamily="18" charset="0"/>
                <a:ea typeface="Microsoft Sans Serif" panose="020B0604020202020204" pitchFamily="34" charset="0"/>
                <a:cs typeface="Times New Roman" panose="02020603050405020304" pitchFamily="18" charset="0"/>
              </a:rPr>
              <a:t>Implementation(part Of The Code)</a:t>
            </a:r>
          </a:p>
          <a:p>
            <a:pPr marL="0" indent="0" eaLnBrk="0" fontAlgn="base" hangingPunct="0">
              <a:lnSpc>
                <a:spcPct val="100000"/>
              </a:lnSpc>
              <a:spcBef>
                <a:spcPct val="0"/>
              </a:spcBef>
              <a:spcAft>
                <a:spcPct val="0"/>
              </a:spcAft>
              <a:buFontTx/>
              <a:buChar char="•"/>
            </a:pPr>
            <a:r>
              <a:rPr lang="en-US" sz="2000" dirty="0">
                <a:latin typeface="Times New Roman" panose="02020603050405020304" pitchFamily="18" charset="0"/>
                <a:ea typeface="Microsoft Sans Serif" panose="020B0604020202020204" pitchFamily="34" charset="0"/>
                <a:cs typeface="Times New Roman" panose="02020603050405020304" pitchFamily="18" charset="0"/>
              </a:rPr>
              <a:t>Testing/Simulation</a:t>
            </a:r>
          </a:p>
          <a:p>
            <a:pPr marL="0" indent="0" eaLnBrk="0" fontAlgn="base" hangingPunct="0">
              <a:lnSpc>
                <a:spcPct val="100000"/>
              </a:lnSpc>
              <a:spcBef>
                <a:spcPct val="0"/>
              </a:spcBef>
              <a:spcAft>
                <a:spcPct val="0"/>
              </a:spcAft>
              <a:buFontTx/>
              <a:buChar char="•"/>
            </a:pPr>
            <a:r>
              <a:rPr lang="en-US" sz="2000" dirty="0">
                <a:latin typeface="Times New Roman" panose="02020603050405020304" pitchFamily="18" charset="0"/>
                <a:ea typeface="Microsoft Sans Serif" panose="020B0604020202020204" pitchFamily="34" charset="0"/>
                <a:cs typeface="Times New Roman" panose="02020603050405020304" pitchFamily="18" charset="0"/>
              </a:rPr>
              <a:t>Results And Discussions</a:t>
            </a:r>
          </a:p>
          <a:p>
            <a:pPr marL="0" indent="0" eaLnBrk="0" fontAlgn="base" hangingPunct="0">
              <a:lnSpc>
                <a:spcPct val="100000"/>
              </a:lnSpc>
              <a:spcBef>
                <a:spcPct val="0"/>
              </a:spcBef>
              <a:spcAft>
                <a:spcPct val="0"/>
              </a:spcAft>
              <a:buFontTx/>
              <a:buChar char="•"/>
            </a:pPr>
            <a:r>
              <a:rPr lang="en-US" sz="2000" dirty="0">
                <a:latin typeface="Times New Roman" panose="02020603050405020304" pitchFamily="18" charset="0"/>
                <a:ea typeface="Microsoft Sans Serif" panose="020B0604020202020204" pitchFamily="34" charset="0"/>
                <a:cs typeface="Times New Roman" panose="02020603050405020304" pitchFamily="18" charset="0"/>
              </a:rPr>
              <a:t>Conclusions And Future Scope</a:t>
            </a:r>
            <a:endParaRPr kumimoji="0" lang="en-US" altLang="en-US" sz="200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References</a:t>
            </a:r>
          </a:p>
        </p:txBody>
      </p:sp>
      <p:pic>
        <p:nvPicPr>
          <p:cNvPr id="5" name="Google Shape;201;p24">
            <a:extLst>
              <a:ext uri="{FF2B5EF4-FFF2-40B4-BE49-F238E27FC236}">
                <a16:creationId xmlns:a16="http://schemas.microsoft.com/office/drawing/2014/main" id="{90BAD6ED-F3F0-20C1-2D0A-93959C15DC5B}"/>
              </a:ext>
            </a:extLst>
          </p:cNvPr>
          <p:cNvPicPr preferRelativeResize="0"/>
          <p:nvPr/>
        </p:nvPicPr>
        <p:blipFill rotWithShape="1">
          <a:blip r:embed="rId2"/>
          <a:srcRect/>
          <a:stretch>
            <a:fillRect/>
          </a:stretch>
        </p:blipFill>
        <p:spPr>
          <a:xfrm>
            <a:off x="10920412" y="158750"/>
            <a:ext cx="981075" cy="838200"/>
          </a:xfrm>
          <a:prstGeom prst="rect">
            <a:avLst/>
          </a:prstGeom>
          <a:noFill/>
          <a:ln>
            <a:noFill/>
          </a:ln>
        </p:spPr>
      </p:pic>
    </p:spTree>
    <p:extLst>
      <p:ext uri="{BB962C8B-B14F-4D97-AF65-F5344CB8AC3E}">
        <p14:creationId xmlns:p14="http://schemas.microsoft.com/office/powerpoint/2010/main" val="2662652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C778F-76A0-5B7D-5C1E-B82E542972FC}"/>
              </a:ext>
            </a:extLst>
          </p:cNvPr>
          <p:cNvSpPr>
            <a:spLocks noGrp="1"/>
          </p:cNvSpPr>
          <p:nvPr>
            <p:ph type="title"/>
          </p:nvPr>
        </p:nvSpPr>
        <p:spPr>
          <a:xfrm>
            <a:off x="1014413" y="1149350"/>
            <a:ext cx="9905999" cy="524482"/>
          </a:xfrm>
        </p:spPr>
        <p:txBody>
          <a:bodyPr>
            <a:noAutofit/>
          </a:bodyPr>
          <a:lstStyle/>
          <a:p>
            <a:r>
              <a:rPr lang="en-US" sz="2000" b="1" u="sng" dirty="0">
                <a:latin typeface="Times New Roman" panose="02020603050405020304" pitchFamily="18" charset="0"/>
                <a:cs typeface="Times New Roman" panose="02020603050405020304" pitchFamily="18" charset="0"/>
              </a:rPr>
              <a:t>Abstract</a:t>
            </a:r>
            <a:endParaRPr lang="en-IN" sz="2000" b="1" u="sng" dirty="0">
              <a:latin typeface="Times New Roman" panose="02020603050405020304" pitchFamily="18" charset="0"/>
              <a:cs typeface="Times New Roman" panose="02020603050405020304" pitchFamily="18" charset="0"/>
            </a:endParaRPr>
          </a:p>
        </p:txBody>
      </p:sp>
      <p:pic>
        <p:nvPicPr>
          <p:cNvPr id="4" name="Google Shape;201;p24">
            <a:extLst>
              <a:ext uri="{FF2B5EF4-FFF2-40B4-BE49-F238E27FC236}">
                <a16:creationId xmlns:a16="http://schemas.microsoft.com/office/drawing/2014/main" id="{C9DBA195-A660-A590-A71A-6EF22AB4831E}"/>
              </a:ext>
            </a:extLst>
          </p:cNvPr>
          <p:cNvPicPr preferRelativeResize="0"/>
          <p:nvPr/>
        </p:nvPicPr>
        <p:blipFill rotWithShape="1">
          <a:blip r:embed="rId2"/>
          <a:srcRect/>
          <a:stretch>
            <a:fillRect/>
          </a:stretch>
        </p:blipFill>
        <p:spPr>
          <a:xfrm>
            <a:off x="10920412" y="158750"/>
            <a:ext cx="981075" cy="838200"/>
          </a:xfrm>
          <a:prstGeom prst="rect">
            <a:avLst/>
          </a:prstGeom>
          <a:noFill/>
          <a:ln>
            <a:noFill/>
          </a:ln>
        </p:spPr>
      </p:pic>
      <p:sp>
        <p:nvSpPr>
          <p:cNvPr id="7" name="Rectangle 2">
            <a:extLst>
              <a:ext uri="{FF2B5EF4-FFF2-40B4-BE49-F238E27FC236}">
                <a16:creationId xmlns:a16="http://schemas.microsoft.com/office/drawing/2014/main" id="{C3BB9B04-7927-3860-DE9C-21FD2E7CD25E}"/>
              </a:ext>
            </a:extLst>
          </p:cNvPr>
          <p:cNvSpPr>
            <a:spLocks noGrp="1" noChangeArrowheads="1"/>
          </p:cNvSpPr>
          <p:nvPr>
            <p:ph idx="1"/>
          </p:nvPr>
        </p:nvSpPr>
        <p:spPr bwMode="auto">
          <a:xfrm>
            <a:off x="905933" y="2031298"/>
            <a:ext cx="10854267"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Visually impaired people mainly depend on Braille for reading and understanding information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Most information today is available in spoken form such as lectures, announcements, and voice instructions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Converting spoken information directly into Braille is difficult using existing systems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proposed system converts speech into tactile Braille output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Speech-to-text conversion is used to process the user’s voice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 simple Braille display mechanism is used to represent characters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is low-cost and easy to use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It helps visually impaired users access spoken information independently</a:t>
            </a:r>
          </a:p>
        </p:txBody>
      </p:sp>
    </p:spTree>
    <p:extLst>
      <p:ext uri="{BB962C8B-B14F-4D97-AF65-F5344CB8AC3E}">
        <p14:creationId xmlns:p14="http://schemas.microsoft.com/office/powerpoint/2010/main" val="2852172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C489C-AEF8-ED70-508F-4CB00FB15C9A}"/>
              </a:ext>
            </a:extLst>
          </p:cNvPr>
          <p:cNvSpPr>
            <a:spLocks noGrp="1"/>
          </p:cNvSpPr>
          <p:nvPr>
            <p:ph type="title"/>
          </p:nvPr>
        </p:nvSpPr>
        <p:spPr>
          <a:xfrm>
            <a:off x="1141412" y="1388985"/>
            <a:ext cx="9905998" cy="761549"/>
          </a:xfrm>
        </p:spPr>
        <p:txBody>
          <a:bodyPr>
            <a:normAutofit fontScale="90000"/>
          </a:bodyPr>
          <a:lstStyle/>
          <a:p>
            <a:r>
              <a:rPr lang="en-US" sz="2200" b="1" u="sng" dirty="0">
                <a:latin typeface="Times New Roman" panose="02020603050405020304" pitchFamily="18" charset="0"/>
                <a:cs typeface="Times New Roman" panose="02020603050405020304" pitchFamily="18" charset="0"/>
              </a:rPr>
              <a:t>Introduction</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62B5DCA-0A0C-A2DB-B3EE-5F6255A63FB2}"/>
              </a:ext>
            </a:extLst>
          </p:cNvPr>
          <p:cNvSpPr>
            <a:spLocks noGrp="1"/>
          </p:cNvSpPr>
          <p:nvPr>
            <p:ph idx="1"/>
          </p:nvPr>
        </p:nvSpPr>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Assistive technology plays an important role in helping people with disabilities lead more independent lives. For visually impaired individuals, Braille is the most widely used method for reading and understanding written information through touch. However, in recent years, most information has become voice-based, such as classroom teaching, announcements, and digital voice assistants. Visually impaired users often face difficulty in accessing this spoken information in Braille form. Existing Braille systems mainly focus on text input and are either costly or complex to use. Therefore, there is a need for a simple and affordable system that can convert spoken words directly into Braille. This project aims to address this need by developing a voice-enabled smart Braille assistive system.</a:t>
            </a:r>
            <a:endParaRPr lang="en-IN" sz="1800" dirty="0">
              <a:latin typeface="Times New Roman" panose="02020603050405020304" pitchFamily="18" charset="0"/>
              <a:cs typeface="Times New Roman" panose="02020603050405020304" pitchFamily="18" charset="0"/>
            </a:endParaRPr>
          </a:p>
        </p:txBody>
      </p:sp>
      <p:pic>
        <p:nvPicPr>
          <p:cNvPr id="4" name="Google Shape;201;p24">
            <a:extLst>
              <a:ext uri="{FF2B5EF4-FFF2-40B4-BE49-F238E27FC236}">
                <a16:creationId xmlns:a16="http://schemas.microsoft.com/office/drawing/2014/main" id="{B3CAA7A2-BFFB-D27B-0F37-28302E26FB7C}"/>
              </a:ext>
            </a:extLst>
          </p:cNvPr>
          <p:cNvPicPr preferRelativeResize="0"/>
          <p:nvPr/>
        </p:nvPicPr>
        <p:blipFill rotWithShape="1">
          <a:blip r:embed="rId2"/>
          <a:srcRect/>
          <a:stretch>
            <a:fillRect/>
          </a:stretch>
        </p:blipFill>
        <p:spPr>
          <a:xfrm>
            <a:off x="10920412" y="158750"/>
            <a:ext cx="981075" cy="838200"/>
          </a:xfrm>
          <a:prstGeom prst="rect">
            <a:avLst/>
          </a:prstGeom>
          <a:noFill/>
          <a:ln>
            <a:noFill/>
          </a:ln>
        </p:spPr>
      </p:pic>
    </p:spTree>
    <p:extLst>
      <p:ext uri="{BB962C8B-B14F-4D97-AF65-F5344CB8AC3E}">
        <p14:creationId xmlns:p14="http://schemas.microsoft.com/office/powerpoint/2010/main" val="2400053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29606-F547-9E43-A38A-9AA4A62FB7B8}"/>
              </a:ext>
            </a:extLst>
          </p:cNvPr>
          <p:cNvSpPr>
            <a:spLocks noGrp="1"/>
          </p:cNvSpPr>
          <p:nvPr>
            <p:ph type="title"/>
          </p:nvPr>
        </p:nvSpPr>
        <p:spPr>
          <a:xfrm>
            <a:off x="651933" y="232438"/>
            <a:ext cx="10397066" cy="478762"/>
          </a:xfrm>
        </p:spPr>
        <p:txBody>
          <a:bodyPr>
            <a:normAutofit/>
          </a:bodyPr>
          <a:lstStyle/>
          <a:p>
            <a:r>
              <a:rPr lang="en-US" sz="2000" b="1" u="sng" dirty="0">
                <a:latin typeface="Times New Roman" panose="02020603050405020304" pitchFamily="18" charset="0"/>
                <a:cs typeface="Times New Roman" panose="02020603050405020304" pitchFamily="18" charset="0"/>
              </a:rPr>
              <a:t>Literature survey</a:t>
            </a:r>
            <a:endParaRPr lang="en-IN" sz="2000" b="1" u="sng"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552C4B35-B87B-6384-C0EF-D9A0F071E2AA}"/>
              </a:ext>
            </a:extLst>
          </p:cNvPr>
          <p:cNvGraphicFramePr>
            <a:graphicFrameLocks noGrp="1"/>
          </p:cNvGraphicFramePr>
          <p:nvPr>
            <p:ph idx="1"/>
            <p:extLst>
              <p:ext uri="{D42A27DB-BD31-4B8C-83A1-F6EECF244321}">
                <p14:modId xmlns:p14="http://schemas.microsoft.com/office/powerpoint/2010/main" val="2242125193"/>
              </p:ext>
            </p:extLst>
          </p:nvPr>
        </p:nvGraphicFramePr>
        <p:xfrm>
          <a:off x="548640" y="792480"/>
          <a:ext cx="11064240" cy="5181600"/>
        </p:xfrm>
        <a:graphic>
          <a:graphicData uri="http://schemas.openxmlformats.org/drawingml/2006/table">
            <a:tbl>
              <a:tblPr/>
              <a:tblGrid>
                <a:gridCol w="548640">
                  <a:extLst>
                    <a:ext uri="{9D8B030D-6E8A-4147-A177-3AD203B41FA5}">
                      <a16:colId xmlns:a16="http://schemas.microsoft.com/office/drawing/2014/main" val="2314492906"/>
                    </a:ext>
                  </a:extLst>
                </a:gridCol>
                <a:gridCol w="2232660">
                  <a:extLst>
                    <a:ext uri="{9D8B030D-6E8A-4147-A177-3AD203B41FA5}">
                      <a16:colId xmlns:a16="http://schemas.microsoft.com/office/drawing/2014/main" val="3839141958"/>
                    </a:ext>
                  </a:extLst>
                </a:gridCol>
                <a:gridCol w="2400300">
                  <a:extLst>
                    <a:ext uri="{9D8B030D-6E8A-4147-A177-3AD203B41FA5}">
                      <a16:colId xmlns:a16="http://schemas.microsoft.com/office/drawing/2014/main" val="1349560368"/>
                    </a:ext>
                  </a:extLst>
                </a:gridCol>
                <a:gridCol w="2194560">
                  <a:extLst>
                    <a:ext uri="{9D8B030D-6E8A-4147-A177-3AD203B41FA5}">
                      <a16:colId xmlns:a16="http://schemas.microsoft.com/office/drawing/2014/main" val="3795877929"/>
                    </a:ext>
                  </a:extLst>
                </a:gridCol>
                <a:gridCol w="1844040">
                  <a:extLst>
                    <a:ext uri="{9D8B030D-6E8A-4147-A177-3AD203B41FA5}">
                      <a16:colId xmlns:a16="http://schemas.microsoft.com/office/drawing/2014/main" val="2820416803"/>
                    </a:ext>
                  </a:extLst>
                </a:gridCol>
                <a:gridCol w="1844040">
                  <a:extLst>
                    <a:ext uri="{9D8B030D-6E8A-4147-A177-3AD203B41FA5}">
                      <a16:colId xmlns:a16="http://schemas.microsoft.com/office/drawing/2014/main" val="3045971033"/>
                    </a:ext>
                  </a:extLst>
                </a:gridCol>
              </a:tblGrid>
              <a:tr h="677870">
                <a:tc>
                  <a:txBody>
                    <a:bodyPr/>
                    <a:lstStyle/>
                    <a:p>
                      <a:pPr>
                        <a:buNone/>
                      </a:pPr>
                      <a:r>
                        <a:rPr lang="en-IN" sz="1800" b="1" i="0" dirty="0">
                          <a:solidFill>
                            <a:schemeClr val="tx1"/>
                          </a:solidFill>
                          <a:effectLst/>
                          <a:latin typeface="Times New Roman" panose="02020603050405020304" pitchFamily="18" charset="0"/>
                          <a:cs typeface="Times New Roman" panose="02020603050405020304" pitchFamily="18" charset="0"/>
                        </a:rPr>
                        <a:t>Ref. No</a:t>
                      </a:r>
                    </a:p>
                  </a:txBody>
                  <a:tcPr marL="28109" marR="28109" marT="14054" marB="14054" anchor="ctr">
                    <a:lnL>
                      <a:noFill/>
                    </a:lnL>
                    <a:lnR>
                      <a:noFill/>
                    </a:lnR>
                    <a:lnT>
                      <a:noFill/>
                    </a:lnT>
                    <a:lnB>
                      <a:noFill/>
                    </a:lnB>
                    <a:noFill/>
                  </a:tcPr>
                </a:tc>
                <a:tc>
                  <a:txBody>
                    <a:bodyPr/>
                    <a:lstStyle/>
                    <a:p>
                      <a:pPr>
                        <a:buNone/>
                      </a:pPr>
                      <a:r>
                        <a:rPr lang="en-IN" sz="1800" b="1" i="0" dirty="0">
                          <a:solidFill>
                            <a:schemeClr val="tx1"/>
                          </a:solidFill>
                          <a:effectLst/>
                          <a:latin typeface="Times New Roman" panose="02020603050405020304" pitchFamily="18" charset="0"/>
                          <a:cs typeface="Times New Roman" panose="02020603050405020304" pitchFamily="18" charset="0"/>
                        </a:rPr>
                        <a:t>Title &amp; Authors (Year)</a:t>
                      </a:r>
                    </a:p>
                  </a:txBody>
                  <a:tcPr marL="28109" marR="28109" marT="14054" marB="14054" anchor="ctr">
                    <a:lnL>
                      <a:noFill/>
                    </a:lnL>
                    <a:lnR>
                      <a:noFill/>
                    </a:lnR>
                    <a:lnT>
                      <a:noFill/>
                    </a:lnT>
                    <a:lnB>
                      <a:noFill/>
                    </a:lnB>
                    <a:noFill/>
                  </a:tcPr>
                </a:tc>
                <a:tc>
                  <a:txBody>
                    <a:bodyPr/>
                    <a:lstStyle/>
                    <a:p>
                      <a:pPr>
                        <a:buNone/>
                      </a:pPr>
                      <a:r>
                        <a:rPr lang="en-IN" sz="1800" b="1" i="0" dirty="0">
                          <a:solidFill>
                            <a:schemeClr val="tx1"/>
                          </a:solidFill>
                          <a:effectLst/>
                          <a:latin typeface="Times New Roman" panose="02020603050405020304" pitchFamily="18" charset="0"/>
                          <a:cs typeface="Times New Roman" panose="02020603050405020304" pitchFamily="18" charset="0"/>
                        </a:rPr>
                        <a:t>Technique / Contribution</a:t>
                      </a:r>
                    </a:p>
                  </a:txBody>
                  <a:tcPr marL="28109" marR="28109" marT="14054" marB="14054" anchor="ctr">
                    <a:lnL>
                      <a:noFill/>
                    </a:lnL>
                    <a:lnR>
                      <a:noFill/>
                    </a:lnR>
                    <a:lnT>
                      <a:noFill/>
                    </a:lnT>
                    <a:lnB>
                      <a:noFill/>
                    </a:lnB>
                    <a:noFill/>
                  </a:tcPr>
                </a:tc>
                <a:tc>
                  <a:txBody>
                    <a:bodyPr/>
                    <a:lstStyle/>
                    <a:p>
                      <a:pPr>
                        <a:buNone/>
                      </a:pPr>
                      <a:r>
                        <a:rPr lang="en-IN" sz="1800" b="1" i="0" dirty="0">
                          <a:solidFill>
                            <a:schemeClr val="tx1"/>
                          </a:solidFill>
                          <a:effectLst/>
                          <a:latin typeface="Times New Roman" panose="02020603050405020304" pitchFamily="18" charset="0"/>
                          <a:cs typeface="Times New Roman" panose="02020603050405020304" pitchFamily="18" charset="0"/>
                        </a:rPr>
                        <a:t>Pros</a:t>
                      </a:r>
                    </a:p>
                  </a:txBody>
                  <a:tcPr marL="28109" marR="28109" marT="14054" marB="14054" anchor="ctr">
                    <a:lnL>
                      <a:noFill/>
                    </a:lnL>
                    <a:lnR>
                      <a:noFill/>
                    </a:lnR>
                    <a:lnT>
                      <a:noFill/>
                    </a:lnT>
                    <a:lnB>
                      <a:noFill/>
                    </a:lnB>
                    <a:noFill/>
                  </a:tcPr>
                </a:tc>
                <a:tc>
                  <a:txBody>
                    <a:bodyPr/>
                    <a:lstStyle/>
                    <a:p>
                      <a:pPr>
                        <a:buNone/>
                      </a:pPr>
                      <a:r>
                        <a:rPr lang="en-IN" sz="1800" b="1" i="0" dirty="0">
                          <a:solidFill>
                            <a:schemeClr val="tx1"/>
                          </a:solidFill>
                          <a:effectLst/>
                          <a:latin typeface="Times New Roman" panose="02020603050405020304" pitchFamily="18" charset="0"/>
                          <a:cs typeface="Times New Roman" panose="02020603050405020304" pitchFamily="18" charset="0"/>
                        </a:rPr>
                        <a:t>Cons</a:t>
                      </a:r>
                    </a:p>
                  </a:txBody>
                  <a:tcPr marL="28109" marR="28109" marT="14054" marB="14054" anchor="ctr">
                    <a:lnL>
                      <a:noFill/>
                    </a:lnL>
                    <a:lnR>
                      <a:noFill/>
                    </a:lnR>
                    <a:lnT>
                      <a:noFill/>
                    </a:lnT>
                    <a:lnB>
                      <a:noFill/>
                    </a:lnB>
                    <a:noFill/>
                  </a:tcPr>
                </a:tc>
                <a:tc>
                  <a:txBody>
                    <a:bodyPr/>
                    <a:lstStyle/>
                    <a:p>
                      <a:pPr>
                        <a:buNone/>
                      </a:pPr>
                      <a:r>
                        <a:rPr lang="en-IN" sz="1800" b="1" i="0" dirty="0">
                          <a:solidFill>
                            <a:schemeClr val="tx1"/>
                          </a:solidFill>
                          <a:effectLst/>
                          <a:latin typeface="Times New Roman" panose="02020603050405020304" pitchFamily="18" charset="0"/>
                          <a:cs typeface="Times New Roman" panose="02020603050405020304" pitchFamily="18" charset="0"/>
                        </a:rPr>
                        <a:t>PDF / Link</a:t>
                      </a:r>
                    </a:p>
                  </a:txBody>
                  <a:tcPr marL="28109" marR="28109" marT="14054" marB="14054" anchor="ctr">
                    <a:lnL>
                      <a:noFill/>
                    </a:lnL>
                    <a:lnR>
                      <a:noFill/>
                    </a:lnR>
                    <a:lnT>
                      <a:noFill/>
                    </a:lnT>
                    <a:lnB>
                      <a:noFill/>
                    </a:lnB>
                    <a:noFill/>
                  </a:tcPr>
                </a:tc>
                <a:extLst>
                  <a:ext uri="{0D108BD9-81ED-4DB2-BD59-A6C34878D82A}">
                    <a16:rowId xmlns:a16="http://schemas.microsoft.com/office/drawing/2014/main" val="3218731531"/>
                  </a:ext>
                </a:extLst>
              </a:tr>
              <a:tr h="1795463">
                <a:tc>
                  <a:txBody>
                    <a:bodyPr/>
                    <a:lstStyle/>
                    <a:p>
                      <a:pPr>
                        <a:buNone/>
                      </a:pPr>
                      <a:r>
                        <a:rPr lang="en-IN" sz="1800" b="1">
                          <a:latin typeface="Times New Roman" panose="02020603050405020304" pitchFamily="18" charset="0"/>
                          <a:cs typeface="Times New Roman" panose="02020603050405020304" pitchFamily="18" charset="0"/>
                        </a:rPr>
                        <a:t>1</a:t>
                      </a:r>
                      <a:endParaRPr lang="en-IN" sz="1800">
                        <a:latin typeface="Times New Roman" panose="02020603050405020304" pitchFamily="18" charset="0"/>
                        <a:cs typeface="Times New Roman" panose="02020603050405020304" pitchFamily="18" charset="0"/>
                      </a:endParaRPr>
                    </a:p>
                  </a:txBody>
                  <a:tcPr marL="28109" marR="28109" marT="14054" marB="14054" anchor="ctr">
                    <a:lnL>
                      <a:noFill/>
                    </a:lnL>
                    <a:lnR>
                      <a:noFill/>
                    </a:lnR>
                    <a:lnT>
                      <a:noFill/>
                    </a:lnT>
                    <a:lnB>
                      <a:noFill/>
                    </a:lnB>
                    <a:noFill/>
                  </a:tcPr>
                </a:tc>
                <a:tc>
                  <a:txBody>
                    <a:bodyPr/>
                    <a:lstStyle/>
                    <a:p>
                      <a:pPr>
                        <a:buNone/>
                      </a:pPr>
                      <a:r>
                        <a:rPr lang="en-IN" sz="1800" b="0" i="0" dirty="0">
                          <a:latin typeface="Times New Roman" panose="02020603050405020304" pitchFamily="18" charset="0"/>
                          <a:cs typeface="Times New Roman" panose="02020603050405020304" pitchFamily="18" charset="0"/>
                        </a:rPr>
                        <a:t>Advancements in Refreshable Braille Display Technology</a:t>
                      </a:r>
                      <a:r>
                        <a:rPr lang="en-IN" sz="1800" i="1" dirty="0">
                          <a:latin typeface="Times New Roman" panose="02020603050405020304" pitchFamily="18" charset="0"/>
                          <a:cs typeface="Times New Roman" panose="02020603050405020304" pitchFamily="18" charset="0"/>
                        </a:rPr>
                        <a:t>: </a:t>
                      </a:r>
                      <a:r>
                        <a:rPr lang="en-IN" sz="1800" i="0" dirty="0">
                          <a:latin typeface="Times New Roman" panose="02020603050405020304" pitchFamily="18" charset="0"/>
                          <a:cs typeface="Times New Roman" panose="02020603050405020304" pitchFamily="18" charset="0"/>
                        </a:rPr>
                        <a:t>A Comprehensive Survey </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Etezad</a:t>
                      </a:r>
                      <a:r>
                        <a:rPr lang="en-IN" sz="1800" dirty="0">
                          <a:latin typeface="Times New Roman" panose="02020603050405020304" pitchFamily="18" charset="0"/>
                          <a:cs typeface="Times New Roman" panose="02020603050405020304" pitchFamily="18" charset="0"/>
                        </a:rPr>
                        <a:t>, Joshi, Cibrian (2025)</a:t>
                      </a:r>
                    </a:p>
                  </a:txBody>
                  <a:tcPr marL="28109" marR="28109" marT="14054" marB="14054" anchor="ctr">
                    <a:lnL>
                      <a:noFill/>
                    </a:lnL>
                    <a:lnR>
                      <a:noFill/>
                    </a:lnR>
                    <a:lnT>
                      <a:noFill/>
                    </a:lnT>
                    <a:lnB>
                      <a:noFill/>
                    </a:lnB>
                    <a:noFill/>
                  </a:tcPr>
                </a:tc>
                <a:tc>
                  <a:txBody>
                    <a:bodyPr/>
                    <a:lstStyle/>
                    <a:p>
                      <a:pPr>
                        <a:buNone/>
                      </a:pPr>
                      <a:r>
                        <a:rPr lang="en-US" sz="1800" dirty="0">
                          <a:latin typeface="Times New Roman" panose="02020603050405020304" pitchFamily="18" charset="0"/>
                          <a:cs typeface="Times New Roman" panose="02020603050405020304" pitchFamily="18" charset="0"/>
                        </a:rPr>
                        <a:t>Comprehensive review of six types of refreshable Braille display technologies and trends.</a:t>
                      </a:r>
                    </a:p>
                  </a:txBody>
                  <a:tcPr marL="28109" marR="28109" marT="14054" marB="14054" anchor="ctr">
                    <a:lnL>
                      <a:noFill/>
                    </a:lnL>
                    <a:lnR>
                      <a:noFill/>
                    </a:lnR>
                    <a:lnT>
                      <a:noFill/>
                    </a:lnT>
                    <a:lnB>
                      <a:noFill/>
                    </a:lnB>
                    <a:noFill/>
                  </a:tcPr>
                </a:tc>
                <a:tc>
                  <a:txBody>
                    <a:bodyPr/>
                    <a:lstStyle/>
                    <a:p>
                      <a:pPr>
                        <a:buNone/>
                      </a:pPr>
                      <a:r>
                        <a:rPr lang="en-US" sz="1800">
                          <a:latin typeface="Times New Roman" panose="02020603050405020304" pitchFamily="18" charset="0"/>
                          <a:cs typeface="Times New Roman" panose="02020603050405020304" pitchFamily="18" charset="0"/>
                        </a:rPr>
                        <a:t>Covers real RBD research; open access; authoritative survey.</a:t>
                      </a:r>
                    </a:p>
                  </a:txBody>
                  <a:tcPr marL="28109" marR="28109" marT="14054" marB="14054" anchor="ctr">
                    <a:lnL>
                      <a:noFill/>
                    </a:lnL>
                    <a:lnR>
                      <a:noFill/>
                    </a:lnR>
                    <a:lnT>
                      <a:noFill/>
                    </a:lnT>
                    <a:lnB>
                      <a:noFill/>
                    </a:lnB>
                    <a:noFill/>
                  </a:tcPr>
                </a:tc>
                <a:tc>
                  <a:txBody>
                    <a:bodyPr/>
                    <a:lstStyle/>
                    <a:p>
                      <a:pPr>
                        <a:buNone/>
                      </a:pPr>
                      <a:r>
                        <a:rPr lang="en-US" sz="1800">
                          <a:latin typeface="Times New Roman" panose="02020603050405020304" pitchFamily="18" charset="0"/>
                          <a:cs typeface="Times New Roman" panose="02020603050405020304" pitchFamily="18" charset="0"/>
                        </a:rPr>
                        <a:t>Focus is breadth not a single solution.</a:t>
                      </a:r>
                    </a:p>
                  </a:txBody>
                  <a:tcPr marL="28109" marR="28109" marT="14054" marB="14054" anchor="ctr">
                    <a:lnL>
                      <a:noFill/>
                    </a:lnL>
                    <a:lnR>
                      <a:noFill/>
                    </a:lnR>
                    <a:lnT>
                      <a:noFill/>
                    </a:lnT>
                    <a:lnB>
                      <a:noFill/>
                    </a:lnB>
                    <a:noFill/>
                  </a:tcPr>
                </a:tc>
                <a:tc>
                  <a:txBody>
                    <a:bodyPr/>
                    <a:lstStyle/>
                    <a:p>
                      <a:pPr>
                        <a:buNone/>
                      </a:pPr>
                      <a:r>
                        <a:rPr lang="en-US" sz="1800" dirty="0">
                          <a:latin typeface="Times New Roman" panose="02020603050405020304" pitchFamily="18" charset="0"/>
                          <a:cs typeface="Times New Roman" panose="02020603050405020304" pitchFamily="18" charset="0"/>
                        </a:rPr>
                        <a:t>PDF             </a:t>
                      </a:r>
                      <a:r>
                        <a:rPr lang="en-US" sz="1800" dirty="0">
                          <a:latin typeface="Times New Roman" panose="02020603050405020304" pitchFamily="18" charset="0"/>
                          <a:cs typeface="Times New Roman" panose="02020603050405020304" pitchFamily="18" charset="0"/>
                          <a:hlinkClick r:id="rId2"/>
                        </a:rPr>
                        <a:t>Digital Commons</a:t>
                      </a:r>
                      <a:endParaRPr lang="en-US" sz="1800" dirty="0">
                        <a:latin typeface="Times New Roman" panose="02020603050405020304" pitchFamily="18" charset="0"/>
                        <a:cs typeface="Times New Roman" panose="02020603050405020304" pitchFamily="18" charset="0"/>
                      </a:endParaRPr>
                    </a:p>
                  </a:txBody>
                  <a:tcPr marL="28109" marR="28109" marT="14054" marB="14054" anchor="ctr">
                    <a:lnL>
                      <a:noFill/>
                    </a:lnL>
                    <a:lnR>
                      <a:noFill/>
                    </a:lnR>
                    <a:lnT>
                      <a:noFill/>
                    </a:lnT>
                    <a:lnB>
                      <a:noFill/>
                    </a:lnB>
                    <a:noFill/>
                  </a:tcPr>
                </a:tc>
                <a:extLst>
                  <a:ext uri="{0D108BD9-81ED-4DB2-BD59-A6C34878D82A}">
                    <a16:rowId xmlns:a16="http://schemas.microsoft.com/office/drawing/2014/main" val="359467874"/>
                  </a:ext>
                </a:extLst>
              </a:tr>
              <a:tr h="1501243">
                <a:tc>
                  <a:txBody>
                    <a:bodyPr/>
                    <a:lstStyle/>
                    <a:p>
                      <a:pPr>
                        <a:buNone/>
                      </a:pPr>
                      <a:r>
                        <a:rPr lang="en-IN" sz="1800" b="1">
                          <a:latin typeface="Times New Roman" panose="02020603050405020304" pitchFamily="18" charset="0"/>
                          <a:cs typeface="Times New Roman" panose="02020603050405020304" pitchFamily="18" charset="0"/>
                        </a:rPr>
                        <a:t>2</a:t>
                      </a:r>
                      <a:endParaRPr lang="en-IN" sz="1800">
                        <a:latin typeface="Times New Roman" panose="02020603050405020304" pitchFamily="18" charset="0"/>
                        <a:cs typeface="Times New Roman" panose="02020603050405020304" pitchFamily="18" charset="0"/>
                      </a:endParaRPr>
                    </a:p>
                  </a:txBody>
                  <a:tcPr marL="28109" marR="28109" marT="14054" marB="14054" anchor="ctr">
                    <a:lnL>
                      <a:noFill/>
                    </a:lnL>
                    <a:lnR>
                      <a:noFill/>
                    </a:lnR>
                    <a:lnT>
                      <a:noFill/>
                    </a:lnT>
                    <a:lnB>
                      <a:noFill/>
                    </a:lnB>
                    <a:noFill/>
                  </a:tcPr>
                </a:tc>
                <a:tc>
                  <a:txBody>
                    <a:bodyPr/>
                    <a:lstStyle/>
                    <a:p>
                      <a:pPr>
                        <a:buNone/>
                      </a:pPr>
                      <a:r>
                        <a:rPr lang="en-IN" sz="1800" i="1" dirty="0">
                          <a:latin typeface="Times New Roman" panose="02020603050405020304" pitchFamily="18" charset="0"/>
                          <a:cs typeface="Times New Roman" panose="02020603050405020304" pitchFamily="18" charset="0"/>
                        </a:rPr>
                        <a:t>Refreshable Braille Displays</a:t>
                      </a:r>
                      <a:r>
                        <a:rPr lang="en-IN" sz="1800" dirty="0">
                          <a:latin typeface="Times New Roman" panose="02020603050405020304" pitchFamily="18" charset="0"/>
                          <a:cs typeface="Times New Roman" panose="02020603050405020304" pitchFamily="18" charset="0"/>
                        </a:rPr>
                        <a:t> — B. Bhanushali et al. (2018)</a:t>
                      </a:r>
                    </a:p>
                  </a:txBody>
                  <a:tcPr marL="28109" marR="28109" marT="14054" marB="14054" anchor="ctr">
                    <a:lnL>
                      <a:noFill/>
                    </a:lnL>
                    <a:lnR>
                      <a:noFill/>
                    </a:lnR>
                    <a:lnT>
                      <a:noFill/>
                    </a:lnT>
                    <a:lnB>
                      <a:noFill/>
                    </a:lnB>
                    <a:noFill/>
                  </a:tcPr>
                </a:tc>
                <a:tc>
                  <a:txBody>
                    <a:bodyPr/>
                    <a:lstStyle/>
                    <a:p>
                      <a:pPr>
                        <a:buNone/>
                      </a:pPr>
                      <a:r>
                        <a:rPr lang="en-US" sz="1800">
                          <a:latin typeface="Times New Roman" panose="02020603050405020304" pitchFamily="18" charset="0"/>
                          <a:cs typeface="Times New Roman" panose="02020603050405020304" pitchFamily="18" charset="0"/>
                        </a:rPr>
                        <a:t>Design and implementation of a refreshable Braille display module using hardware actuation.</a:t>
                      </a:r>
                    </a:p>
                  </a:txBody>
                  <a:tcPr marL="28109" marR="28109" marT="14054" marB="14054" anchor="ctr">
                    <a:lnL>
                      <a:noFill/>
                    </a:lnL>
                    <a:lnR>
                      <a:noFill/>
                    </a:lnR>
                    <a:lnT>
                      <a:noFill/>
                    </a:lnT>
                    <a:lnB>
                      <a:noFill/>
                    </a:lnB>
                    <a:noFill/>
                  </a:tcPr>
                </a:tc>
                <a:tc>
                  <a:txBody>
                    <a:bodyPr/>
                    <a:lstStyle/>
                    <a:p>
                      <a:pPr>
                        <a:buNone/>
                      </a:pPr>
                      <a:r>
                        <a:rPr lang="en-IN" sz="1800">
                          <a:latin typeface="Times New Roman" panose="02020603050405020304" pitchFamily="18" charset="0"/>
                          <a:cs typeface="Times New Roman" panose="02020603050405020304" pitchFamily="18" charset="0"/>
                        </a:rPr>
                        <a:t>Practical implementation; early research.</a:t>
                      </a:r>
                    </a:p>
                  </a:txBody>
                  <a:tcPr marL="28109" marR="28109" marT="14054" marB="14054" anchor="ctr">
                    <a:lnL>
                      <a:noFill/>
                    </a:lnL>
                    <a:lnR>
                      <a:noFill/>
                    </a:lnR>
                    <a:lnT>
                      <a:noFill/>
                    </a:lnT>
                    <a:lnB>
                      <a:noFill/>
                    </a:lnB>
                    <a:noFill/>
                  </a:tcPr>
                </a:tc>
                <a:tc>
                  <a:txBody>
                    <a:bodyPr/>
                    <a:lstStyle/>
                    <a:p>
                      <a:pPr>
                        <a:buNone/>
                      </a:pPr>
                      <a:r>
                        <a:rPr lang="en-US" sz="1800">
                          <a:latin typeface="Times New Roman" panose="02020603050405020304" pitchFamily="18" charset="0"/>
                          <a:cs typeface="Times New Roman" panose="02020603050405020304" pitchFamily="18" charset="0"/>
                        </a:rPr>
                        <a:t>Limited detail; basic prototype paper.</a:t>
                      </a:r>
                    </a:p>
                  </a:txBody>
                  <a:tcPr marL="28109" marR="28109" marT="14054" marB="14054" anchor="ctr">
                    <a:lnL>
                      <a:noFill/>
                    </a:lnL>
                    <a:lnR>
                      <a:noFill/>
                    </a:lnR>
                    <a:lnT>
                      <a:noFill/>
                    </a:lnT>
                    <a:lnB>
                      <a:noFill/>
                    </a:lnB>
                    <a:noFill/>
                  </a:tcPr>
                </a:tc>
                <a:tc>
                  <a:txBody>
                    <a:bodyPr/>
                    <a:lstStyle/>
                    <a:p>
                      <a:pPr>
                        <a:buNone/>
                      </a:pPr>
                      <a:r>
                        <a:rPr lang="en-IN" sz="1800" dirty="0">
                          <a:latin typeface="Times New Roman" panose="02020603050405020304" pitchFamily="18" charset="0"/>
                          <a:cs typeface="Times New Roman" panose="02020603050405020304" pitchFamily="18" charset="0"/>
                        </a:rPr>
                        <a:t>PDF        </a:t>
                      </a:r>
                      <a:r>
                        <a:rPr lang="en-IN" sz="1800" dirty="0" err="1">
                          <a:latin typeface="Times New Roman" panose="02020603050405020304" pitchFamily="18" charset="0"/>
                          <a:cs typeface="Times New Roman" panose="02020603050405020304" pitchFamily="18" charset="0"/>
                          <a:hlinkClick r:id="rId3"/>
                        </a:rPr>
                        <a:t>PhDFocus</a:t>
                      </a:r>
                      <a:endParaRPr lang="en-IN" sz="1800" dirty="0">
                        <a:latin typeface="Times New Roman" panose="02020603050405020304" pitchFamily="18" charset="0"/>
                        <a:cs typeface="Times New Roman" panose="02020603050405020304" pitchFamily="18" charset="0"/>
                      </a:endParaRPr>
                    </a:p>
                  </a:txBody>
                  <a:tcPr marL="28109" marR="28109" marT="14054" marB="14054" anchor="ctr">
                    <a:lnL>
                      <a:noFill/>
                    </a:lnL>
                    <a:lnR>
                      <a:noFill/>
                    </a:lnR>
                    <a:lnT>
                      <a:noFill/>
                    </a:lnT>
                    <a:lnB>
                      <a:noFill/>
                    </a:lnB>
                    <a:noFill/>
                  </a:tcPr>
                </a:tc>
                <a:extLst>
                  <a:ext uri="{0D108BD9-81ED-4DB2-BD59-A6C34878D82A}">
                    <a16:rowId xmlns:a16="http://schemas.microsoft.com/office/drawing/2014/main" val="3831637604"/>
                  </a:ext>
                </a:extLst>
              </a:tr>
              <a:tr h="1207024">
                <a:tc>
                  <a:txBody>
                    <a:bodyPr/>
                    <a:lstStyle/>
                    <a:p>
                      <a:pPr>
                        <a:buNone/>
                      </a:pPr>
                      <a:r>
                        <a:rPr lang="en-IN" sz="1800" b="1">
                          <a:latin typeface="Times New Roman" panose="02020603050405020304" pitchFamily="18" charset="0"/>
                          <a:cs typeface="Times New Roman" panose="02020603050405020304" pitchFamily="18" charset="0"/>
                        </a:rPr>
                        <a:t>3</a:t>
                      </a:r>
                      <a:endParaRPr lang="en-IN" sz="1800">
                        <a:latin typeface="Times New Roman" panose="02020603050405020304" pitchFamily="18" charset="0"/>
                        <a:cs typeface="Times New Roman" panose="02020603050405020304" pitchFamily="18" charset="0"/>
                      </a:endParaRPr>
                    </a:p>
                  </a:txBody>
                  <a:tcPr marL="28109" marR="28109" marT="14054" marB="14054" anchor="ctr">
                    <a:lnL>
                      <a:noFill/>
                    </a:lnL>
                    <a:lnR>
                      <a:noFill/>
                    </a:lnR>
                    <a:lnT>
                      <a:noFill/>
                    </a:lnT>
                    <a:lnB>
                      <a:noFill/>
                    </a:lnB>
                    <a:noFill/>
                  </a:tcPr>
                </a:tc>
                <a:tc>
                  <a:txBody>
                    <a:bodyPr/>
                    <a:lstStyle/>
                    <a:p>
                      <a:pPr>
                        <a:buNone/>
                      </a:pPr>
                      <a:r>
                        <a:rPr lang="en-IN" sz="1800" i="1" dirty="0">
                          <a:latin typeface="Times New Roman" panose="02020603050405020304" pitchFamily="18" charset="0"/>
                          <a:cs typeface="Times New Roman" panose="02020603050405020304" pitchFamily="18" charset="0"/>
                        </a:rPr>
                        <a:t>Refreshing Refreshable Braille Displays</a:t>
                      </a:r>
                      <a:r>
                        <a:rPr lang="en-IN" sz="1800" dirty="0">
                          <a:latin typeface="Times New Roman" panose="02020603050405020304" pitchFamily="18" charset="0"/>
                          <a:cs typeface="Times New Roman" panose="02020603050405020304" pitchFamily="18" charset="0"/>
                        </a:rPr>
                        <a:t> — A. Russomanno et al. (2015)</a:t>
                      </a:r>
                    </a:p>
                  </a:txBody>
                  <a:tcPr marL="28109" marR="28109" marT="14054" marB="14054" anchor="ctr">
                    <a:lnL>
                      <a:noFill/>
                    </a:lnL>
                    <a:lnR>
                      <a:noFill/>
                    </a:lnR>
                    <a:lnT>
                      <a:noFill/>
                    </a:lnT>
                    <a:lnB>
                      <a:noFill/>
                    </a:lnB>
                    <a:noFill/>
                  </a:tcPr>
                </a:tc>
                <a:tc>
                  <a:txBody>
                    <a:bodyPr/>
                    <a:lstStyle/>
                    <a:p>
                      <a:pPr>
                        <a:buNone/>
                      </a:pPr>
                      <a:r>
                        <a:rPr lang="en-US" sz="1800">
                          <a:latin typeface="Times New Roman" panose="02020603050405020304" pitchFamily="18" charset="0"/>
                          <a:cs typeface="Times New Roman" panose="02020603050405020304" pitchFamily="18" charset="0"/>
                        </a:rPr>
                        <a:t>Study on existing refreshable Braille display technologies and haptics challenges.</a:t>
                      </a:r>
                    </a:p>
                  </a:txBody>
                  <a:tcPr marL="28109" marR="28109" marT="14054" marB="14054" anchor="ctr">
                    <a:lnL>
                      <a:noFill/>
                    </a:lnL>
                    <a:lnR>
                      <a:noFill/>
                    </a:lnR>
                    <a:lnT>
                      <a:noFill/>
                    </a:lnT>
                    <a:lnB>
                      <a:noFill/>
                    </a:lnB>
                    <a:noFill/>
                  </a:tcPr>
                </a:tc>
                <a:tc>
                  <a:txBody>
                    <a:bodyPr/>
                    <a:lstStyle/>
                    <a:p>
                      <a:pPr>
                        <a:buNone/>
                      </a:pPr>
                      <a:r>
                        <a:rPr lang="en-US" sz="1800">
                          <a:latin typeface="Times New Roman" panose="02020603050405020304" pitchFamily="18" charset="0"/>
                          <a:cs typeface="Times New Roman" panose="02020603050405020304" pitchFamily="18" charset="0"/>
                        </a:rPr>
                        <a:t>Peer-reviewed IEEE Transactions article; deep technical insights.</a:t>
                      </a:r>
                    </a:p>
                  </a:txBody>
                  <a:tcPr marL="28109" marR="28109" marT="14054" marB="14054" anchor="ctr">
                    <a:lnL>
                      <a:noFill/>
                    </a:lnL>
                    <a:lnR>
                      <a:noFill/>
                    </a:lnR>
                    <a:lnT>
                      <a:noFill/>
                    </a:lnT>
                    <a:lnB>
                      <a:noFill/>
                    </a:lnB>
                    <a:noFill/>
                  </a:tcPr>
                </a:tc>
                <a:tc>
                  <a:txBody>
                    <a:bodyPr/>
                    <a:lstStyle/>
                    <a:p>
                      <a:pPr>
                        <a:buNone/>
                      </a:pPr>
                      <a:r>
                        <a:rPr lang="en-US" sz="1800">
                          <a:latin typeface="Times New Roman" panose="02020603050405020304" pitchFamily="18" charset="0"/>
                          <a:cs typeface="Times New Roman" panose="02020603050405020304" pitchFamily="18" charset="0"/>
                        </a:rPr>
                        <a:t>Older research relative to modern materials.</a:t>
                      </a:r>
                    </a:p>
                  </a:txBody>
                  <a:tcPr marL="28109" marR="28109" marT="14054" marB="14054" anchor="ctr">
                    <a:lnL>
                      <a:noFill/>
                    </a:lnL>
                    <a:lnR>
                      <a:noFill/>
                    </a:lnR>
                    <a:lnT>
                      <a:noFill/>
                    </a:lnT>
                    <a:lnB>
                      <a:noFill/>
                    </a:lnB>
                    <a:noFill/>
                  </a:tcPr>
                </a:tc>
                <a:tc>
                  <a:txBody>
                    <a:bodyPr/>
                    <a:lstStyle/>
                    <a:p>
                      <a:pPr>
                        <a:buNone/>
                      </a:pPr>
                      <a:r>
                        <a:rPr lang="en-IN" sz="1800" dirty="0">
                          <a:latin typeface="Times New Roman" panose="02020603050405020304" pitchFamily="18" charset="0"/>
                          <a:cs typeface="Times New Roman" panose="02020603050405020304" pitchFamily="18" charset="0"/>
                        </a:rPr>
                        <a:t>PDF  </a:t>
                      </a:r>
                      <a:r>
                        <a:rPr lang="en-IN" sz="1800" dirty="0">
                          <a:latin typeface="Times New Roman" panose="02020603050405020304" pitchFamily="18" charset="0"/>
                          <a:cs typeface="Times New Roman" panose="02020603050405020304" pitchFamily="18" charset="0"/>
                          <a:hlinkClick r:id="rId4"/>
                        </a:rPr>
                        <a:t>ResearchGate</a:t>
                      </a:r>
                      <a:endParaRPr lang="en-IN" sz="1800" dirty="0">
                        <a:latin typeface="Times New Roman" panose="02020603050405020304" pitchFamily="18" charset="0"/>
                        <a:cs typeface="Times New Roman" panose="02020603050405020304" pitchFamily="18" charset="0"/>
                      </a:endParaRPr>
                    </a:p>
                  </a:txBody>
                  <a:tcPr marL="28109" marR="28109" marT="14054" marB="14054" anchor="ctr">
                    <a:lnL>
                      <a:noFill/>
                    </a:lnL>
                    <a:lnR>
                      <a:noFill/>
                    </a:lnR>
                    <a:lnT>
                      <a:noFill/>
                    </a:lnT>
                    <a:lnB>
                      <a:noFill/>
                    </a:lnB>
                    <a:noFill/>
                  </a:tcPr>
                </a:tc>
                <a:extLst>
                  <a:ext uri="{0D108BD9-81ED-4DB2-BD59-A6C34878D82A}">
                    <a16:rowId xmlns:a16="http://schemas.microsoft.com/office/drawing/2014/main" val="648950334"/>
                  </a:ext>
                </a:extLst>
              </a:tr>
            </a:tbl>
          </a:graphicData>
        </a:graphic>
      </p:graphicFrame>
      <p:pic>
        <p:nvPicPr>
          <p:cNvPr id="5" name="Google Shape;201;p24">
            <a:extLst>
              <a:ext uri="{FF2B5EF4-FFF2-40B4-BE49-F238E27FC236}">
                <a16:creationId xmlns:a16="http://schemas.microsoft.com/office/drawing/2014/main" id="{1CF36B53-90AE-A92E-DB43-B7250B9B500C}"/>
              </a:ext>
            </a:extLst>
          </p:cNvPr>
          <p:cNvPicPr preferRelativeResize="0"/>
          <p:nvPr/>
        </p:nvPicPr>
        <p:blipFill rotWithShape="1">
          <a:blip r:embed="rId5"/>
          <a:srcRect/>
          <a:stretch>
            <a:fillRect/>
          </a:stretch>
        </p:blipFill>
        <p:spPr>
          <a:xfrm>
            <a:off x="10920412" y="158750"/>
            <a:ext cx="981075" cy="838200"/>
          </a:xfrm>
          <a:prstGeom prst="rect">
            <a:avLst/>
          </a:prstGeom>
          <a:noFill/>
          <a:ln>
            <a:noFill/>
          </a:ln>
        </p:spPr>
      </p:pic>
    </p:spTree>
    <p:extLst>
      <p:ext uri="{BB962C8B-B14F-4D97-AF65-F5344CB8AC3E}">
        <p14:creationId xmlns:p14="http://schemas.microsoft.com/office/powerpoint/2010/main" val="1335418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38983C3D-28AE-0967-26BF-4950C19BA11C}"/>
              </a:ext>
            </a:extLst>
          </p:cNvPr>
          <p:cNvGraphicFramePr>
            <a:graphicFrameLocks noGrp="1"/>
          </p:cNvGraphicFramePr>
          <p:nvPr>
            <p:ph idx="1"/>
            <p:extLst>
              <p:ext uri="{D42A27DB-BD31-4B8C-83A1-F6EECF244321}">
                <p14:modId xmlns:p14="http://schemas.microsoft.com/office/powerpoint/2010/main" val="3684509136"/>
              </p:ext>
            </p:extLst>
          </p:nvPr>
        </p:nvGraphicFramePr>
        <p:xfrm>
          <a:off x="594360" y="1059141"/>
          <a:ext cx="11464850" cy="5716483"/>
        </p:xfrm>
        <a:graphic>
          <a:graphicData uri="http://schemas.openxmlformats.org/drawingml/2006/table">
            <a:tbl>
              <a:tblPr/>
              <a:tblGrid>
                <a:gridCol w="635000">
                  <a:extLst>
                    <a:ext uri="{9D8B030D-6E8A-4147-A177-3AD203B41FA5}">
                      <a16:colId xmlns:a16="http://schemas.microsoft.com/office/drawing/2014/main" val="454411296"/>
                    </a:ext>
                  </a:extLst>
                </a:gridCol>
                <a:gridCol w="2773680">
                  <a:extLst>
                    <a:ext uri="{9D8B030D-6E8A-4147-A177-3AD203B41FA5}">
                      <a16:colId xmlns:a16="http://schemas.microsoft.com/office/drawing/2014/main" val="4021676682"/>
                    </a:ext>
                  </a:extLst>
                </a:gridCol>
                <a:gridCol w="2290370">
                  <a:extLst>
                    <a:ext uri="{9D8B030D-6E8A-4147-A177-3AD203B41FA5}">
                      <a16:colId xmlns:a16="http://schemas.microsoft.com/office/drawing/2014/main" val="3914702259"/>
                    </a:ext>
                  </a:extLst>
                </a:gridCol>
                <a:gridCol w="1996440">
                  <a:extLst>
                    <a:ext uri="{9D8B030D-6E8A-4147-A177-3AD203B41FA5}">
                      <a16:colId xmlns:a16="http://schemas.microsoft.com/office/drawing/2014/main" val="2399512668"/>
                    </a:ext>
                  </a:extLst>
                </a:gridCol>
                <a:gridCol w="1935480">
                  <a:extLst>
                    <a:ext uri="{9D8B030D-6E8A-4147-A177-3AD203B41FA5}">
                      <a16:colId xmlns:a16="http://schemas.microsoft.com/office/drawing/2014/main" val="2776062671"/>
                    </a:ext>
                  </a:extLst>
                </a:gridCol>
                <a:gridCol w="1833880">
                  <a:extLst>
                    <a:ext uri="{9D8B030D-6E8A-4147-A177-3AD203B41FA5}">
                      <a16:colId xmlns:a16="http://schemas.microsoft.com/office/drawing/2014/main" val="1306111893"/>
                    </a:ext>
                  </a:extLst>
                </a:gridCol>
              </a:tblGrid>
              <a:tr h="569608">
                <a:tc>
                  <a:txBody>
                    <a:bodyPr/>
                    <a:lstStyle/>
                    <a:p>
                      <a:pPr>
                        <a:buNone/>
                      </a:pPr>
                      <a:r>
                        <a:rPr lang="en-IN" sz="1800" b="1" dirty="0">
                          <a:solidFill>
                            <a:schemeClr val="tx1"/>
                          </a:solidFill>
                          <a:effectLst/>
                          <a:latin typeface="Times New Roman" panose="02020603050405020304" pitchFamily="18" charset="0"/>
                          <a:cs typeface="Times New Roman" panose="02020603050405020304" pitchFamily="18" charset="0"/>
                        </a:rPr>
                        <a:t>Ref. No</a:t>
                      </a:r>
                    </a:p>
                  </a:txBody>
                  <a:tcPr marL="32030" marR="32030" marT="16015" marB="16015" anchor="ctr">
                    <a:lnL>
                      <a:noFill/>
                    </a:lnL>
                    <a:lnR>
                      <a:noFill/>
                    </a:lnR>
                    <a:lnT>
                      <a:noFill/>
                    </a:lnT>
                    <a:lnB>
                      <a:noFill/>
                    </a:lnB>
                    <a:noFill/>
                  </a:tcPr>
                </a:tc>
                <a:tc>
                  <a:txBody>
                    <a:bodyPr/>
                    <a:lstStyle/>
                    <a:p>
                      <a:pPr>
                        <a:buNone/>
                      </a:pPr>
                      <a:r>
                        <a:rPr lang="en-IN" sz="1800" b="1" dirty="0">
                          <a:solidFill>
                            <a:schemeClr val="tx1"/>
                          </a:solidFill>
                          <a:effectLst/>
                          <a:latin typeface="Times New Roman" panose="02020603050405020304" pitchFamily="18" charset="0"/>
                          <a:cs typeface="Times New Roman" panose="02020603050405020304" pitchFamily="18" charset="0"/>
                        </a:rPr>
                        <a:t>Title &amp; Authors (Year)</a:t>
                      </a:r>
                    </a:p>
                  </a:txBody>
                  <a:tcPr marL="32030" marR="32030" marT="16015" marB="16015" anchor="ctr">
                    <a:lnL>
                      <a:noFill/>
                    </a:lnL>
                    <a:lnR>
                      <a:noFill/>
                    </a:lnR>
                    <a:lnT>
                      <a:noFill/>
                    </a:lnT>
                    <a:lnB>
                      <a:noFill/>
                    </a:lnB>
                    <a:noFill/>
                  </a:tcPr>
                </a:tc>
                <a:tc>
                  <a:txBody>
                    <a:bodyPr/>
                    <a:lstStyle/>
                    <a:p>
                      <a:pPr>
                        <a:buNone/>
                      </a:pPr>
                      <a:r>
                        <a:rPr lang="en-IN" sz="1800" b="1" dirty="0">
                          <a:solidFill>
                            <a:schemeClr val="tx1"/>
                          </a:solidFill>
                          <a:effectLst/>
                          <a:latin typeface="Times New Roman" panose="02020603050405020304" pitchFamily="18" charset="0"/>
                          <a:cs typeface="Times New Roman" panose="02020603050405020304" pitchFamily="18" charset="0"/>
                        </a:rPr>
                        <a:t>Technique / Contribution</a:t>
                      </a:r>
                    </a:p>
                  </a:txBody>
                  <a:tcPr marL="32030" marR="32030" marT="16015" marB="16015" anchor="ctr">
                    <a:lnL>
                      <a:noFill/>
                    </a:lnL>
                    <a:lnR>
                      <a:noFill/>
                    </a:lnR>
                    <a:lnT>
                      <a:noFill/>
                    </a:lnT>
                    <a:lnB>
                      <a:noFill/>
                    </a:lnB>
                    <a:noFill/>
                  </a:tcPr>
                </a:tc>
                <a:tc>
                  <a:txBody>
                    <a:bodyPr/>
                    <a:lstStyle/>
                    <a:p>
                      <a:pPr>
                        <a:buNone/>
                      </a:pPr>
                      <a:r>
                        <a:rPr lang="en-IN" sz="1800" b="1" dirty="0">
                          <a:solidFill>
                            <a:schemeClr val="tx1"/>
                          </a:solidFill>
                          <a:effectLst/>
                          <a:latin typeface="Times New Roman" panose="02020603050405020304" pitchFamily="18" charset="0"/>
                          <a:cs typeface="Times New Roman" panose="02020603050405020304" pitchFamily="18" charset="0"/>
                        </a:rPr>
                        <a:t>Pros</a:t>
                      </a:r>
                    </a:p>
                  </a:txBody>
                  <a:tcPr marL="32030" marR="32030" marT="16015" marB="16015" anchor="ctr">
                    <a:lnL>
                      <a:noFill/>
                    </a:lnL>
                    <a:lnR>
                      <a:noFill/>
                    </a:lnR>
                    <a:lnT>
                      <a:noFill/>
                    </a:lnT>
                    <a:lnB>
                      <a:noFill/>
                    </a:lnB>
                    <a:noFill/>
                  </a:tcPr>
                </a:tc>
                <a:tc>
                  <a:txBody>
                    <a:bodyPr/>
                    <a:lstStyle/>
                    <a:p>
                      <a:pPr>
                        <a:buNone/>
                      </a:pPr>
                      <a:r>
                        <a:rPr lang="en-IN" sz="1800" b="1" dirty="0">
                          <a:solidFill>
                            <a:schemeClr val="tx1"/>
                          </a:solidFill>
                          <a:effectLst/>
                          <a:latin typeface="Times New Roman" panose="02020603050405020304" pitchFamily="18" charset="0"/>
                          <a:cs typeface="Times New Roman" panose="02020603050405020304" pitchFamily="18" charset="0"/>
                        </a:rPr>
                        <a:t>Cons</a:t>
                      </a:r>
                    </a:p>
                  </a:txBody>
                  <a:tcPr marL="32030" marR="32030" marT="16015" marB="16015" anchor="ctr">
                    <a:lnL>
                      <a:noFill/>
                    </a:lnL>
                    <a:lnR>
                      <a:noFill/>
                    </a:lnR>
                    <a:lnT>
                      <a:noFill/>
                    </a:lnT>
                    <a:lnB>
                      <a:noFill/>
                    </a:lnB>
                    <a:noFill/>
                  </a:tcPr>
                </a:tc>
                <a:tc>
                  <a:txBody>
                    <a:bodyPr/>
                    <a:lstStyle/>
                    <a:p>
                      <a:pPr>
                        <a:buNone/>
                      </a:pPr>
                      <a:r>
                        <a:rPr lang="en-IN" sz="1800" b="1" dirty="0">
                          <a:solidFill>
                            <a:schemeClr val="tx1"/>
                          </a:solidFill>
                          <a:effectLst/>
                          <a:latin typeface="Times New Roman" panose="02020603050405020304" pitchFamily="18" charset="0"/>
                          <a:cs typeface="Times New Roman" panose="02020603050405020304" pitchFamily="18" charset="0"/>
                        </a:rPr>
                        <a:t>PDF / Link</a:t>
                      </a:r>
                    </a:p>
                  </a:txBody>
                  <a:tcPr marL="32030" marR="32030" marT="16015" marB="16015" anchor="ctr">
                    <a:lnL>
                      <a:noFill/>
                    </a:lnL>
                    <a:lnR>
                      <a:noFill/>
                    </a:lnR>
                    <a:lnT>
                      <a:noFill/>
                    </a:lnT>
                    <a:lnB>
                      <a:noFill/>
                    </a:lnB>
                    <a:noFill/>
                  </a:tcPr>
                </a:tc>
                <a:extLst>
                  <a:ext uri="{0D108BD9-81ED-4DB2-BD59-A6C34878D82A}">
                    <a16:rowId xmlns:a16="http://schemas.microsoft.com/office/drawing/2014/main" val="605272455"/>
                  </a:ext>
                </a:extLst>
              </a:tr>
              <a:tr h="1376889">
                <a:tc>
                  <a:txBody>
                    <a:bodyPr/>
                    <a:lstStyle/>
                    <a:p>
                      <a:pPr>
                        <a:buNone/>
                      </a:pPr>
                      <a:r>
                        <a:rPr lang="en-IN" sz="1800" b="1" dirty="0">
                          <a:latin typeface="Times New Roman" panose="02020603050405020304" pitchFamily="18" charset="0"/>
                          <a:cs typeface="Times New Roman" panose="02020603050405020304" pitchFamily="18" charset="0"/>
                        </a:rPr>
                        <a:t>4</a:t>
                      </a:r>
                      <a:endParaRPr lang="en-IN" sz="1800" dirty="0">
                        <a:latin typeface="Times New Roman" panose="02020603050405020304" pitchFamily="18" charset="0"/>
                        <a:cs typeface="Times New Roman" panose="02020603050405020304" pitchFamily="18" charset="0"/>
                      </a:endParaRPr>
                    </a:p>
                  </a:txBody>
                  <a:tcPr marL="32030" marR="32030" marT="16015" marB="16015" anchor="ctr">
                    <a:lnL>
                      <a:noFill/>
                    </a:lnL>
                    <a:lnR>
                      <a:noFill/>
                    </a:lnR>
                    <a:lnT>
                      <a:noFill/>
                    </a:lnT>
                    <a:lnB>
                      <a:noFill/>
                    </a:lnB>
                    <a:noFill/>
                  </a:tcPr>
                </a:tc>
                <a:tc>
                  <a:txBody>
                    <a:bodyPr/>
                    <a:lstStyle/>
                    <a:p>
                      <a:pPr>
                        <a:buNone/>
                      </a:pPr>
                      <a:r>
                        <a:rPr lang="en-US" sz="1800" i="1" dirty="0">
                          <a:latin typeface="Times New Roman" panose="02020603050405020304" pitchFamily="18" charset="0"/>
                          <a:cs typeface="Times New Roman" panose="02020603050405020304" pitchFamily="18" charset="0"/>
                        </a:rPr>
                        <a:t>Development and Evaluation of Refreshable Braille Display and Active Touch-Reading System</a:t>
                      </a:r>
                      <a:r>
                        <a:rPr lang="en-US" sz="1800" dirty="0">
                          <a:latin typeface="Times New Roman" panose="02020603050405020304" pitchFamily="18" charset="0"/>
                          <a:cs typeface="Times New Roman" panose="02020603050405020304" pitchFamily="18" charset="0"/>
                        </a:rPr>
                        <a:t> — (2024)</a:t>
                      </a:r>
                    </a:p>
                  </a:txBody>
                  <a:tcPr marL="32030" marR="32030" marT="16015" marB="16015" anchor="ctr">
                    <a:lnL>
                      <a:noFill/>
                    </a:lnL>
                    <a:lnR>
                      <a:noFill/>
                    </a:lnR>
                    <a:lnT>
                      <a:noFill/>
                    </a:lnT>
                    <a:lnB>
                      <a:noFill/>
                    </a:lnB>
                    <a:noFill/>
                  </a:tcPr>
                </a:tc>
                <a:tc>
                  <a:txBody>
                    <a:bodyPr/>
                    <a:lstStyle/>
                    <a:p>
                      <a:pPr>
                        <a:buNone/>
                      </a:pPr>
                      <a:r>
                        <a:rPr lang="en-US" sz="1800">
                          <a:latin typeface="Times New Roman" panose="02020603050405020304" pitchFamily="18" charset="0"/>
                          <a:cs typeface="Times New Roman" panose="02020603050405020304" pitchFamily="18" charset="0"/>
                        </a:rPr>
                        <a:t>Optimized refreshable Braille display combined with a touch-reading system for digital reading.</a:t>
                      </a:r>
                    </a:p>
                  </a:txBody>
                  <a:tcPr marL="32030" marR="32030" marT="16015" marB="16015" anchor="ctr">
                    <a:lnL>
                      <a:noFill/>
                    </a:lnL>
                    <a:lnR>
                      <a:noFill/>
                    </a:lnR>
                    <a:lnT>
                      <a:noFill/>
                    </a:lnT>
                    <a:lnB>
                      <a:noFill/>
                    </a:lnB>
                    <a:noFill/>
                  </a:tcPr>
                </a:tc>
                <a:tc>
                  <a:txBody>
                    <a:bodyPr/>
                    <a:lstStyle/>
                    <a:p>
                      <a:pPr>
                        <a:buNone/>
                      </a:pPr>
                      <a:r>
                        <a:rPr lang="en-US" sz="1800" dirty="0">
                          <a:latin typeface="Times New Roman" panose="02020603050405020304" pitchFamily="18" charset="0"/>
                          <a:cs typeface="Times New Roman" panose="02020603050405020304" pitchFamily="18" charset="0"/>
                        </a:rPr>
                        <a:t>Focus on improved force &amp; tactile feel.</a:t>
                      </a:r>
                    </a:p>
                  </a:txBody>
                  <a:tcPr marL="32030" marR="32030" marT="16015" marB="16015" anchor="ctr">
                    <a:lnL>
                      <a:noFill/>
                    </a:lnL>
                    <a:lnR>
                      <a:noFill/>
                    </a:lnR>
                    <a:lnT>
                      <a:noFill/>
                    </a:lnT>
                    <a:lnB>
                      <a:noFill/>
                    </a:lnB>
                    <a:noFill/>
                  </a:tcPr>
                </a:tc>
                <a:tc>
                  <a:txBody>
                    <a:bodyPr/>
                    <a:lstStyle/>
                    <a:p>
                      <a:pPr>
                        <a:buNone/>
                      </a:pPr>
                      <a:r>
                        <a:rPr lang="en-US" sz="1800">
                          <a:latin typeface="Times New Roman" panose="02020603050405020304" pitchFamily="18" charset="0"/>
                          <a:cs typeface="Times New Roman" panose="02020603050405020304" pitchFamily="18" charset="0"/>
                        </a:rPr>
                        <a:t>Technical focus; less on speech integration.</a:t>
                      </a:r>
                    </a:p>
                  </a:txBody>
                  <a:tcPr marL="32030" marR="32030" marT="16015" marB="16015" anchor="ctr">
                    <a:lnL>
                      <a:noFill/>
                    </a:lnL>
                    <a:lnR>
                      <a:noFill/>
                    </a:lnR>
                    <a:lnT>
                      <a:noFill/>
                    </a:lnT>
                    <a:lnB>
                      <a:noFill/>
                    </a:lnB>
                    <a:noFill/>
                  </a:tcPr>
                </a:tc>
                <a:tc>
                  <a:txBody>
                    <a:bodyPr/>
                    <a:lstStyle/>
                    <a:p>
                      <a:pPr>
                        <a:buNone/>
                      </a:pPr>
                      <a:r>
                        <a:rPr lang="en-IN"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hlinkClick r:id="rId2"/>
                        </a:rPr>
                        <a:t>PubMed</a:t>
                      </a:r>
                      <a:endParaRPr lang="en-IN" sz="1800" dirty="0">
                        <a:latin typeface="Times New Roman" panose="02020603050405020304" pitchFamily="18" charset="0"/>
                        <a:cs typeface="Times New Roman" panose="02020603050405020304" pitchFamily="18" charset="0"/>
                      </a:endParaRPr>
                    </a:p>
                  </a:txBody>
                  <a:tcPr marL="32030" marR="32030" marT="16015" marB="16015" anchor="ctr">
                    <a:lnL>
                      <a:noFill/>
                    </a:lnL>
                    <a:lnR>
                      <a:noFill/>
                    </a:lnR>
                    <a:lnT>
                      <a:noFill/>
                    </a:lnT>
                    <a:lnB>
                      <a:noFill/>
                    </a:lnB>
                    <a:noFill/>
                  </a:tcPr>
                </a:tc>
                <a:extLst>
                  <a:ext uri="{0D108BD9-81ED-4DB2-BD59-A6C34878D82A}">
                    <a16:rowId xmlns:a16="http://schemas.microsoft.com/office/drawing/2014/main" val="200066797"/>
                  </a:ext>
                </a:extLst>
              </a:tr>
              <a:tr h="1107795">
                <a:tc>
                  <a:txBody>
                    <a:bodyPr/>
                    <a:lstStyle/>
                    <a:p>
                      <a:pPr>
                        <a:buNone/>
                      </a:pPr>
                      <a:r>
                        <a:rPr lang="en-IN" sz="1800" b="1" dirty="0">
                          <a:latin typeface="Times New Roman" panose="02020603050405020304" pitchFamily="18" charset="0"/>
                          <a:cs typeface="Times New Roman" panose="02020603050405020304" pitchFamily="18" charset="0"/>
                        </a:rPr>
                        <a:t>5</a:t>
                      </a:r>
                      <a:endParaRPr lang="en-IN" sz="1800" dirty="0">
                        <a:latin typeface="Times New Roman" panose="02020603050405020304" pitchFamily="18" charset="0"/>
                        <a:cs typeface="Times New Roman" panose="02020603050405020304" pitchFamily="18" charset="0"/>
                      </a:endParaRPr>
                    </a:p>
                  </a:txBody>
                  <a:tcPr marL="32030" marR="32030" marT="16015" marB="16015" anchor="ctr">
                    <a:lnL>
                      <a:noFill/>
                    </a:lnL>
                    <a:lnR>
                      <a:noFill/>
                    </a:lnR>
                    <a:lnT>
                      <a:noFill/>
                    </a:lnT>
                    <a:lnB>
                      <a:noFill/>
                    </a:lnB>
                    <a:noFill/>
                  </a:tcPr>
                </a:tc>
                <a:tc>
                  <a:txBody>
                    <a:bodyPr/>
                    <a:lstStyle/>
                    <a:p>
                      <a:pPr>
                        <a:buNone/>
                      </a:pPr>
                      <a:r>
                        <a:rPr lang="en-US" sz="1800" i="1" dirty="0">
                          <a:latin typeface="Times New Roman" panose="02020603050405020304" pitchFamily="18" charset="0"/>
                          <a:cs typeface="Times New Roman" panose="02020603050405020304" pitchFamily="18" charset="0"/>
                        </a:rPr>
                        <a:t>Braille Display Systems for Blind People with Haptic Belt</a:t>
                      </a:r>
                      <a:r>
                        <a:rPr lang="en-US" sz="1800" dirty="0">
                          <a:latin typeface="Times New Roman" panose="02020603050405020304" pitchFamily="18" charset="0"/>
                          <a:cs typeface="Times New Roman" panose="02020603050405020304" pitchFamily="18" charset="0"/>
                        </a:rPr>
                        <a:t> — Kamarudin et al. (2021)</a:t>
                      </a:r>
                    </a:p>
                  </a:txBody>
                  <a:tcPr marL="32030" marR="32030" marT="16015" marB="16015" anchor="ctr">
                    <a:lnL>
                      <a:noFill/>
                    </a:lnL>
                    <a:lnR>
                      <a:noFill/>
                    </a:lnR>
                    <a:lnT>
                      <a:noFill/>
                    </a:lnT>
                    <a:lnB>
                      <a:noFill/>
                    </a:lnB>
                    <a:noFill/>
                  </a:tcPr>
                </a:tc>
                <a:tc>
                  <a:txBody>
                    <a:bodyPr/>
                    <a:lstStyle/>
                    <a:p>
                      <a:pPr>
                        <a:buNone/>
                      </a:pPr>
                      <a:r>
                        <a:rPr lang="en-US" sz="1800">
                          <a:latin typeface="Times New Roman" panose="02020603050405020304" pitchFamily="18" charset="0"/>
                          <a:cs typeface="Times New Roman" panose="02020603050405020304" pitchFamily="18" charset="0"/>
                        </a:rPr>
                        <a:t>Braille display system using soft actuators and microcontrollers; wearable concept.</a:t>
                      </a:r>
                    </a:p>
                  </a:txBody>
                  <a:tcPr marL="32030" marR="32030" marT="16015" marB="16015" anchor="ctr">
                    <a:lnL>
                      <a:noFill/>
                    </a:lnL>
                    <a:lnR>
                      <a:noFill/>
                    </a:lnR>
                    <a:lnT>
                      <a:noFill/>
                    </a:lnT>
                    <a:lnB>
                      <a:noFill/>
                    </a:lnB>
                    <a:noFill/>
                  </a:tcPr>
                </a:tc>
                <a:tc>
                  <a:txBody>
                    <a:bodyPr/>
                    <a:lstStyle/>
                    <a:p>
                      <a:pPr>
                        <a:buNone/>
                      </a:pPr>
                      <a:r>
                        <a:rPr lang="en-US" sz="1800">
                          <a:latin typeface="Times New Roman" panose="02020603050405020304" pitchFamily="18" charset="0"/>
                          <a:cs typeface="Times New Roman" panose="02020603050405020304" pitchFamily="18" charset="0"/>
                        </a:rPr>
                        <a:t>Novel interface and wearable form factor.</a:t>
                      </a:r>
                    </a:p>
                  </a:txBody>
                  <a:tcPr marL="32030" marR="32030" marT="16015" marB="16015" anchor="ctr">
                    <a:lnL>
                      <a:noFill/>
                    </a:lnL>
                    <a:lnR>
                      <a:noFill/>
                    </a:lnR>
                    <a:lnT>
                      <a:noFill/>
                    </a:lnT>
                    <a:lnB>
                      <a:noFill/>
                    </a:lnB>
                    <a:noFill/>
                  </a:tcPr>
                </a:tc>
                <a:tc>
                  <a:txBody>
                    <a:bodyPr/>
                    <a:lstStyle/>
                    <a:p>
                      <a:pPr>
                        <a:buNone/>
                      </a:pPr>
                      <a:r>
                        <a:rPr lang="en-IN" sz="1800">
                          <a:latin typeface="Times New Roman" panose="02020603050405020304" pitchFamily="18" charset="0"/>
                          <a:cs typeface="Times New Roman" panose="02020603050405020304" pitchFamily="18" charset="0"/>
                        </a:rPr>
                        <a:t>Specific hardware; not mainstream.</a:t>
                      </a:r>
                    </a:p>
                  </a:txBody>
                  <a:tcPr marL="32030" marR="32030" marT="16015" marB="16015" anchor="ctr">
                    <a:lnL>
                      <a:noFill/>
                    </a:lnL>
                    <a:lnR>
                      <a:noFill/>
                    </a:lnR>
                    <a:lnT>
                      <a:noFill/>
                    </a:lnT>
                    <a:lnB>
                      <a:noFill/>
                    </a:lnB>
                    <a:noFill/>
                  </a:tcPr>
                </a:tc>
                <a:tc>
                  <a:txBody>
                    <a:bodyPr/>
                    <a:lstStyle/>
                    <a:p>
                      <a:pPr>
                        <a:buNone/>
                      </a:pPr>
                      <a:r>
                        <a:rPr lang="en-IN" sz="1800">
                          <a:latin typeface="Times New Roman" panose="02020603050405020304" pitchFamily="18" charset="0"/>
                          <a:cs typeface="Times New Roman" panose="02020603050405020304" pitchFamily="18" charset="0"/>
                        </a:rPr>
                        <a:t>PDF (journal link). </a:t>
                      </a:r>
                      <a:r>
                        <a:rPr lang="en-IN" sz="1800">
                          <a:latin typeface="Times New Roman" panose="02020603050405020304" pitchFamily="18" charset="0"/>
                          <a:cs typeface="Times New Roman" panose="02020603050405020304" pitchFamily="18" charset="0"/>
                          <a:hlinkClick r:id="rId3"/>
                        </a:rPr>
                        <a:t>IJHATI</a:t>
                      </a:r>
                      <a:endParaRPr lang="en-IN" sz="1800">
                        <a:latin typeface="Times New Roman" panose="02020603050405020304" pitchFamily="18" charset="0"/>
                        <a:cs typeface="Times New Roman" panose="02020603050405020304" pitchFamily="18" charset="0"/>
                      </a:endParaRPr>
                    </a:p>
                  </a:txBody>
                  <a:tcPr marL="32030" marR="32030" marT="16015" marB="16015" anchor="ctr">
                    <a:lnL>
                      <a:noFill/>
                    </a:lnL>
                    <a:lnR>
                      <a:noFill/>
                    </a:lnR>
                    <a:lnT>
                      <a:noFill/>
                    </a:lnT>
                    <a:lnB>
                      <a:noFill/>
                    </a:lnB>
                    <a:noFill/>
                  </a:tcPr>
                </a:tc>
                <a:extLst>
                  <a:ext uri="{0D108BD9-81ED-4DB2-BD59-A6C34878D82A}">
                    <a16:rowId xmlns:a16="http://schemas.microsoft.com/office/drawing/2014/main" val="3903991964"/>
                  </a:ext>
                </a:extLst>
              </a:tr>
              <a:tr h="1199243">
                <a:tc>
                  <a:txBody>
                    <a:bodyPr/>
                    <a:lstStyle/>
                    <a:p>
                      <a:pPr>
                        <a:buNone/>
                      </a:pPr>
                      <a:r>
                        <a:rPr lang="en-IN" sz="1800" b="1">
                          <a:latin typeface="Times New Roman" panose="02020603050405020304" pitchFamily="18" charset="0"/>
                          <a:cs typeface="Times New Roman" panose="02020603050405020304" pitchFamily="18" charset="0"/>
                        </a:rPr>
                        <a:t>6</a:t>
                      </a:r>
                      <a:endParaRPr lang="en-IN" sz="1800">
                        <a:latin typeface="Times New Roman" panose="02020603050405020304" pitchFamily="18" charset="0"/>
                        <a:cs typeface="Times New Roman" panose="02020603050405020304" pitchFamily="18" charset="0"/>
                      </a:endParaRPr>
                    </a:p>
                  </a:txBody>
                  <a:tcPr marL="32030" marR="32030" marT="16015" marB="16015" anchor="ctr">
                    <a:lnL>
                      <a:noFill/>
                    </a:lnL>
                    <a:lnR>
                      <a:noFill/>
                    </a:lnR>
                    <a:lnT>
                      <a:noFill/>
                    </a:lnT>
                    <a:lnB>
                      <a:noFill/>
                    </a:lnB>
                    <a:noFill/>
                  </a:tcPr>
                </a:tc>
                <a:tc>
                  <a:txBody>
                    <a:bodyPr/>
                    <a:lstStyle/>
                    <a:p>
                      <a:pPr>
                        <a:buNone/>
                      </a:pPr>
                      <a:r>
                        <a:rPr lang="en-US" sz="1800" i="1">
                          <a:latin typeface="Times New Roman" panose="02020603050405020304" pitchFamily="18" charset="0"/>
                          <a:cs typeface="Times New Roman" panose="02020603050405020304" pitchFamily="18" charset="0"/>
                        </a:rPr>
                        <a:t>Smart Tactile to Audio Braille Converter with Attention Mechanism Model</a:t>
                      </a:r>
                      <a:r>
                        <a:rPr lang="en-US" sz="1800">
                          <a:latin typeface="Times New Roman" panose="02020603050405020304" pitchFamily="18" charset="0"/>
                          <a:cs typeface="Times New Roman" panose="02020603050405020304" pitchFamily="18" charset="0"/>
                        </a:rPr>
                        <a:t> — Akash B S et al. (2025)</a:t>
                      </a:r>
                    </a:p>
                  </a:txBody>
                  <a:tcPr marL="32030" marR="32030" marT="16015" marB="16015" anchor="ctr">
                    <a:lnL>
                      <a:noFill/>
                    </a:lnL>
                    <a:lnR>
                      <a:noFill/>
                    </a:lnR>
                    <a:lnT>
                      <a:noFill/>
                    </a:lnT>
                    <a:lnB>
                      <a:noFill/>
                    </a:lnB>
                    <a:noFill/>
                  </a:tcPr>
                </a:tc>
                <a:tc>
                  <a:txBody>
                    <a:bodyPr/>
                    <a:lstStyle/>
                    <a:p>
                      <a:pPr>
                        <a:buNone/>
                      </a:pPr>
                      <a:r>
                        <a:rPr lang="en-US" sz="1800">
                          <a:latin typeface="Times New Roman" panose="02020603050405020304" pitchFamily="18" charset="0"/>
                          <a:cs typeface="Times New Roman" panose="02020603050405020304" pitchFamily="18" charset="0"/>
                        </a:rPr>
                        <a:t>OCR to tactile Braille conversion with GPS &amp; extra assistive features.</a:t>
                      </a:r>
                    </a:p>
                  </a:txBody>
                  <a:tcPr marL="32030" marR="32030" marT="16015" marB="16015" anchor="ctr">
                    <a:lnL>
                      <a:noFill/>
                    </a:lnL>
                    <a:lnR>
                      <a:noFill/>
                    </a:lnR>
                    <a:lnT>
                      <a:noFill/>
                    </a:lnT>
                    <a:lnB>
                      <a:noFill/>
                    </a:lnB>
                    <a:noFill/>
                  </a:tcPr>
                </a:tc>
                <a:tc>
                  <a:txBody>
                    <a:bodyPr/>
                    <a:lstStyle/>
                    <a:p>
                      <a:pPr>
                        <a:buNone/>
                      </a:pPr>
                      <a:r>
                        <a:rPr lang="en-IN" sz="1800">
                          <a:latin typeface="Times New Roman" panose="02020603050405020304" pitchFamily="18" charset="0"/>
                          <a:cs typeface="Times New Roman" panose="02020603050405020304" pitchFamily="18" charset="0"/>
                        </a:rPr>
                        <a:t>Innovative multi-feature assistive device.</a:t>
                      </a:r>
                    </a:p>
                  </a:txBody>
                  <a:tcPr marL="32030" marR="32030" marT="16015" marB="16015" anchor="ctr">
                    <a:lnL>
                      <a:noFill/>
                    </a:lnL>
                    <a:lnR>
                      <a:noFill/>
                    </a:lnR>
                    <a:lnT>
                      <a:noFill/>
                    </a:lnT>
                    <a:lnB>
                      <a:noFill/>
                    </a:lnB>
                    <a:noFill/>
                  </a:tcPr>
                </a:tc>
                <a:tc>
                  <a:txBody>
                    <a:bodyPr/>
                    <a:lstStyle/>
                    <a:p>
                      <a:pPr>
                        <a:buNone/>
                      </a:pPr>
                      <a:r>
                        <a:rPr lang="en-US" sz="1800" dirty="0">
                          <a:latin typeface="Times New Roman" panose="02020603050405020304" pitchFamily="18" charset="0"/>
                          <a:cs typeface="Times New Roman" panose="02020603050405020304" pitchFamily="18" charset="0"/>
                        </a:rPr>
                        <a:t>Not focused solely on </a:t>
                      </a:r>
                      <a:r>
                        <a:rPr lang="en-US" sz="1800" dirty="0" err="1">
                          <a:latin typeface="Times New Roman" panose="02020603050405020304" pitchFamily="18" charset="0"/>
                          <a:cs typeface="Times New Roman" panose="02020603050405020304" pitchFamily="18" charset="0"/>
                        </a:rPr>
                        <a:t>speech→Braille</a:t>
                      </a:r>
                      <a:r>
                        <a:rPr lang="en-US" sz="1800" dirty="0">
                          <a:latin typeface="Times New Roman" panose="02020603050405020304" pitchFamily="18" charset="0"/>
                          <a:cs typeface="Times New Roman" panose="02020603050405020304" pitchFamily="18" charset="0"/>
                        </a:rPr>
                        <a:t>; project-style paper.</a:t>
                      </a:r>
                    </a:p>
                  </a:txBody>
                  <a:tcPr marL="32030" marR="32030" marT="16015" marB="16015" anchor="ctr">
                    <a:lnL>
                      <a:noFill/>
                    </a:lnL>
                    <a:lnR>
                      <a:noFill/>
                    </a:lnR>
                    <a:lnT>
                      <a:noFill/>
                    </a:lnT>
                    <a:lnB>
                      <a:noFill/>
                    </a:lnB>
                    <a:noFill/>
                  </a:tcPr>
                </a:tc>
                <a:tc>
                  <a:txBody>
                    <a:bodyPr/>
                    <a:lstStyle/>
                    <a:p>
                      <a:pPr>
                        <a:buNone/>
                      </a:pPr>
                      <a:r>
                        <a:rPr lang="en-IN" sz="1800" dirty="0">
                          <a:latin typeface="Times New Roman" panose="02020603050405020304" pitchFamily="18" charset="0"/>
                          <a:cs typeface="Times New Roman" panose="02020603050405020304" pitchFamily="18" charset="0"/>
                        </a:rPr>
                        <a:t>Journal page w/ DOI. </a:t>
                      </a:r>
                      <a:r>
                        <a:rPr lang="en-IN" sz="1800" dirty="0">
                          <a:latin typeface="Times New Roman" panose="02020603050405020304" pitchFamily="18" charset="0"/>
                          <a:cs typeface="Times New Roman" panose="02020603050405020304" pitchFamily="18" charset="0"/>
                          <a:hlinkClick r:id="rId4"/>
                        </a:rPr>
                        <a:t>Peer-reviewed Journal</a:t>
                      </a:r>
                      <a:endParaRPr lang="en-IN" sz="1800" dirty="0">
                        <a:latin typeface="Times New Roman" panose="02020603050405020304" pitchFamily="18" charset="0"/>
                        <a:cs typeface="Times New Roman" panose="02020603050405020304" pitchFamily="18" charset="0"/>
                      </a:endParaRPr>
                    </a:p>
                  </a:txBody>
                  <a:tcPr marL="32030" marR="32030" marT="16015" marB="16015" anchor="ctr">
                    <a:lnL>
                      <a:noFill/>
                    </a:lnL>
                    <a:lnR>
                      <a:noFill/>
                    </a:lnR>
                    <a:lnT>
                      <a:noFill/>
                    </a:lnT>
                    <a:lnB>
                      <a:noFill/>
                    </a:lnB>
                    <a:noFill/>
                  </a:tcPr>
                </a:tc>
                <a:extLst>
                  <a:ext uri="{0D108BD9-81ED-4DB2-BD59-A6C34878D82A}">
                    <a16:rowId xmlns:a16="http://schemas.microsoft.com/office/drawing/2014/main" val="602694166"/>
                  </a:ext>
                </a:extLst>
              </a:tr>
              <a:tr h="1376889">
                <a:tc>
                  <a:txBody>
                    <a:bodyPr/>
                    <a:lstStyle/>
                    <a:p>
                      <a:pPr>
                        <a:buNone/>
                      </a:pPr>
                      <a:r>
                        <a:rPr lang="en-IN" sz="1800" b="1">
                          <a:latin typeface="Times New Roman" panose="02020603050405020304" pitchFamily="18" charset="0"/>
                          <a:cs typeface="Times New Roman" panose="02020603050405020304" pitchFamily="18" charset="0"/>
                        </a:rPr>
                        <a:t>7</a:t>
                      </a:r>
                      <a:endParaRPr lang="en-IN" sz="1800">
                        <a:latin typeface="Times New Roman" panose="02020603050405020304" pitchFamily="18" charset="0"/>
                        <a:cs typeface="Times New Roman" panose="02020603050405020304" pitchFamily="18" charset="0"/>
                      </a:endParaRPr>
                    </a:p>
                  </a:txBody>
                  <a:tcPr marL="32030" marR="32030" marT="16015" marB="16015" anchor="ctr">
                    <a:lnL>
                      <a:noFill/>
                    </a:lnL>
                    <a:lnR>
                      <a:noFill/>
                    </a:lnR>
                    <a:lnT>
                      <a:noFill/>
                    </a:lnT>
                    <a:lnB>
                      <a:noFill/>
                    </a:lnB>
                    <a:noFill/>
                  </a:tcPr>
                </a:tc>
                <a:tc>
                  <a:txBody>
                    <a:bodyPr/>
                    <a:lstStyle/>
                    <a:p>
                      <a:pPr>
                        <a:buNone/>
                      </a:pPr>
                      <a:r>
                        <a:rPr lang="en-US" sz="1800" i="1">
                          <a:latin typeface="Times New Roman" panose="02020603050405020304" pitchFamily="18" charset="0"/>
                          <a:cs typeface="Times New Roman" panose="02020603050405020304" pitchFamily="18" charset="0"/>
                        </a:rPr>
                        <a:t>Braille to Text Conversion Using Computer Vision</a:t>
                      </a:r>
                      <a:r>
                        <a:rPr lang="en-US" sz="1800">
                          <a:latin typeface="Times New Roman" panose="02020603050405020304" pitchFamily="18" charset="0"/>
                          <a:cs typeface="Times New Roman" panose="02020603050405020304" pitchFamily="18" charset="0"/>
                        </a:rPr>
                        <a:t> — Purva Kamath et al. (2022)</a:t>
                      </a:r>
                    </a:p>
                  </a:txBody>
                  <a:tcPr marL="32030" marR="32030" marT="16015" marB="16015" anchor="ctr">
                    <a:lnL>
                      <a:noFill/>
                    </a:lnL>
                    <a:lnR>
                      <a:noFill/>
                    </a:lnR>
                    <a:lnT>
                      <a:noFill/>
                    </a:lnT>
                    <a:lnB>
                      <a:noFill/>
                    </a:lnB>
                    <a:noFill/>
                  </a:tcPr>
                </a:tc>
                <a:tc>
                  <a:txBody>
                    <a:bodyPr/>
                    <a:lstStyle/>
                    <a:p>
                      <a:pPr>
                        <a:buNone/>
                      </a:pPr>
                      <a:r>
                        <a:rPr lang="en-IN" sz="1800">
                          <a:latin typeface="Times New Roman" panose="02020603050405020304" pitchFamily="18" charset="0"/>
                          <a:cs typeface="Times New Roman" panose="02020603050405020304" pitchFamily="18" charset="0"/>
                        </a:rPr>
                        <a:t>Braille image segmentation &amp; processing for conversion via image processing.</a:t>
                      </a:r>
                    </a:p>
                  </a:txBody>
                  <a:tcPr marL="32030" marR="32030" marT="16015" marB="16015" anchor="ctr">
                    <a:lnL>
                      <a:noFill/>
                    </a:lnL>
                    <a:lnR>
                      <a:noFill/>
                    </a:lnR>
                    <a:lnT>
                      <a:noFill/>
                    </a:lnT>
                    <a:lnB>
                      <a:noFill/>
                    </a:lnB>
                    <a:noFill/>
                  </a:tcPr>
                </a:tc>
                <a:tc>
                  <a:txBody>
                    <a:bodyPr/>
                    <a:lstStyle/>
                    <a:p>
                      <a:pPr>
                        <a:buNone/>
                      </a:pPr>
                      <a:r>
                        <a:rPr lang="en-IN" sz="1800">
                          <a:latin typeface="Times New Roman" panose="02020603050405020304" pitchFamily="18" charset="0"/>
                          <a:cs typeface="Times New Roman" panose="02020603050405020304" pitchFamily="18" charset="0"/>
                        </a:rPr>
                        <a:t>Braille-vision integration; real PDF.</a:t>
                      </a:r>
                    </a:p>
                  </a:txBody>
                  <a:tcPr marL="32030" marR="32030" marT="16015" marB="16015" anchor="ctr">
                    <a:lnL>
                      <a:noFill/>
                    </a:lnL>
                    <a:lnR>
                      <a:noFill/>
                    </a:lnR>
                    <a:lnT>
                      <a:noFill/>
                    </a:lnT>
                    <a:lnB>
                      <a:noFill/>
                    </a:lnB>
                    <a:noFill/>
                  </a:tcPr>
                </a:tc>
                <a:tc>
                  <a:txBody>
                    <a:bodyPr/>
                    <a:lstStyle/>
                    <a:p>
                      <a:pPr>
                        <a:buNone/>
                      </a:pPr>
                      <a:r>
                        <a:rPr lang="en-US" sz="1800">
                          <a:latin typeface="Times New Roman" panose="02020603050405020304" pitchFamily="18" charset="0"/>
                          <a:cs typeface="Times New Roman" panose="02020603050405020304" pitchFamily="18" charset="0"/>
                        </a:rPr>
                        <a:t>Focus is Braille→text perception (not speech).</a:t>
                      </a:r>
                    </a:p>
                  </a:txBody>
                  <a:tcPr marL="32030" marR="32030" marT="16015" marB="16015" anchor="ctr">
                    <a:lnL>
                      <a:noFill/>
                    </a:lnL>
                    <a:lnR>
                      <a:noFill/>
                    </a:lnR>
                    <a:lnT>
                      <a:noFill/>
                    </a:lnT>
                    <a:lnB>
                      <a:noFill/>
                    </a:lnB>
                    <a:noFill/>
                  </a:tcPr>
                </a:tc>
                <a:tc>
                  <a:txBody>
                    <a:bodyPr/>
                    <a:lstStyle/>
                    <a:p>
                      <a:pPr>
                        <a:buNone/>
                      </a:pPr>
                      <a:r>
                        <a:rPr lang="en-IN" sz="1800" dirty="0">
                          <a:latin typeface="Times New Roman" panose="02020603050405020304" pitchFamily="18" charset="0"/>
                          <a:cs typeface="Times New Roman" panose="02020603050405020304" pitchFamily="18" charset="0"/>
                        </a:rPr>
                        <a:t>PDF  </a:t>
                      </a:r>
                      <a:r>
                        <a:rPr lang="en-IN" sz="1800" dirty="0">
                          <a:latin typeface="Times New Roman" panose="02020603050405020304" pitchFamily="18" charset="0"/>
                          <a:cs typeface="Times New Roman" panose="02020603050405020304" pitchFamily="18" charset="0"/>
                          <a:hlinkClick r:id="rId5"/>
                        </a:rPr>
                        <a:t>PICES Journal</a:t>
                      </a:r>
                      <a:endParaRPr lang="en-IN" sz="1800" dirty="0">
                        <a:latin typeface="Times New Roman" panose="02020603050405020304" pitchFamily="18" charset="0"/>
                        <a:cs typeface="Times New Roman" panose="02020603050405020304" pitchFamily="18" charset="0"/>
                      </a:endParaRPr>
                    </a:p>
                  </a:txBody>
                  <a:tcPr marL="32030" marR="32030" marT="16015" marB="16015" anchor="ctr">
                    <a:lnL>
                      <a:noFill/>
                    </a:lnL>
                    <a:lnR>
                      <a:noFill/>
                    </a:lnR>
                    <a:lnT>
                      <a:noFill/>
                    </a:lnT>
                    <a:lnB>
                      <a:noFill/>
                    </a:lnB>
                    <a:noFill/>
                  </a:tcPr>
                </a:tc>
                <a:extLst>
                  <a:ext uri="{0D108BD9-81ED-4DB2-BD59-A6C34878D82A}">
                    <a16:rowId xmlns:a16="http://schemas.microsoft.com/office/drawing/2014/main" val="3661627623"/>
                  </a:ext>
                </a:extLst>
              </a:tr>
            </a:tbl>
          </a:graphicData>
        </a:graphic>
      </p:graphicFrame>
      <p:pic>
        <p:nvPicPr>
          <p:cNvPr id="5" name="Google Shape;201;p24">
            <a:extLst>
              <a:ext uri="{FF2B5EF4-FFF2-40B4-BE49-F238E27FC236}">
                <a16:creationId xmlns:a16="http://schemas.microsoft.com/office/drawing/2014/main" id="{638D716B-C805-256B-58D2-A21305B8CB97}"/>
              </a:ext>
            </a:extLst>
          </p:cNvPr>
          <p:cNvPicPr preferRelativeResize="0"/>
          <p:nvPr/>
        </p:nvPicPr>
        <p:blipFill rotWithShape="1">
          <a:blip r:embed="rId6"/>
          <a:srcRect/>
          <a:stretch>
            <a:fillRect/>
          </a:stretch>
        </p:blipFill>
        <p:spPr>
          <a:xfrm>
            <a:off x="10920412" y="158750"/>
            <a:ext cx="981075" cy="838200"/>
          </a:xfrm>
          <a:prstGeom prst="rect">
            <a:avLst/>
          </a:prstGeom>
          <a:noFill/>
          <a:ln>
            <a:noFill/>
          </a:ln>
        </p:spPr>
      </p:pic>
    </p:spTree>
    <p:extLst>
      <p:ext uri="{BB962C8B-B14F-4D97-AF65-F5344CB8AC3E}">
        <p14:creationId xmlns:p14="http://schemas.microsoft.com/office/powerpoint/2010/main" val="1663364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4D821-A6D3-3936-E493-6B7678D99E53}"/>
              </a:ext>
            </a:extLst>
          </p:cNvPr>
          <p:cNvSpPr>
            <a:spLocks noGrp="1"/>
          </p:cNvSpPr>
          <p:nvPr>
            <p:ph type="title"/>
          </p:nvPr>
        </p:nvSpPr>
        <p:spPr>
          <a:xfrm>
            <a:off x="1141413" y="618517"/>
            <a:ext cx="9905998" cy="45719"/>
          </a:xfrm>
        </p:spPr>
        <p:txBody>
          <a:bodyPr>
            <a:normAutofit fontScale="90000"/>
          </a:bodyPr>
          <a:lstStyle/>
          <a:p>
            <a:r>
              <a:rPr lang="en-US" dirty="0"/>
              <a:t> </a:t>
            </a:r>
            <a:endParaRPr lang="en-IN" dirty="0"/>
          </a:p>
        </p:txBody>
      </p:sp>
      <p:graphicFrame>
        <p:nvGraphicFramePr>
          <p:cNvPr id="4" name="Content Placeholder 3">
            <a:extLst>
              <a:ext uri="{FF2B5EF4-FFF2-40B4-BE49-F238E27FC236}">
                <a16:creationId xmlns:a16="http://schemas.microsoft.com/office/drawing/2014/main" id="{08D6DF85-D4E3-56DE-B4F3-D49F757F402A}"/>
              </a:ext>
            </a:extLst>
          </p:cNvPr>
          <p:cNvGraphicFramePr>
            <a:graphicFrameLocks noGrp="1"/>
          </p:cNvGraphicFramePr>
          <p:nvPr>
            <p:ph idx="1"/>
            <p:extLst>
              <p:ext uri="{D42A27DB-BD31-4B8C-83A1-F6EECF244321}">
                <p14:modId xmlns:p14="http://schemas.microsoft.com/office/powerpoint/2010/main" val="2882491758"/>
              </p:ext>
            </p:extLst>
          </p:nvPr>
        </p:nvGraphicFramePr>
        <p:xfrm>
          <a:off x="589280" y="1124002"/>
          <a:ext cx="11176002" cy="5352998"/>
        </p:xfrm>
        <a:graphic>
          <a:graphicData uri="http://schemas.openxmlformats.org/drawingml/2006/table">
            <a:tbl>
              <a:tblPr/>
              <a:tblGrid>
                <a:gridCol w="833120">
                  <a:extLst>
                    <a:ext uri="{9D8B030D-6E8A-4147-A177-3AD203B41FA5}">
                      <a16:colId xmlns:a16="http://schemas.microsoft.com/office/drawing/2014/main" val="2329115827"/>
                    </a:ext>
                  </a:extLst>
                </a:gridCol>
                <a:gridCol w="2834640">
                  <a:extLst>
                    <a:ext uri="{9D8B030D-6E8A-4147-A177-3AD203B41FA5}">
                      <a16:colId xmlns:a16="http://schemas.microsoft.com/office/drawing/2014/main" val="4084857388"/>
                    </a:ext>
                  </a:extLst>
                </a:gridCol>
                <a:gridCol w="1920241">
                  <a:extLst>
                    <a:ext uri="{9D8B030D-6E8A-4147-A177-3AD203B41FA5}">
                      <a16:colId xmlns:a16="http://schemas.microsoft.com/office/drawing/2014/main" val="1811723505"/>
                    </a:ext>
                  </a:extLst>
                </a:gridCol>
                <a:gridCol w="1862667">
                  <a:extLst>
                    <a:ext uri="{9D8B030D-6E8A-4147-A177-3AD203B41FA5}">
                      <a16:colId xmlns:a16="http://schemas.microsoft.com/office/drawing/2014/main" val="2574071939"/>
                    </a:ext>
                  </a:extLst>
                </a:gridCol>
                <a:gridCol w="1862667">
                  <a:extLst>
                    <a:ext uri="{9D8B030D-6E8A-4147-A177-3AD203B41FA5}">
                      <a16:colId xmlns:a16="http://schemas.microsoft.com/office/drawing/2014/main" val="1401797272"/>
                    </a:ext>
                  </a:extLst>
                </a:gridCol>
                <a:gridCol w="1862667">
                  <a:extLst>
                    <a:ext uri="{9D8B030D-6E8A-4147-A177-3AD203B41FA5}">
                      <a16:colId xmlns:a16="http://schemas.microsoft.com/office/drawing/2014/main" val="1924707209"/>
                    </a:ext>
                  </a:extLst>
                </a:gridCol>
              </a:tblGrid>
              <a:tr h="684347">
                <a:tc>
                  <a:txBody>
                    <a:bodyPr/>
                    <a:lstStyle/>
                    <a:p>
                      <a:pPr>
                        <a:buNone/>
                      </a:pPr>
                      <a:r>
                        <a:rPr lang="en-IN" sz="1800" b="1" dirty="0">
                          <a:solidFill>
                            <a:schemeClr val="tx1"/>
                          </a:solidFill>
                          <a:latin typeface="Times New Roman" panose="02020603050405020304" pitchFamily="18" charset="0"/>
                          <a:cs typeface="Times New Roman" panose="02020603050405020304" pitchFamily="18" charset="0"/>
                        </a:rPr>
                        <a:t>Ref. No</a:t>
                      </a:r>
                      <a:endParaRPr lang="en-IN" sz="1800" dirty="0">
                        <a:solidFill>
                          <a:schemeClr val="tx1"/>
                        </a:solidFill>
                        <a:latin typeface="Times New Roman" panose="02020603050405020304" pitchFamily="18" charset="0"/>
                        <a:cs typeface="Times New Roman" panose="02020603050405020304" pitchFamily="18" charset="0"/>
                      </a:endParaRPr>
                    </a:p>
                  </a:txBody>
                  <a:tcPr marL="25543" marR="25543" marT="12771" marB="12771" anchor="ctr">
                    <a:lnL>
                      <a:noFill/>
                    </a:lnL>
                    <a:lnR>
                      <a:noFill/>
                    </a:lnR>
                    <a:lnT>
                      <a:noFill/>
                    </a:lnT>
                    <a:lnB>
                      <a:noFill/>
                    </a:lnB>
                    <a:noFill/>
                  </a:tcPr>
                </a:tc>
                <a:tc>
                  <a:txBody>
                    <a:bodyPr/>
                    <a:lstStyle/>
                    <a:p>
                      <a:pPr>
                        <a:buNone/>
                      </a:pPr>
                      <a:r>
                        <a:rPr lang="en-IN" sz="1800" b="1" dirty="0">
                          <a:solidFill>
                            <a:schemeClr val="tx1"/>
                          </a:solidFill>
                          <a:latin typeface="Times New Roman" panose="02020603050405020304" pitchFamily="18" charset="0"/>
                          <a:cs typeface="Times New Roman" panose="02020603050405020304" pitchFamily="18" charset="0"/>
                        </a:rPr>
                        <a:t>Title &amp; Authors (Year)</a:t>
                      </a:r>
                      <a:endParaRPr lang="en-IN" sz="1800" dirty="0">
                        <a:solidFill>
                          <a:schemeClr val="tx1"/>
                        </a:solidFill>
                        <a:latin typeface="Times New Roman" panose="02020603050405020304" pitchFamily="18" charset="0"/>
                        <a:cs typeface="Times New Roman" panose="02020603050405020304" pitchFamily="18" charset="0"/>
                      </a:endParaRPr>
                    </a:p>
                  </a:txBody>
                  <a:tcPr marL="25543" marR="25543" marT="12771" marB="12771" anchor="ctr">
                    <a:lnL>
                      <a:noFill/>
                    </a:lnL>
                    <a:lnR>
                      <a:noFill/>
                    </a:lnR>
                    <a:lnT>
                      <a:noFill/>
                    </a:lnT>
                    <a:lnB>
                      <a:noFill/>
                    </a:lnB>
                    <a:noFill/>
                  </a:tcPr>
                </a:tc>
                <a:tc>
                  <a:txBody>
                    <a:bodyPr/>
                    <a:lstStyle/>
                    <a:p>
                      <a:pPr>
                        <a:buNone/>
                      </a:pPr>
                      <a:r>
                        <a:rPr lang="en-IN" sz="1800" b="1">
                          <a:solidFill>
                            <a:schemeClr val="tx1"/>
                          </a:solidFill>
                          <a:latin typeface="Times New Roman" panose="02020603050405020304" pitchFamily="18" charset="0"/>
                          <a:cs typeface="Times New Roman" panose="02020603050405020304" pitchFamily="18" charset="0"/>
                        </a:rPr>
                        <a:t>Technique / Contribution</a:t>
                      </a:r>
                      <a:endParaRPr lang="en-IN" sz="1800">
                        <a:solidFill>
                          <a:schemeClr val="tx1"/>
                        </a:solidFill>
                        <a:latin typeface="Times New Roman" panose="02020603050405020304" pitchFamily="18" charset="0"/>
                        <a:cs typeface="Times New Roman" panose="02020603050405020304" pitchFamily="18" charset="0"/>
                      </a:endParaRPr>
                    </a:p>
                  </a:txBody>
                  <a:tcPr marL="25543" marR="25543" marT="12771" marB="12771" anchor="ctr">
                    <a:lnL>
                      <a:noFill/>
                    </a:lnL>
                    <a:lnR>
                      <a:noFill/>
                    </a:lnR>
                    <a:lnT>
                      <a:noFill/>
                    </a:lnT>
                    <a:lnB>
                      <a:noFill/>
                    </a:lnB>
                    <a:noFill/>
                  </a:tcPr>
                </a:tc>
                <a:tc>
                  <a:txBody>
                    <a:bodyPr/>
                    <a:lstStyle/>
                    <a:p>
                      <a:pPr>
                        <a:buNone/>
                      </a:pPr>
                      <a:r>
                        <a:rPr lang="en-IN" sz="1800" b="1" dirty="0">
                          <a:solidFill>
                            <a:schemeClr val="tx1"/>
                          </a:solidFill>
                          <a:latin typeface="Times New Roman" panose="02020603050405020304" pitchFamily="18" charset="0"/>
                          <a:cs typeface="Times New Roman" panose="02020603050405020304" pitchFamily="18" charset="0"/>
                        </a:rPr>
                        <a:t>Pros</a:t>
                      </a:r>
                      <a:endParaRPr lang="en-IN" sz="1800" dirty="0">
                        <a:solidFill>
                          <a:schemeClr val="tx1"/>
                        </a:solidFill>
                        <a:latin typeface="Times New Roman" panose="02020603050405020304" pitchFamily="18" charset="0"/>
                        <a:cs typeface="Times New Roman" panose="02020603050405020304" pitchFamily="18" charset="0"/>
                      </a:endParaRPr>
                    </a:p>
                  </a:txBody>
                  <a:tcPr marL="25543" marR="25543" marT="12771" marB="12771" anchor="ctr">
                    <a:lnL>
                      <a:noFill/>
                    </a:lnL>
                    <a:lnR>
                      <a:noFill/>
                    </a:lnR>
                    <a:lnT>
                      <a:noFill/>
                    </a:lnT>
                    <a:lnB>
                      <a:noFill/>
                    </a:lnB>
                    <a:noFill/>
                  </a:tcPr>
                </a:tc>
                <a:tc>
                  <a:txBody>
                    <a:bodyPr/>
                    <a:lstStyle/>
                    <a:p>
                      <a:pPr>
                        <a:buNone/>
                      </a:pPr>
                      <a:r>
                        <a:rPr lang="en-IN" sz="1800" b="1" dirty="0">
                          <a:solidFill>
                            <a:schemeClr val="tx1"/>
                          </a:solidFill>
                          <a:latin typeface="Times New Roman" panose="02020603050405020304" pitchFamily="18" charset="0"/>
                          <a:cs typeface="Times New Roman" panose="02020603050405020304" pitchFamily="18" charset="0"/>
                        </a:rPr>
                        <a:t>Cons</a:t>
                      </a:r>
                      <a:endParaRPr lang="en-IN" sz="1800" dirty="0">
                        <a:solidFill>
                          <a:schemeClr val="tx1"/>
                        </a:solidFill>
                        <a:latin typeface="Times New Roman" panose="02020603050405020304" pitchFamily="18" charset="0"/>
                        <a:cs typeface="Times New Roman" panose="02020603050405020304" pitchFamily="18" charset="0"/>
                      </a:endParaRPr>
                    </a:p>
                  </a:txBody>
                  <a:tcPr marL="25543" marR="25543" marT="12771" marB="12771" anchor="ctr">
                    <a:lnL>
                      <a:noFill/>
                    </a:lnL>
                    <a:lnR>
                      <a:noFill/>
                    </a:lnR>
                    <a:lnT>
                      <a:noFill/>
                    </a:lnT>
                    <a:lnB>
                      <a:noFill/>
                    </a:lnB>
                    <a:noFill/>
                  </a:tcPr>
                </a:tc>
                <a:tc>
                  <a:txBody>
                    <a:bodyPr/>
                    <a:lstStyle/>
                    <a:p>
                      <a:pPr>
                        <a:buNone/>
                      </a:pPr>
                      <a:r>
                        <a:rPr lang="en-IN" sz="1800" b="1" dirty="0">
                          <a:solidFill>
                            <a:schemeClr val="tx1"/>
                          </a:solidFill>
                          <a:latin typeface="Times New Roman" panose="02020603050405020304" pitchFamily="18" charset="0"/>
                          <a:cs typeface="Times New Roman" panose="02020603050405020304" pitchFamily="18" charset="0"/>
                        </a:rPr>
                        <a:t>PDF / Link</a:t>
                      </a:r>
                      <a:endParaRPr lang="en-IN" sz="1800" dirty="0">
                        <a:solidFill>
                          <a:schemeClr val="tx1"/>
                        </a:solidFill>
                        <a:latin typeface="Times New Roman" panose="02020603050405020304" pitchFamily="18" charset="0"/>
                        <a:cs typeface="Times New Roman" panose="02020603050405020304" pitchFamily="18" charset="0"/>
                      </a:endParaRPr>
                    </a:p>
                  </a:txBody>
                  <a:tcPr marL="25543" marR="25543" marT="12771" marB="12771" anchor="ctr">
                    <a:lnL>
                      <a:noFill/>
                    </a:lnL>
                    <a:lnR>
                      <a:noFill/>
                    </a:lnR>
                    <a:lnT>
                      <a:noFill/>
                    </a:lnT>
                    <a:lnB>
                      <a:noFill/>
                    </a:lnB>
                    <a:noFill/>
                  </a:tcPr>
                </a:tc>
                <a:extLst>
                  <a:ext uri="{0D108BD9-81ED-4DB2-BD59-A6C34878D82A}">
                    <a16:rowId xmlns:a16="http://schemas.microsoft.com/office/drawing/2014/main" val="1882859717"/>
                  </a:ext>
                </a:extLst>
              </a:tr>
              <a:tr h="1665201">
                <a:tc>
                  <a:txBody>
                    <a:bodyPr/>
                    <a:lstStyle/>
                    <a:p>
                      <a:pPr>
                        <a:buNone/>
                      </a:pPr>
                      <a:r>
                        <a:rPr lang="en-IN" sz="1800" b="1" dirty="0">
                          <a:latin typeface="Times New Roman" panose="02020603050405020304" pitchFamily="18" charset="0"/>
                          <a:cs typeface="Times New Roman" panose="02020603050405020304" pitchFamily="18" charset="0"/>
                        </a:rPr>
                        <a:t>8</a:t>
                      </a:r>
                      <a:endParaRPr lang="en-IN" sz="1800" dirty="0">
                        <a:latin typeface="Times New Roman" panose="02020603050405020304" pitchFamily="18" charset="0"/>
                        <a:cs typeface="Times New Roman" panose="02020603050405020304" pitchFamily="18" charset="0"/>
                      </a:endParaRPr>
                    </a:p>
                  </a:txBody>
                  <a:tcPr marL="25543" marR="25543" marT="12771" marB="12771" anchor="ctr">
                    <a:lnL>
                      <a:noFill/>
                    </a:lnL>
                    <a:lnR>
                      <a:noFill/>
                    </a:lnR>
                    <a:lnT>
                      <a:noFill/>
                    </a:lnT>
                    <a:lnB>
                      <a:noFill/>
                    </a:lnB>
                    <a:noFill/>
                  </a:tcPr>
                </a:tc>
                <a:tc>
                  <a:txBody>
                    <a:bodyPr/>
                    <a:lstStyle/>
                    <a:p>
                      <a:pPr>
                        <a:buNone/>
                      </a:pPr>
                      <a:r>
                        <a:rPr lang="en-US" sz="1800" i="1" dirty="0">
                          <a:latin typeface="Times New Roman" panose="02020603050405020304" pitchFamily="18" charset="0"/>
                          <a:cs typeface="Times New Roman" panose="02020603050405020304" pitchFamily="18" charset="0"/>
                        </a:rPr>
                        <a:t>An accessible web-based system for audio transcription and Braille conversion</a:t>
                      </a:r>
                      <a:r>
                        <a:rPr lang="en-US" sz="1800" dirty="0">
                          <a:latin typeface="Times New Roman" panose="02020603050405020304" pitchFamily="18" charset="0"/>
                          <a:cs typeface="Times New Roman" panose="02020603050405020304" pitchFamily="18" charset="0"/>
                        </a:rPr>
                        <a:t> — (2025)</a:t>
                      </a:r>
                    </a:p>
                  </a:txBody>
                  <a:tcPr marL="25543" marR="25543" marT="12771" marB="12771" anchor="ctr">
                    <a:lnL>
                      <a:noFill/>
                    </a:lnL>
                    <a:lnR>
                      <a:noFill/>
                    </a:lnR>
                    <a:lnT>
                      <a:noFill/>
                    </a:lnT>
                    <a:lnB>
                      <a:noFill/>
                    </a:lnB>
                    <a:noFill/>
                  </a:tcPr>
                </a:tc>
                <a:tc>
                  <a:txBody>
                    <a:bodyPr/>
                    <a:lstStyle/>
                    <a:p>
                      <a:pPr>
                        <a:buNone/>
                      </a:pPr>
                      <a:r>
                        <a:rPr lang="en-US" sz="1800" dirty="0">
                          <a:latin typeface="Times New Roman" panose="02020603050405020304" pitchFamily="18" charset="0"/>
                          <a:cs typeface="Times New Roman" panose="02020603050405020304" pitchFamily="18" charset="0"/>
                        </a:rPr>
                        <a:t>Modular speech recognition &amp; Braille conversion web platform with high accuracy.</a:t>
                      </a:r>
                    </a:p>
                  </a:txBody>
                  <a:tcPr marL="25543" marR="25543" marT="12771" marB="12771" anchor="ctr">
                    <a:lnL>
                      <a:noFill/>
                    </a:lnL>
                    <a:lnR>
                      <a:noFill/>
                    </a:lnR>
                    <a:lnT>
                      <a:noFill/>
                    </a:lnT>
                    <a:lnB>
                      <a:noFill/>
                    </a:lnB>
                    <a:noFill/>
                  </a:tcPr>
                </a:tc>
                <a:tc>
                  <a:txBody>
                    <a:bodyPr/>
                    <a:lstStyle/>
                    <a:p>
                      <a:pPr>
                        <a:buNone/>
                      </a:pPr>
                      <a:r>
                        <a:rPr lang="en-IN" sz="1800" dirty="0">
                          <a:latin typeface="Times New Roman" panose="02020603050405020304" pitchFamily="18" charset="0"/>
                          <a:cs typeface="Times New Roman" panose="02020603050405020304" pitchFamily="18" charset="0"/>
                        </a:rPr>
                        <a:t>Integrates ASR + Braille conversion; real research.</a:t>
                      </a:r>
                    </a:p>
                  </a:txBody>
                  <a:tcPr marL="25543" marR="25543" marT="12771" marB="12771" anchor="ctr">
                    <a:lnL>
                      <a:noFill/>
                    </a:lnL>
                    <a:lnR>
                      <a:noFill/>
                    </a:lnR>
                    <a:lnT>
                      <a:noFill/>
                    </a:lnT>
                    <a:lnB>
                      <a:noFill/>
                    </a:lnB>
                    <a:noFill/>
                  </a:tcPr>
                </a:tc>
                <a:tc>
                  <a:txBody>
                    <a:bodyPr/>
                    <a:lstStyle/>
                    <a:p>
                      <a:pPr>
                        <a:buNone/>
                      </a:pPr>
                      <a:r>
                        <a:rPr lang="en-US" sz="1800" dirty="0">
                          <a:latin typeface="Times New Roman" panose="02020603050405020304" pitchFamily="18" charset="0"/>
                          <a:cs typeface="Times New Roman" panose="02020603050405020304" pitchFamily="18" charset="0"/>
                        </a:rPr>
                        <a:t>Focus on web integration vs hardware .</a:t>
                      </a:r>
                    </a:p>
                  </a:txBody>
                  <a:tcPr marL="25543" marR="25543" marT="12771" marB="12771" anchor="ctr">
                    <a:lnL>
                      <a:noFill/>
                    </a:lnL>
                    <a:lnR>
                      <a:noFill/>
                    </a:lnR>
                    <a:lnT>
                      <a:noFill/>
                    </a:lnT>
                    <a:lnB>
                      <a:noFill/>
                    </a:lnB>
                    <a:noFill/>
                  </a:tcPr>
                </a:tc>
                <a:tc>
                  <a:txBody>
                    <a:bodyPr/>
                    <a:lstStyle/>
                    <a:p>
                      <a:pPr>
                        <a:buNone/>
                      </a:pPr>
                      <a:r>
                        <a:rPr lang="en-IN" sz="1800" dirty="0">
                          <a:latin typeface="Times New Roman" panose="02020603050405020304" pitchFamily="18" charset="0"/>
                          <a:cs typeface="Times New Roman" panose="02020603050405020304" pitchFamily="18" charset="0"/>
                        </a:rPr>
                        <a:t>Journal site with DOI. </a:t>
                      </a:r>
                      <a:r>
                        <a:rPr lang="en-IN" sz="1800" dirty="0">
                          <a:latin typeface="Times New Roman" panose="02020603050405020304" pitchFamily="18" charset="0"/>
                          <a:cs typeface="Times New Roman" panose="02020603050405020304" pitchFamily="18" charset="0"/>
                          <a:hlinkClick r:id="rId2"/>
                        </a:rPr>
                        <a:t>Rehabilitation Journals</a:t>
                      </a:r>
                      <a:endParaRPr lang="en-IN" sz="1800" dirty="0">
                        <a:latin typeface="Times New Roman" panose="02020603050405020304" pitchFamily="18" charset="0"/>
                        <a:cs typeface="Times New Roman" panose="02020603050405020304" pitchFamily="18" charset="0"/>
                      </a:endParaRPr>
                    </a:p>
                  </a:txBody>
                  <a:tcPr marL="25543" marR="25543" marT="12771" marB="12771" anchor="ctr">
                    <a:lnL>
                      <a:noFill/>
                    </a:lnL>
                    <a:lnR>
                      <a:noFill/>
                    </a:lnR>
                    <a:lnT>
                      <a:noFill/>
                    </a:lnT>
                    <a:lnB>
                      <a:noFill/>
                    </a:lnB>
                    <a:noFill/>
                  </a:tcPr>
                </a:tc>
                <a:extLst>
                  <a:ext uri="{0D108BD9-81ED-4DB2-BD59-A6C34878D82A}">
                    <a16:rowId xmlns:a16="http://schemas.microsoft.com/office/drawing/2014/main" val="3844707075"/>
                  </a:ext>
                </a:extLst>
              </a:tr>
              <a:tr h="1665201">
                <a:tc>
                  <a:txBody>
                    <a:bodyPr/>
                    <a:lstStyle/>
                    <a:p>
                      <a:pPr>
                        <a:buNone/>
                      </a:pPr>
                      <a:r>
                        <a:rPr lang="en-IN" sz="1800" b="1">
                          <a:latin typeface="Times New Roman" panose="02020603050405020304" pitchFamily="18" charset="0"/>
                          <a:cs typeface="Times New Roman" panose="02020603050405020304" pitchFamily="18" charset="0"/>
                        </a:rPr>
                        <a:t>9</a:t>
                      </a:r>
                      <a:endParaRPr lang="en-IN" sz="1800">
                        <a:latin typeface="Times New Roman" panose="02020603050405020304" pitchFamily="18" charset="0"/>
                        <a:cs typeface="Times New Roman" panose="02020603050405020304" pitchFamily="18" charset="0"/>
                      </a:endParaRPr>
                    </a:p>
                  </a:txBody>
                  <a:tcPr marL="25543" marR="25543" marT="12771" marB="12771" anchor="ctr">
                    <a:lnL>
                      <a:noFill/>
                    </a:lnL>
                    <a:lnR>
                      <a:noFill/>
                    </a:lnR>
                    <a:lnT>
                      <a:noFill/>
                    </a:lnT>
                    <a:lnB>
                      <a:noFill/>
                    </a:lnB>
                    <a:noFill/>
                  </a:tcPr>
                </a:tc>
                <a:tc>
                  <a:txBody>
                    <a:bodyPr/>
                    <a:lstStyle/>
                    <a:p>
                      <a:pPr>
                        <a:buNone/>
                      </a:pPr>
                      <a:r>
                        <a:rPr lang="en-US" sz="1800" i="1">
                          <a:latin typeface="Times New Roman" panose="02020603050405020304" pitchFamily="18" charset="0"/>
                          <a:cs typeface="Times New Roman" panose="02020603050405020304" pitchFamily="18" charset="0"/>
                        </a:rPr>
                        <a:t>International Journal of Advances in Engineering and Management – Text-to-Braille Technologies Review</a:t>
                      </a:r>
                      <a:r>
                        <a:rPr lang="en-US" sz="1800">
                          <a:latin typeface="Times New Roman" panose="02020603050405020304" pitchFamily="18" charset="0"/>
                          <a:cs typeface="Times New Roman" panose="02020603050405020304" pitchFamily="18" charset="0"/>
                        </a:rPr>
                        <a:t> — (2024)</a:t>
                      </a:r>
                    </a:p>
                  </a:txBody>
                  <a:tcPr marL="25543" marR="25543" marT="12771" marB="12771" anchor="ctr">
                    <a:lnL>
                      <a:noFill/>
                    </a:lnL>
                    <a:lnR>
                      <a:noFill/>
                    </a:lnR>
                    <a:lnT>
                      <a:noFill/>
                    </a:lnT>
                    <a:lnB>
                      <a:noFill/>
                    </a:lnB>
                    <a:noFill/>
                  </a:tcPr>
                </a:tc>
                <a:tc>
                  <a:txBody>
                    <a:bodyPr/>
                    <a:lstStyle/>
                    <a:p>
                      <a:pPr>
                        <a:buNone/>
                      </a:pPr>
                      <a:r>
                        <a:rPr lang="en-US" sz="1800">
                          <a:latin typeface="Times New Roman" panose="02020603050405020304" pitchFamily="18" charset="0"/>
                          <a:cs typeface="Times New Roman" panose="02020603050405020304" pitchFamily="18" charset="0"/>
                        </a:rPr>
                        <a:t>Survey of text-to-Braille conversion &amp; audio output in assistive systems.</a:t>
                      </a:r>
                    </a:p>
                  </a:txBody>
                  <a:tcPr marL="25543" marR="25543" marT="12771" marB="12771" anchor="ctr">
                    <a:lnL>
                      <a:noFill/>
                    </a:lnL>
                    <a:lnR>
                      <a:noFill/>
                    </a:lnR>
                    <a:lnT>
                      <a:noFill/>
                    </a:lnT>
                    <a:lnB>
                      <a:noFill/>
                    </a:lnB>
                    <a:noFill/>
                  </a:tcPr>
                </a:tc>
                <a:tc>
                  <a:txBody>
                    <a:bodyPr/>
                    <a:lstStyle/>
                    <a:p>
                      <a:pPr>
                        <a:buNone/>
                      </a:pPr>
                      <a:r>
                        <a:rPr lang="en-US" sz="1800">
                          <a:latin typeface="Times New Roman" panose="02020603050405020304" pitchFamily="18" charset="0"/>
                          <a:cs typeface="Times New Roman" panose="02020603050405020304" pitchFamily="18" charset="0"/>
                        </a:rPr>
                        <a:t>Broad overview and context for speech/Braille work.</a:t>
                      </a:r>
                    </a:p>
                  </a:txBody>
                  <a:tcPr marL="25543" marR="25543" marT="12771" marB="12771" anchor="ctr">
                    <a:lnL>
                      <a:noFill/>
                    </a:lnL>
                    <a:lnR>
                      <a:noFill/>
                    </a:lnR>
                    <a:lnT>
                      <a:noFill/>
                    </a:lnT>
                    <a:lnB>
                      <a:noFill/>
                    </a:lnB>
                    <a:noFill/>
                  </a:tcPr>
                </a:tc>
                <a:tc>
                  <a:txBody>
                    <a:bodyPr/>
                    <a:lstStyle/>
                    <a:p>
                      <a:pPr>
                        <a:buNone/>
                      </a:pPr>
                      <a:r>
                        <a:rPr lang="en-IN" sz="1800">
                          <a:latin typeface="Times New Roman" panose="02020603050405020304" pitchFamily="18" charset="0"/>
                          <a:cs typeface="Times New Roman" panose="02020603050405020304" pitchFamily="18" charset="0"/>
                        </a:rPr>
                        <a:t>Focus is general text→Braille.</a:t>
                      </a:r>
                    </a:p>
                  </a:txBody>
                  <a:tcPr marL="25543" marR="25543" marT="12771" marB="12771" anchor="ctr">
                    <a:lnL>
                      <a:noFill/>
                    </a:lnL>
                    <a:lnR>
                      <a:noFill/>
                    </a:lnR>
                    <a:lnT>
                      <a:noFill/>
                    </a:lnT>
                    <a:lnB>
                      <a:noFill/>
                    </a:lnB>
                    <a:noFill/>
                  </a:tcPr>
                </a:tc>
                <a:tc>
                  <a:txBody>
                    <a:bodyPr/>
                    <a:lstStyle/>
                    <a:p>
                      <a:pPr>
                        <a:buNone/>
                      </a:pPr>
                      <a:r>
                        <a:rPr lang="en-IN" sz="1800" dirty="0">
                          <a:latin typeface="Times New Roman" panose="02020603050405020304" pitchFamily="18" charset="0"/>
                          <a:cs typeface="Times New Roman" panose="02020603050405020304" pitchFamily="18" charset="0"/>
                        </a:rPr>
                        <a:t>Journal PDF  </a:t>
                      </a:r>
                      <a:r>
                        <a:rPr lang="en-IN" sz="1800" dirty="0">
                          <a:latin typeface="Times New Roman" panose="02020603050405020304" pitchFamily="18" charset="0"/>
                          <a:cs typeface="Times New Roman" panose="02020603050405020304" pitchFamily="18" charset="0"/>
                          <a:hlinkClick r:id="rId3"/>
                        </a:rPr>
                        <a:t>IJAEM</a:t>
                      </a:r>
                      <a:endParaRPr lang="en-IN" sz="1800" dirty="0">
                        <a:latin typeface="Times New Roman" panose="02020603050405020304" pitchFamily="18" charset="0"/>
                        <a:cs typeface="Times New Roman" panose="02020603050405020304" pitchFamily="18" charset="0"/>
                      </a:endParaRPr>
                    </a:p>
                  </a:txBody>
                  <a:tcPr marL="25543" marR="25543" marT="12771" marB="12771" anchor="ctr">
                    <a:lnL>
                      <a:noFill/>
                    </a:lnL>
                    <a:lnR>
                      <a:noFill/>
                    </a:lnR>
                    <a:lnT>
                      <a:noFill/>
                    </a:lnT>
                    <a:lnB>
                      <a:noFill/>
                    </a:lnB>
                    <a:noFill/>
                  </a:tcPr>
                </a:tc>
                <a:extLst>
                  <a:ext uri="{0D108BD9-81ED-4DB2-BD59-A6C34878D82A}">
                    <a16:rowId xmlns:a16="http://schemas.microsoft.com/office/drawing/2014/main" val="289985118"/>
                  </a:ext>
                </a:extLst>
              </a:tr>
              <a:tr h="1338249">
                <a:tc>
                  <a:txBody>
                    <a:bodyPr/>
                    <a:lstStyle/>
                    <a:p>
                      <a:pPr>
                        <a:buNone/>
                      </a:pPr>
                      <a:r>
                        <a:rPr lang="en-IN" sz="1800" b="1">
                          <a:latin typeface="Times New Roman" panose="02020603050405020304" pitchFamily="18" charset="0"/>
                          <a:cs typeface="Times New Roman" panose="02020603050405020304" pitchFamily="18" charset="0"/>
                        </a:rPr>
                        <a:t>10</a:t>
                      </a:r>
                      <a:endParaRPr lang="en-IN" sz="1800">
                        <a:latin typeface="Times New Roman" panose="02020603050405020304" pitchFamily="18" charset="0"/>
                        <a:cs typeface="Times New Roman" panose="02020603050405020304" pitchFamily="18" charset="0"/>
                      </a:endParaRPr>
                    </a:p>
                  </a:txBody>
                  <a:tcPr marL="25543" marR="25543" marT="12771" marB="12771" anchor="ctr">
                    <a:lnL>
                      <a:noFill/>
                    </a:lnL>
                    <a:lnR>
                      <a:noFill/>
                    </a:lnR>
                    <a:lnT>
                      <a:noFill/>
                    </a:lnT>
                    <a:lnB>
                      <a:noFill/>
                    </a:lnB>
                    <a:noFill/>
                  </a:tcPr>
                </a:tc>
                <a:tc>
                  <a:txBody>
                    <a:bodyPr/>
                    <a:lstStyle/>
                    <a:p>
                      <a:pPr>
                        <a:buNone/>
                      </a:pPr>
                      <a:r>
                        <a:rPr lang="en-US" sz="1800" i="1">
                          <a:latin typeface="Times New Roman" panose="02020603050405020304" pitchFamily="18" charset="0"/>
                          <a:cs typeface="Times New Roman" panose="02020603050405020304" pitchFamily="18" charset="0"/>
                        </a:rPr>
                        <a:t>Design and Implementation of Digital Braille System for the Visually Impaired</a:t>
                      </a:r>
                      <a:r>
                        <a:rPr lang="en-US" sz="1800">
                          <a:latin typeface="Times New Roman" panose="02020603050405020304" pitchFamily="18" charset="0"/>
                          <a:cs typeface="Times New Roman" panose="02020603050405020304" pitchFamily="18" charset="0"/>
                        </a:rPr>
                        <a:t> — Shalini et al. (2020)</a:t>
                      </a:r>
                    </a:p>
                  </a:txBody>
                  <a:tcPr marL="25543" marR="25543" marT="12771" marB="12771" anchor="ctr">
                    <a:lnL>
                      <a:noFill/>
                    </a:lnL>
                    <a:lnR>
                      <a:noFill/>
                    </a:lnR>
                    <a:lnT>
                      <a:noFill/>
                    </a:lnT>
                    <a:lnB>
                      <a:noFill/>
                    </a:lnB>
                    <a:noFill/>
                  </a:tcPr>
                </a:tc>
                <a:tc>
                  <a:txBody>
                    <a:bodyPr/>
                    <a:lstStyle/>
                    <a:p>
                      <a:pPr>
                        <a:buNone/>
                      </a:pPr>
                      <a:r>
                        <a:rPr lang="en-IN" sz="1800">
                          <a:latin typeface="Times New Roman" panose="02020603050405020304" pitchFamily="18" charset="0"/>
                          <a:cs typeface="Times New Roman" panose="02020603050405020304" pitchFamily="18" charset="0"/>
                        </a:rPr>
                        <a:t>Hardware implementation of digital Braille conversion system.</a:t>
                      </a:r>
                    </a:p>
                  </a:txBody>
                  <a:tcPr marL="25543" marR="25543" marT="12771" marB="12771" anchor="ctr">
                    <a:lnL>
                      <a:noFill/>
                    </a:lnL>
                    <a:lnR>
                      <a:noFill/>
                    </a:lnR>
                    <a:lnT>
                      <a:noFill/>
                    </a:lnT>
                    <a:lnB>
                      <a:noFill/>
                    </a:lnB>
                    <a:noFill/>
                  </a:tcPr>
                </a:tc>
                <a:tc>
                  <a:txBody>
                    <a:bodyPr/>
                    <a:lstStyle/>
                    <a:p>
                      <a:pPr>
                        <a:buNone/>
                      </a:pPr>
                      <a:r>
                        <a:rPr lang="en-IN" sz="1800">
                          <a:latin typeface="Times New Roman" panose="02020603050405020304" pitchFamily="18" charset="0"/>
                          <a:cs typeface="Times New Roman" panose="02020603050405020304" pitchFamily="18" charset="0"/>
                        </a:rPr>
                        <a:t>Practical implementation; real PDF.</a:t>
                      </a:r>
                    </a:p>
                  </a:txBody>
                  <a:tcPr marL="25543" marR="25543" marT="12771" marB="12771" anchor="ctr">
                    <a:lnL>
                      <a:noFill/>
                    </a:lnL>
                    <a:lnR>
                      <a:noFill/>
                    </a:lnR>
                    <a:lnT>
                      <a:noFill/>
                    </a:lnT>
                    <a:lnB>
                      <a:noFill/>
                    </a:lnB>
                    <a:noFill/>
                  </a:tcPr>
                </a:tc>
                <a:tc>
                  <a:txBody>
                    <a:bodyPr/>
                    <a:lstStyle/>
                    <a:p>
                      <a:pPr>
                        <a:buNone/>
                      </a:pPr>
                      <a:r>
                        <a:rPr lang="en-US" sz="1800">
                          <a:latin typeface="Times New Roman" panose="02020603050405020304" pitchFamily="18" charset="0"/>
                          <a:cs typeface="Times New Roman" panose="02020603050405020304" pitchFamily="18" charset="0"/>
                        </a:rPr>
                        <a:t>May not include speech input directly.</a:t>
                      </a:r>
                    </a:p>
                  </a:txBody>
                  <a:tcPr marL="25543" marR="25543" marT="12771" marB="12771" anchor="ctr">
                    <a:lnL>
                      <a:noFill/>
                    </a:lnL>
                    <a:lnR>
                      <a:noFill/>
                    </a:lnR>
                    <a:lnT>
                      <a:noFill/>
                    </a:lnT>
                    <a:lnB>
                      <a:noFill/>
                    </a:lnB>
                    <a:noFill/>
                  </a:tcPr>
                </a:tc>
                <a:tc>
                  <a:txBody>
                    <a:bodyPr/>
                    <a:lstStyle/>
                    <a:p>
                      <a:pPr>
                        <a:buNone/>
                      </a:pPr>
                      <a:r>
                        <a:rPr lang="en-US" sz="1800" dirty="0">
                          <a:latin typeface="Times New Roman" panose="02020603050405020304" pitchFamily="18" charset="0"/>
                          <a:cs typeface="Times New Roman" panose="02020603050405020304" pitchFamily="18" charset="0"/>
                        </a:rPr>
                        <a:t>Pdf  </a:t>
                      </a:r>
                      <a:r>
                        <a:rPr lang="en-US" sz="1800" dirty="0">
                          <a:latin typeface="Times New Roman" panose="02020603050405020304" pitchFamily="18" charset="0"/>
                          <a:cs typeface="Times New Roman" panose="02020603050405020304" pitchFamily="18" charset="0"/>
                          <a:hlinkClick r:id="rId4"/>
                        </a:rPr>
                        <a:t>Seventh Sense Research Group®</a:t>
                      </a:r>
                      <a:endParaRPr lang="en-US" sz="1800" dirty="0">
                        <a:latin typeface="Times New Roman" panose="02020603050405020304" pitchFamily="18" charset="0"/>
                        <a:cs typeface="Times New Roman" panose="02020603050405020304" pitchFamily="18" charset="0"/>
                      </a:endParaRPr>
                    </a:p>
                  </a:txBody>
                  <a:tcPr marL="25543" marR="25543" marT="12771" marB="12771" anchor="ctr">
                    <a:lnL>
                      <a:noFill/>
                    </a:lnL>
                    <a:lnR>
                      <a:noFill/>
                    </a:lnR>
                    <a:lnT>
                      <a:noFill/>
                    </a:lnT>
                    <a:lnB>
                      <a:noFill/>
                    </a:lnB>
                    <a:noFill/>
                  </a:tcPr>
                </a:tc>
                <a:extLst>
                  <a:ext uri="{0D108BD9-81ED-4DB2-BD59-A6C34878D82A}">
                    <a16:rowId xmlns:a16="http://schemas.microsoft.com/office/drawing/2014/main" val="4050116265"/>
                  </a:ext>
                </a:extLst>
              </a:tr>
            </a:tbl>
          </a:graphicData>
        </a:graphic>
      </p:graphicFrame>
      <p:pic>
        <p:nvPicPr>
          <p:cNvPr id="5" name="Google Shape;201;p24">
            <a:extLst>
              <a:ext uri="{FF2B5EF4-FFF2-40B4-BE49-F238E27FC236}">
                <a16:creationId xmlns:a16="http://schemas.microsoft.com/office/drawing/2014/main" id="{F2B4B5C8-503E-85C8-5D2B-98A8865941ED}"/>
              </a:ext>
            </a:extLst>
          </p:cNvPr>
          <p:cNvPicPr preferRelativeResize="0"/>
          <p:nvPr/>
        </p:nvPicPr>
        <p:blipFill rotWithShape="1">
          <a:blip r:embed="rId5"/>
          <a:srcRect/>
          <a:stretch>
            <a:fillRect/>
          </a:stretch>
        </p:blipFill>
        <p:spPr>
          <a:xfrm>
            <a:off x="10920412" y="158750"/>
            <a:ext cx="981075" cy="838200"/>
          </a:xfrm>
          <a:prstGeom prst="rect">
            <a:avLst/>
          </a:prstGeom>
          <a:noFill/>
          <a:ln>
            <a:noFill/>
          </a:ln>
        </p:spPr>
      </p:pic>
    </p:spTree>
    <p:extLst>
      <p:ext uri="{BB962C8B-B14F-4D97-AF65-F5344CB8AC3E}">
        <p14:creationId xmlns:p14="http://schemas.microsoft.com/office/powerpoint/2010/main" val="3802320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865E1-819E-87B7-9A5E-8D0F08E88758}"/>
              </a:ext>
            </a:extLst>
          </p:cNvPr>
          <p:cNvSpPr>
            <a:spLocks noGrp="1"/>
          </p:cNvSpPr>
          <p:nvPr>
            <p:ph type="title"/>
          </p:nvPr>
        </p:nvSpPr>
        <p:spPr/>
        <p:txBody>
          <a:bodyPr>
            <a:normAutofit/>
          </a:bodyPr>
          <a:lstStyle/>
          <a:p>
            <a:r>
              <a:rPr lang="en-US" sz="2000" b="1" u="sng" dirty="0">
                <a:latin typeface="Times New Roman" panose="02020603050405020304" pitchFamily="18" charset="0"/>
                <a:cs typeface="Times New Roman" panose="02020603050405020304" pitchFamily="18" charset="0"/>
              </a:rPr>
              <a:t>Motivation</a:t>
            </a:r>
            <a:endParaRPr lang="en-IN" sz="2000" b="1" u="sng"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A108C63C-93F7-8357-62DE-2306B3FEB373}"/>
              </a:ext>
            </a:extLst>
          </p:cNvPr>
          <p:cNvSpPr>
            <a:spLocks noGrp="1" noChangeArrowheads="1"/>
          </p:cNvSpPr>
          <p:nvPr>
            <p:ph idx="1"/>
          </p:nvPr>
        </p:nvSpPr>
        <p:spPr bwMode="auto">
          <a:xfrm>
            <a:off x="985521" y="2097088"/>
            <a:ext cx="1019048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Commercial Braille devices are very expensive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Many visually impaired people cannot afford them</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solutions are not user-friendly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motivated us to design a low-cost assistive system</a:t>
            </a:r>
          </a:p>
        </p:txBody>
      </p:sp>
      <p:pic>
        <p:nvPicPr>
          <p:cNvPr id="5" name="Google Shape;201;p24">
            <a:extLst>
              <a:ext uri="{FF2B5EF4-FFF2-40B4-BE49-F238E27FC236}">
                <a16:creationId xmlns:a16="http://schemas.microsoft.com/office/drawing/2014/main" id="{78FFF3A9-E633-4816-0DB0-505B5DAB38EC}"/>
              </a:ext>
            </a:extLst>
          </p:cNvPr>
          <p:cNvPicPr preferRelativeResize="0"/>
          <p:nvPr/>
        </p:nvPicPr>
        <p:blipFill rotWithShape="1">
          <a:blip r:embed="rId2"/>
          <a:srcRect/>
          <a:stretch>
            <a:fillRect/>
          </a:stretch>
        </p:blipFill>
        <p:spPr>
          <a:xfrm>
            <a:off x="10920412" y="158750"/>
            <a:ext cx="981075" cy="838200"/>
          </a:xfrm>
          <a:prstGeom prst="rect">
            <a:avLst/>
          </a:prstGeom>
          <a:noFill/>
          <a:ln>
            <a:noFill/>
          </a:ln>
        </p:spPr>
      </p:pic>
    </p:spTree>
    <p:extLst>
      <p:ext uri="{BB962C8B-B14F-4D97-AF65-F5344CB8AC3E}">
        <p14:creationId xmlns:p14="http://schemas.microsoft.com/office/powerpoint/2010/main" val="2533155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F344B-04AE-24F5-0FDD-60952C0AD301}"/>
              </a:ext>
            </a:extLst>
          </p:cNvPr>
          <p:cNvSpPr>
            <a:spLocks noGrp="1"/>
          </p:cNvSpPr>
          <p:nvPr>
            <p:ph type="title"/>
          </p:nvPr>
        </p:nvSpPr>
        <p:spPr>
          <a:xfrm>
            <a:off x="1141413" y="618518"/>
            <a:ext cx="9905998" cy="1007082"/>
          </a:xfrm>
        </p:spPr>
        <p:txBody>
          <a:bodyPr>
            <a:normAutofit/>
          </a:bodyPr>
          <a:lstStyle/>
          <a:p>
            <a:r>
              <a:rPr lang="en-US" sz="2000" b="1" u="sng" dirty="0">
                <a:latin typeface="Times New Roman" panose="02020603050405020304" pitchFamily="18" charset="0"/>
                <a:cs typeface="Times New Roman" panose="02020603050405020304" pitchFamily="18" charset="0"/>
              </a:rPr>
              <a:t>Objective</a:t>
            </a:r>
            <a:endParaRPr lang="en-IN" sz="2000" b="1" u="sng"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6BE449C9-A4FE-8F49-94B6-3500E0910AE6}"/>
              </a:ext>
            </a:extLst>
          </p:cNvPr>
          <p:cNvSpPr>
            <a:spLocks noGrp="1" noChangeArrowheads="1"/>
          </p:cNvSpPr>
          <p:nvPr>
            <p:ph idx="1"/>
          </p:nvPr>
        </p:nvSpPr>
        <p:spPr bwMode="auto">
          <a:xfrm>
            <a:off x="1051718" y="2082800"/>
            <a:ext cx="1008538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convert spoken words into Braille characters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design a simple and affordable assistive system</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help visually impaired users access spoken information</a:t>
            </a:r>
          </a:p>
        </p:txBody>
      </p:sp>
      <p:pic>
        <p:nvPicPr>
          <p:cNvPr id="5" name="Google Shape;201;p24">
            <a:extLst>
              <a:ext uri="{FF2B5EF4-FFF2-40B4-BE49-F238E27FC236}">
                <a16:creationId xmlns:a16="http://schemas.microsoft.com/office/drawing/2014/main" id="{54165D76-03B0-9B7F-56B8-D9DEEC3E0633}"/>
              </a:ext>
            </a:extLst>
          </p:cNvPr>
          <p:cNvPicPr preferRelativeResize="0"/>
          <p:nvPr/>
        </p:nvPicPr>
        <p:blipFill rotWithShape="1">
          <a:blip r:embed="rId2"/>
          <a:srcRect/>
          <a:stretch>
            <a:fillRect/>
          </a:stretch>
        </p:blipFill>
        <p:spPr>
          <a:xfrm>
            <a:off x="10920412" y="158750"/>
            <a:ext cx="981075" cy="838200"/>
          </a:xfrm>
          <a:prstGeom prst="rect">
            <a:avLst/>
          </a:prstGeom>
          <a:noFill/>
          <a:ln>
            <a:noFill/>
          </a:ln>
        </p:spPr>
      </p:pic>
    </p:spTree>
    <p:extLst>
      <p:ext uri="{BB962C8B-B14F-4D97-AF65-F5344CB8AC3E}">
        <p14:creationId xmlns:p14="http://schemas.microsoft.com/office/powerpoint/2010/main" val="15749199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CEECD-98DC-11F2-0049-EE7F867230CF}"/>
              </a:ext>
            </a:extLst>
          </p:cNvPr>
          <p:cNvSpPr>
            <a:spLocks noGrp="1"/>
          </p:cNvSpPr>
          <p:nvPr>
            <p:ph type="title"/>
          </p:nvPr>
        </p:nvSpPr>
        <p:spPr/>
        <p:txBody>
          <a:bodyPr>
            <a:normAutofit/>
          </a:bodyPr>
          <a:lstStyle/>
          <a:p>
            <a:r>
              <a:rPr lang="en-US" sz="2000" b="1" u="sng" dirty="0">
                <a:latin typeface="Times New Roman" panose="02020603050405020304" pitchFamily="18" charset="0"/>
                <a:cs typeface="Times New Roman" panose="02020603050405020304" pitchFamily="18" charset="0"/>
              </a:rPr>
              <a:t>Existing Method</a:t>
            </a:r>
            <a:endParaRPr lang="en-IN" sz="2000" b="1" u="sng"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9E110915-F458-6EED-C1C3-E79A9CB11EF3}"/>
              </a:ext>
            </a:extLst>
          </p:cNvPr>
          <p:cNvSpPr>
            <a:spLocks noGrp="1" noChangeArrowheads="1"/>
          </p:cNvSpPr>
          <p:nvPr>
            <p:ph idx="1"/>
          </p:nvPr>
        </p:nvSpPr>
        <p:spPr bwMode="auto">
          <a:xfrm>
            <a:off x="1141413" y="2407920"/>
            <a:ext cx="1018698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systems convert text into Braille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must type the text manually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speech conversion is not supported</a:t>
            </a:r>
          </a:p>
        </p:txBody>
      </p:sp>
      <p:pic>
        <p:nvPicPr>
          <p:cNvPr id="5" name="Google Shape;201;p24">
            <a:extLst>
              <a:ext uri="{FF2B5EF4-FFF2-40B4-BE49-F238E27FC236}">
                <a16:creationId xmlns:a16="http://schemas.microsoft.com/office/drawing/2014/main" id="{6E7322AF-3C63-CD83-2F24-0CA49C28D988}"/>
              </a:ext>
            </a:extLst>
          </p:cNvPr>
          <p:cNvPicPr preferRelativeResize="0"/>
          <p:nvPr/>
        </p:nvPicPr>
        <p:blipFill rotWithShape="1">
          <a:blip r:embed="rId2"/>
          <a:srcRect/>
          <a:stretch>
            <a:fillRect/>
          </a:stretch>
        </p:blipFill>
        <p:spPr>
          <a:xfrm>
            <a:off x="10920412" y="158750"/>
            <a:ext cx="981075" cy="838200"/>
          </a:xfrm>
          <a:prstGeom prst="rect">
            <a:avLst/>
          </a:prstGeom>
          <a:noFill/>
          <a:ln>
            <a:noFill/>
          </a:ln>
        </p:spPr>
      </p:pic>
    </p:spTree>
    <p:extLst>
      <p:ext uri="{BB962C8B-B14F-4D97-AF65-F5344CB8AC3E}">
        <p14:creationId xmlns:p14="http://schemas.microsoft.com/office/powerpoint/2010/main" val="30053025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C2ACA-A5A8-063A-26A7-A42B4B2CE847}"/>
              </a:ext>
            </a:extLst>
          </p:cNvPr>
          <p:cNvSpPr>
            <a:spLocks noGrp="1"/>
          </p:cNvSpPr>
          <p:nvPr>
            <p:ph type="title"/>
          </p:nvPr>
        </p:nvSpPr>
        <p:spPr/>
        <p:txBody>
          <a:bodyPr>
            <a:normAutofit/>
          </a:bodyPr>
          <a:lstStyle/>
          <a:p>
            <a:r>
              <a:rPr lang="en-US" sz="2000" b="1" u="sng" dirty="0">
                <a:latin typeface="Times New Roman" panose="02020603050405020304" pitchFamily="18" charset="0"/>
                <a:cs typeface="Times New Roman" panose="02020603050405020304" pitchFamily="18" charset="0"/>
              </a:rPr>
              <a:t>Proposed Method</a:t>
            </a:r>
            <a:endParaRPr lang="en-IN" sz="2000" b="1" u="sng"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A3EE0910-770B-C57F-9155-34A6DA1BAD8E}"/>
              </a:ext>
            </a:extLst>
          </p:cNvPr>
          <p:cNvSpPr>
            <a:spLocks noGrp="1" noChangeArrowheads="1"/>
          </p:cNvSpPr>
          <p:nvPr>
            <p:ph idx="1"/>
          </p:nvPr>
        </p:nvSpPr>
        <p:spPr bwMode="auto">
          <a:xfrm>
            <a:off x="1141413" y="2222362"/>
            <a:ext cx="10491788"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speaks through a microphone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Speech is converted into text using Python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Text is converted into Braille patterns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Braille output is produced using solenoids</a:t>
            </a:r>
          </a:p>
        </p:txBody>
      </p:sp>
      <p:pic>
        <p:nvPicPr>
          <p:cNvPr id="5" name="Google Shape;201;p24">
            <a:extLst>
              <a:ext uri="{FF2B5EF4-FFF2-40B4-BE49-F238E27FC236}">
                <a16:creationId xmlns:a16="http://schemas.microsoft.com/office/drawing/2014/main" id="{EFA9D7A0-9DE0-1463-15C7-8C4757EE511B}"/>
              </a:ext>
            </a:extLst>
          </p:cNvPr>
          <p:cNvPicPr preferRelativeResize="0"/>
          <p:nvPr/>
        </p:nvPicPr>
        <p:blipFill rotWithShape="1">
          <a:blip r:embed="rId2"/>
          <a:srcRect/>
          <a:stretch>
            <a:fillRect/>
          </a:stretch>
        </p:blipFill>
        <p:spPr>
          <a:xfrm>
            <a:off x="10920412" y="158750"/>
            <a:ext cx="981075" cy="838200"/>
          </a:xfrm>
          <a:prstGeom prst="rect">
            <a:avLst/>
          </a:prstGeom>
          <a:noFill/>
          <a:ln>
            <a:noFill/>
          </a:ln>
        </p:spPr>
      </p:pic>
    </p:spTree>
    <p:extLst>
      <p:ext uri="{BB962C8B-B14F-4D97-AF65-F5344CB8AC3E}">
        <p14:creationId xmlns:p14="http://schemas.microsoft.com/office/powerpoint/2010/main" val="332664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0935D-A742-5CD4-5DF3-00001DB75FEE}"/>
              </a:ext>
            </a:extLst>
          </p:cNvPr>
          <p:cNvSpPr>
            <a:spLocks noGrp="1"/>
          </p:cNvSpPr>
          <p:nvPr>
            <p:ph type="title"/>
          </p:nvPr>
        </p:nvSpPr>
        <p:spPr>
          <a:xfrm>
            <a:off x="1266668" y="852198"/>
            <a:ext cx="9905998" cy="1088362"/>
          </a:xfrm>
        </p:spPr>
        <p:txBody>
          <a:bodyPr>
            <a:normAutofit/>
          </a:bodyPr>
          <a:lstStyle/>
          <a:p>
            <a:r>
              <a:rPr lang="en-IN" sz="2000" b="1" dirty="0">
                <a:latin typeface="Times New Roman" panose="02020603050405020304" pitchFamily="18" charset="0"/>
                <a:cs typeface="Times New Roman" panose="02020603050405020304" pitchFamily="18" charset="0"/>
              </a:rPr>
              <a:t>PROPOSED WORK: SPEECH MODULE</a:t>
            </a:r>
          </a:p>
        </p:txBody>
      </p:sp>
      <p:sp>
        <p:nvSpPr>
          <p:cNvPr id="4" name="Rectangle 1">
            <a:extLst>
              <a:ext uri="{FF2B5EF4-FFF2-40B4-BE49-F238E27FC236}">
                <a16:creationId xmlns:a16="http://schemas.microsoft.com/office/drawing/2014/main" id="{7C0A9C36-6548-4486-F0DD-FD1265F64804}"/>
              </a:ext>
            </a:extLst>
          </p:cNvPr>
          <p:cNvSpPr>
            <a:spLocks noGrp="1" noChangeArrowheads="1"/>
          </p:cNvSpPr>
          <p:nvPr>
            <p:ph idx="1"/>
          </p:nvPr>
        </p:nvSpPr>
        <p:spPr bwMode="auto">
          <a:xfrm>
            <a:off x="1141413" y="2174240"/>
            <a:ext cx="1015650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Microphone captures the user’s voice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Speech-to-text module converts voice into text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Converted text is sent to the controller</a:t>
            </a:r>
          </a:p>
        </p:txBody>
      </p:sp>
      <p:pic>
        <p:nvPicPr>
          <p:cNvPr id="5" name="Google Shape;201;p24">
            <a:extLst>
              <a:ext uri="{FF2B5EF4-FFF2-40B4-BE49-F238E27FC236}">
                <a16:creationId xmlns:a16="http://schemas.microsoft.com/office/drawing/2014/main" id="{6AE66443-FE8D-C5B6-ED35-9AAD78D616AF}"/>
              </a:ext>
            </a:extLst>
          </p:cNvPr>
          <p:cNvPicPr preferRelativeResize="0"/>
          <p:nvPr/>
        </p:nvPicPr>
        <p:blipFill rotWithShape="1">
          <a:blip r:embed="rId2"/>
          <a:srcRect/>
          <a:stretch>
            <a:fillRect/>
          </a:stretch>
        </p:blipFill>
        <p:spPr>
          <a:xfrm>
            <a:off x="10920412" y="158750"/>
            <a:ext cx="981075" cy="838200"/>
          </a:xfrm>
          <a:prstGeom prst="rect">
            <a:avLst/>
          </a:prstGeom>
          <a:noFill/>
          <a:ln>
            <a:noFill/>
          </a:ln>
        </p:spPr>
      </p:pic>
    </p:spTree>
    <p:extLst>
      <p:ext uri="{BB962C8B-B14F-4D97-AF65-F5344CB8AC3E}">
        <p14:creationId xmlns:p14="http://schemas.microsoft.com/office/powerpoint/2010/main" val="26216660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36E66-D618-FAF2-435E-FCCCCCF48687}"/>
              </a:ext>
            </a:extLst>
          </p:cNvPr>
          <p:cNvSpPr>
            <a:spLocks noGrp="1"/>
          </p:cNvSpPr>
          <p:nvPr>
            <p:ph type="title"/>
          </p:nvPr>
        </p:nvSpPr>
        <p:spPr/>
        <p:txBody>
          <a:bodyPr>
            <a:normAutofit/>
          </a:bodyPr>
          <a:lstStyle/>
          <a:p>
            <a:br>
              <a:rPr lang="en-US"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PROPOSED WORK: CONTROLLER UNIT</a:t>
            </a:r>
          </a:p>
        </p:txBody>
      </p:sp>
      <p:sp>
        <p:nvSpPr>
          <p:cNvPr id="4" name="Rectangle 1">
            <a:extLst>
              <a:ext uri="{FF2B5EF4-FFF2-40B4-BE49-F238E27FC236}">
                <a16:creationId xmlns:a16="http://schemas.microsoft.com/office/drawing/2014/main" id="{56140F7C-0161-BC26-91B7-265104FB63D6}"/>
              </a:ext>
            </a:extLst>
          </p:cNvPr>
          <p:cNvSpPr>
            <a:spLocks noGrp="1" noChangeArrowheads="1"/>
          </p:cNvSpPr>
          <p:nvPr>
            <p:ph idx="1"/>
          </p:nvPr>
        </p:nvSpPr>
        <p:spPr bwMode="auto">
          <a:xfrm>
            <a:off x="1141413" y="2346960"/>
            <a:ext cx="990599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Controller receives Braille code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Controls solenoids based on Braille pattern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Ensures correct dot representation</a:t>
            </a:r>
          </a:p>
        </p:txBody>
      </p:sp>
      <p:pic>
        <p:nvPicPr>
          <p:cNvPr id="5" name="Google Shape;201;p24">
            <a:extLst>
              <a:ext uri="{FF2B5EF4-FFF2-40B4-BE49-F238E27FC236}">
                <a16:creationId xmlns:a16="http://schemas.microsoft.com/office/drawing/2014/main" id="{D10A4330-E136-9B32-C2C7-B67F3B361C57}"/>
              </a:ext>
            </a:extLst>
          </p:cNvPr>
          <p:cNvPicPr preferRelativeResize="0"/>
          <p:nvPr/>
        </p:nvPicPr>
        <p:blipFill rotWithShape="1">
          <a:blip r:embed="rId2"/>
          <a:srcRect/>
          <a:stretch>
            <a:fillRect/>
          </a:stretch>
        </p:blipFill>
        <p:spPr>
          <a:xfrm>
            <a:off x="10920412" y="158750"/>
            <a:ext cx="981075" cy="838200"/>
          </a:xfrm>
          <a:prstGeom prst="rect">
            <a:avLst/>
          </a:prstGeom>
          <a:noFill/>
          <a:ln>
            <a:noFill/>
          </a:ln>
        </p:spPr>
      </p:pic>
    </p:spTree>
    <p:extLst>
      <p:ext uri="{BB962C8B-B14F-4D97-AF65-F5344CB8AC3E}">
        <p14:creationId xmlns:p14="http://schemas.microsoft.com/office/powerpoint/2010/main" val="604956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B1D50-1EC7-589E-67C4-8CF50AF8304D}"/>
              </a:ext>
            </a:extLst>
          </p:cNvPr>
          <p:cNvSpPr>
            <a:spLocks noGrp="1"/>
          </p:cNvSpPr>
          <p:nvPr>
            <p:ph type="title"/>
          </p:nvPr>
        </p:nvSpPr>
        <p:spPr>
          <a:xfrm>
            <a:off x="855188" y="506758"/>
            <a:ext cx="9905998" cy="1478570"/>
          </a:xfrm>
        </p:spPr>
        <p:txBody>
          <a:bodyPr>
            <a:normAutofit/>
          </a:bodyPr>
          <a:lstStyle/>
          <a:p>
            <a:r>
              <a:rPr lang="en-US" sz="2000" b="1" dirty="0">
                <a:latin typeface="Times New Roman" panose="02020603050405020304" pitchFamily="18" charset="0"/>
                <a:cs typeface="Times New Roman" panose="02020603050405020304" pitchFamily="18" charset="0"/>
              </a:rPr>
              <a:t>PROPOSED WORK: BRAILLE OUTPUT UNIT</a:t>
            </a:r>
            <a:endParaRPr lang="en-IN" sz="2000"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6FC5CA16-B176-AB23-FD81-132F096D7AFF}"/>
              </a:ext>
            </a:extLst>
          </p:cNvPr>
          <p:cNvSpPr>
            <a:spLocks noGrp="1" noChangeArrowheads="1"/>
          </p:cNvSpPr>
          <p:nvPr>
            <p:ph idx="1"/>
          </p:nvPr>
        </p:nvSpPr>
        <p:spPr bwMode="auto">
          <a:xfrm>
            <a:off x="963613" y="2121746"/>
            <a:ext cx="1009554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Six solenoids represent six Braille dots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Raised solenoid indicates a dot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Characters are displayed one by one</a:t>
            </a:r>
          </a:p>
        </p:txBody>
      </p:sp>
      <p:pic>
        <p:nvPicPr>
          <p:cNvPr id="5" name="Google Shape;201;p24">
            <a:extLst>
              <a:ext uri="{FF2B5EF4-FFF2-40B4-BE49-F238E27FC236}">
                <a16:creationId xmlns:a16="http://schemas.microsoft.com/office/drawing/2014/main" id="{721BB1F3-8251-C174-A36A-1F049F694BD7}"/>
              </a:ext>
            </a:extLst>
          </p:cNvPr>
          <p:cNvPicPr preferRelativeResize="0"/>
          <p:nvPr/>
        </p:nvPicPr>
        <p:blipFill rotWithShape="1">
          <a:blip r:embed="rId2"/>
          <a:srcRect/>
          <a:stretch>
            <a:fillRect/>
          </a:stretch>
        </p:blipFill>
        <p:spPr>
          <a:xfrm>
            <a:off x="10920412" y="158750"/>
            <a:ext cx="981075" cy="838200"/>
          </a:xfrm>
          <a:prstGeom prst="rect">
            <a:avLst/>
          </a:prstGeom>
          <a:noFill/>
          <a:ln>
            <a:noFill/>
          </a:ln>
        </p:spPr>
      </p:pic>
    </p:spTree>
    <p:extLst>
      <p:ext uri="{BB962C8B-B14F-4D97-AF65-F5344CB8AC3E}">
        <p14:creationId xmlns:p14="http://schemas.microsoft.com/office/powerpoint/2010/main" val="3642139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02201-A386-4376-E40F-8E90DB9046F3}"/>
              </a:ext>
            </a:extLst>
          </p:cNvPr>
          <p:cNvSpPr>
            <a:spLocks noGrp="1"/>
          </p:cNvSpPr>
          <p:nvPr>
            <p:ph type="title"/>
          </p:nvPr>
        </p:nvSpPr>
        <p:spPr>
          <a:xfrm>
            <a:off x="1141413" y="618518"/>
            <a:ext cx="9905998" cy="1037562"/>
          </a:xfrm>
        </p:spPr>
        <p:txBody>
          <a:bodyPr>
            <a:normAutofit/>
          </a:bodyPr>
          <a:lstStyle/>
          <a:p>
            <a:r>
              <a:rPr lang="en-US" sz="2000" b="1" u="sng" dirty="0">
                <a:latin typeface="Times New Roman" panose="02020603050405020304" pitchFamily="18" charset="0"/>
                <a:cs typeface="Times New Roman" panose="02020603050405020304" pitchFamily="18" charset="0"/>
              </a:rPr>
              <a:t>Block Diagram</a:t>
            </a:r>
            <a:endParaRPr lang="en-IN" sz="2000"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49716A7-54F1-5AE6-4558-1C2F9929D1F5}"/>
              </a:ext>
            </a:extLst>
          </p:cNvPr>
          <p:cNvSpPr>
            <a:spLocks noGrp="1"/>
          </p:cNvSpPr>
          <p:nvPr>
            <p:ph idx="1"/>
          </p:nvPr>
        </p:nvSpPr>
        <p:spPr>
          <a:xfrm>
            <a:off x="1141412" y="1656080"/>
            <a:ext cx="9905999" cy="4135121"/>
          </a:xfrm>
        </p:spPr>
        <p:txBody>
          <a:bodyPr>
            <a:normAutofit/>
          </a:bodyPr>
          <a:lstStyle/>
          <a:p>
            <a:pPr marL="0" indent="0">
              <a:buNone/>
            </a:pPr>
            <a:r>
              <a:rPr lang="en-IN" sz="1800" b="1" dirty="0">
                <a:latin typeface="Times New Roman" panose="02020603050405020304" pitchFamily="18" charset="0"/>
                <a:cs typeface="Times New Roman" panose="02020603050405020304" pitchFamily="18" charset="0"/>
              </a:rPr>
              <a:t>                                                                   Microphone</a:t>
            </a:r>
          </a:p>
          <a:p>
            <a:pPr marL="0" indent="0">
              <a:buNone/>
            </a:pPr>
            <a:r>
              <a:rPr lang="en-IN" sz="1800" b="1" dirty="0">
                <a:latin typeface="Times New Roman" panose="02020603050405020304" pitchFamily="18" charset="0"/>
                <a:cs typeface="Times New Roman" panose="02020603050405020304" pitchFamily="18" charset="0"/>
              </a:rPr>
              <a:t>                                                                           ↓</a:t>
            </a:r>
          </a:p>
          <a:p>
            <a:pPr marL="0" indent="0">
              <a:buNone/>
            </a:pPr>
            <a:r>
              <a:rPr lang="en-IN" sz="1800" b="1" dirty="0">
                <a:latin typeface="Times New Roman" panose="02020603050405020304" pitchFamily="18" charset="0"/>
                <a:cs typeface="Times New Roman" panose="02020603050405020304" pitchFamily="18" charset="0"/>
              </a:rPr>
              <a:t>                                                          Speech-to-Text Module</a:t>
            </a:r>
          </a:p>
          <a:p>
            <a:pPr marL="0" indent="0">
              <a:buNone/>
            </a:pPr>
            <a:r>
              <a:rPr lang="en-IN" sz="1800" b="1" dirty="0">
                <a:latin typeface="Times New Roman" panose="02020603050405020304" pitchFamily="18" charset="0"/>
                <a:cs typeface="Times New Roman" panose="02020603050405020304" pitchFamily="18" charset="0"/>
              </a:rPr>
              <a:t>                                                                           ↓</a:t>
            </a:r>
          </a:p>
          <a:p>
            <a:pPr marL="0" indent="0">
              <a:buNone/>
            </a:pPr>
            <a:r>
              <a:rPr lang="en-IN" sz="1800" b="1" dirty="0">
                <a:latin typeface="Times New Roman" panose="02020603050405020304" pitchFamily="18" charset="0"/>
                <a:cs typeface="Times New Roman" panose="02020603050405020304" pitchFamily="18" charset="0"/>
              </a:rPr>
              <a:t>                                                               Braille Converter</a:t>
            </a:r>
          </a:p>
          <a:p>
            <a:pPr marL="0" indent="0">
              <a:buNone/>
            </a:pPr>
            <a:r>
              <a:rPr lang="en-IN" sz="1800" b="1" dirty="0">
                <a:latin typeface="Times New Roman" panose="02020603050405020304" pitchFamily="18" charset="0"/>
                <a:cs typeface="Times New Roman" panose="02020603050405020304" pitchFamily="18" charset="0"/>
              </a:rPr>
              <a:t>                                                                           ↓</a:t>
            </a:r>
          </a:p>
          <a:p>
            <a:pPr marL="0" indent="0">
              <a:buNone/>
            </a:pPr>
            <a:r>
              <a:rPr lang="en-IN" sz="1800" b="1" dirty="0">
                <a:latin typeface="Times New Roman" panose="02020603050405020304" pitchFamily="18" charset="0"/>
                <a:cs typeface="Times New Roman" panose="02020603050405020304" pitchFamily="18" charset="0"/>
              </a:rPr>
              <a:t>                                                                ESP32 / Arduino</a:t>
            </a:r>
          </a:p>
          <a:p>
            <a:pPr marL="0" indent="0">
              <a:buNone/>
            </a:pPr>
            <a:r>
              <a:rPr lang="en-IN" sz="1800" b="1" dirty="0">
                <a:latin typeface="Times New Roman" panose="02020603050405020304" pitchFamily="18" charset="0"/>
                <a:cs typeface="Times New Roman" panose="02020603050405020304" pitchFamily="18" charset="0"/>
              </a:rPr>
              <a:t>                                                                           ↓</a:t>
            </a:r>
          </a:p>
          <a:p>
            <a:pPr marL="0" indent="0">
              <a:buNone/>
            </a:pPr>
            <a:r>
              <a:rPr lang="en-IN" sz="1800" b="1" dirty="0">
                <a:latin typeface="Times New Roman" panose="02020603050405020304" pitchFamily="18" charset="0"/>
                <a:cs typeface="Times New Roman" panose="02020603050405020304" pitchFamily="18" charset="0"/>
              </a:rPr>
              <a:t>                                                              Braille Output Unit</a:t>
            </a:r>
          </a:p>
        </p:txBody>
      </p:sp>
      <p:pic>
        <p:nvPicPr>
          <p:cNvPr id="4" name="Google Shape;201;p24">
            <a:extLst>
              <a:ext uri="{FF2B5EF4-FFF2-40B4-BE49-F238E27FC236}">
                <a16:creationId xmlns:a16="http://schemas.microsoft.com/office/drawing/2014/main" id="{69D8A49E-51AE-5E75-48EB-4E0392A2B145}"/>
              </a:ext>
            </a:extLst>
          </p:cNvPr>
          <p:cNvPicPr preferRelativeResize="0"/>
          <p:nvPr/>
        </p:nvPicPr>
        <p:blipFill rotWithShape="1">
          <a:blip r:embed="rId2"/>
          <a:srcRect/>
          <a:stretch>
            <a:fillRect/>
          </a:stretch>
        </p:blipFill>
        <p:spPr>
          <a:xfrm>
            <a:off x="10920412" y="158750"/>
            <a:ext cx="981075" cy="838200"/>
          </a:xfrm>
          <a:prstGeom prst="rect">
            <a:avLst/>
          </a:prstGeom>
          <a:noFill/>
          <a:ln>
            <a:noFill/>
          </a:ln>
        </p:spPr>
      </p:pic>
    </p:spTree>
    <p:extLst>
      <p:ext uri="{BB962C8B-B14F-4D97-AF65-F5344CB8AC3E}">
        <p14:creationId xmlns:p14="http://schemas.microsoft.com/office/powerpoint/2010/main" val="7751380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53A12-248D-87A0-B863-C2C208C9E534}"/>
              </a:ext>
            </a:extLst>
          </p:cNvPr>
          <p:cNvSpPr>
            <a:spLocks noGrp="1"/>
          </p:cNvSpPr>
          <p:nvPr>
            <p:ph type="title"/>
          </p:nvPr>
        </p:nvSpPr>
        <p:spPr/>
        <p:txBody>
          <a:bodyPr>
            <a:normAutofit/>
          </a:bodyPr>
          <a:lstStyle/>
          <a:p>
            <a:r>
              <a:rPr lang="en-US" sz="2000" b="1" u="sng" dirty="0">
                <a:latin typeface="Times New Roman" panose="02020603050405020304" pitchFamily="18" charset="0"/>
                <a:cs typeface="Times New Roman" panose="02020603050405020304" pitchFamily="18" charset="0"/>
              </a:rPr>
              <a:t>Hardware Used</a:t>
            </a:r>
            <a:endParaRPr lang="en-IN" sz="2000" b="1" u="sng"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1EE29B78-9810-4F18-B4F0-46758FAF1D28}"/>
              </a:ext>
            </a:extLst>
          </p:cNvPr>
          <p:cNvSpPr>
            <a:spLocks noGrp="1" noChangeArrowheads="1"/>
          </p:cNvSpPr>
          <p:nvPr>
            <p:ph idx="1"/>
          </p:nvPr>
        </p:nvSpPr>
        <p:spPr bwMode="auto">
          <a:xfrm>
            <a:off x="1141413" y="2097088"/>
            <a:ext cx="9658668"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ESP32 / Arduino</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Microphone module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Solenoids / vibration motors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Driver circuit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Power supply</a:t>
            </a:r>
          </a:p>
        </p:txBody>
      </p:sp>
      <p:pic>
        <p:nvPicPr>
          <p:cNvPr id="5" name="Google Shape;201;p24">
            <a:extLst>
              <a:ext uri="{FF2B5EF4-FFF2-40B4-BE49-F238E27FC236}">
                <a16:creationId xmlns:a16="http://schemas.microsoft.com/office/drawing/2014/main" id="{FD0CF441-1988-38CF-340A-86C88D4AD48F}"/>
              </a:ext>
            </a:extLst>
          </p:cNvPr>
          <p:cNvPicPr preferRelativeResize="0"/>
          <p:nvPr/>
        </p:nvPicPr>
        <p:blipFill rotWithShape="1">
          <a:blip r:embed="rId2"/>
          <a:srcRect/>
          <a:stretch>
            <a:fillRect/>
          </a:stretch>
        </p:blipFill>
        <p:spPr>
          <a:xfrm>
            <a:off x="10920412" y="158750"/>
            <a:ext cx="981075" cy="838200"/>
          </a:xfrm>
          <a:prstGeom prst="rect">
            <a:avLst/>
          </a:prstGeom>
          <a:noFill/>
          <a:ln>
            <a:noFill/>
          </a:ln>
        </p:spPr>
      </p:pic>
    </p:spTree>
    <p:extLst>
      <p:ext uri="{BB962C8B-B14F-4D97-AF65-F5344CB8AC3E}">
        <p14:creationId xmlns:p14="http://schemas.microsoft.com/office/powerpoint/2010/main" val="824580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65772-4096-B5E4-EACF-C965BBBC343E}"/>
              </a:ext>
            </a:extLst>
          </p:cNvPr>
          <p:cNvSpPr>
            <a:spLocks noGrp="1"/>
          </p:cNvSpPr>
          <p:nvPr>
            <p:ph type="title"/>
          </p:nvPr>
        </p:nvSpPr>
        <p:spPr>
          <a:xfrm>
            <a:off x="1144589" y="980150"/>
            <a:ext cx="9905998" cy="1478570"/>
          </a:xfrm>
        </p:spPr>
        <p:txBody>
          <a:bodyPr>
            <a:normAutofit/>
          </a:bodyPr>
          <a:lstStyle/>
          <a:p>
            <a:r>
              <a:rPr lang="en-US" sz="2000" b="1" u="sng" dirty="0">
                <a:latin typeface="Times New Roman" panose="02020603050405020304" pitchFamily="18" charset="0"/>
                <a:cs typeface="Times New Roman" panose="02020603050405020304" pitchFamily="18" charset="0"/>
              </a:rPr>
              <a:t>Software Used</a:t>
            </a:r>
            <a:endParaRPr lang="en-IN" sz="2000" b="1" u="sng"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CF3BDC44-9028-15BD-593E-2364270982C5}"/>
              </a:ext>
            </a:extLst>
          </p:cNvPr>
          <p:cNvSpPr>
            <a:spLocks noGrp="1" noChangeArrowheads="1"/>
          </p:cNvSpPr>
          <p:nvPr>
            <p:ph idx="1"/>
          </p:nvPr>
        </p:nvSpPr>
        <p:spPr bwMode="auto">
          <a:xfrm>
            <a:off x="1141413" y="2458720"/>
            <a:ext cx="918114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Python (Speech Recognition)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Arduino IDE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Serial / Bluetooth communication</a:t>
            </a:r>
          </a:p>
        </p:txBody>
      </p:sp>
      <p:pic>
        <p:nvPicPr>
          <p:cNvPr id="5" name="Google Shape;201;p24">
            <a:extLst>
              <a:ext uri="{FF2B5EF4-FFF2-40B4-BE49-F238E27FC236}">
                <a16:creationId xmlns:a16="http://schemas.microsoft.com/office/drawing/2014/main" id="{F3B9DA46-8F80-242E-E652-0B3311381634}"/>
              </a:ext>
            </a:extLst>
          </p:cNvPr>
          <p:cNvPicPr preferRelativeResize="0"/>
          <p:nvPr/>
        </p:nvPicPr>
        <p:blipFill rotWithShape="1">
          <a:blip r:embed="rId2"/>
          <a:srcRect/>
          <a:stretch>
            <a:fillRect/>
          </a:stretch>
        </p:blipFill>
        <p:spPr>
          <a:xfrm>
            <a:off x="10920412" y="158750"/>
            <a:ext cx="981075" cy="838200"/>
          </a:xfrm>
          <a:prstGeom prst="rect">
            <a:avLst/>
          </a:prstGeom>
          <a:noFill/>
          <a:ln>
            <a:noFill/>
          </a:ln>
        </p:spPr>
      </p:pic>
    </p:spTree>
    <p:extLst>
      <p:ext uri="{BB962C8B-B14F-4D97-AF65-F5344CB8AC3E}">
        <p14:creationId xmlns:p14="http://schemas.microsoft.com/office/powerpoint/2010/main" val="34176234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81602-FFD6-8968-6CE7-C26389745288}"/>
              </a:ext>
            </a:extLst>
          </p:cNvPr>
          <p:cNvSpPr>
            <a:spLocks noGrp="1"/>
          </p:cNvSpPr>
          <p:nvPr>
            <p:ph type="title"/>
          </p:nvPr>
        </p:nvSpPr>
        <p:spPr/>
        <p:txBody>
          <a:bodyPr>
            <a:normAutofit/>
          </a:bodyPr>
          <a:lstStyle/>
          <a:p>
            <a:r>
              <a:rPr lang="en-US" sz="2000" b="1" u="sng" dirty="0">
                <a:latin typeface="Times New Roman" panose="02020603050405020304" pitchFamily="18" charset="0"/>
                <a:cs typeface="Times New Roman" panose="02020603050405020304" pitchFamily="18" charset="0"/>
              </a:rPr>
              <a:t>Applications</a:t>
            </a:r>
            <a:endParaRPr lang="en-IN" sz="2000" b="1" u="sng"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895AB027-FE74-7752-2A1F-C2A5FBA12B8C}"/>
              </a:ext>
            </a:extLst>
          </p:cNvPr>
          <p:cNvSpPr>
            <a:spLocks noGrp="1" noChangeArrowheads="1"/>
          </p:cNvSpPr>
          <p:nvPr>
            <p:ph idx="1"/>
          </p:nvPr>
        </p:nvSpPr>
        <p:spPr bwMode="auto">
          <a:xfrm>
            <a:off x="1141413" y="2204720"/>
            <a:ext cx="998378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Schools for visually impaired students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Assistive reading devices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Public information systems</a:t>
            </a:r>
          </a:p>
        </p:txBody>
      </p:sp>
      <p:pic>
        <p:nvPicPr>
          <p:cNvPr id="5" name="Google Shape;201;p24">
            <a:extLst>
              <a:ext uri="{FF2B5EF4-FFF2-40B4-BE49-F238E27FC236}">
                <a16:creationId xmlns:a16="http://schemas.microsoft.com/office/drawing/2014/main" id="{C2849FB0-1FEA-513E-CDA4-2EADC734BF8B}"/>
              </a:ext>
            </a:extLst>
          </p:cNvPr>
          <p:cNvPicPr preferRelativeResize="0"/>
          <p:nvPr/>
        </p:nvPicPr>
        <p:blipFill rotWithShape="1">
          <a:blip r:embed="rId2"/>
          <a:srcRect/>
          <a:stretch>
            <a:fillRect/>
          </a:stretch>
        </p:blipFill>
        <p:spPr>
          <a:xfrm>
            <a:off x="10920412" y="158750"/>
            <a:ext cx="981075" cy="838200"/>
          </a:xfrm>
          <a:prstGeom prst="rect">
            <a:avLst/>
          </a:prstGeom>
          <a:noFill/>
          <a:ln>
            <a:noFill/>
          </a:ln>
        </p:spPr>
      </p:pic>
    </p:spTree>
    <p:extLst>
      <p:ext uri="{BB962C8B-B14F-4D97-AF65-F5344CB8AC3E}">
        <p14:creationId xmlns:p14="http://schemas.microsoft.com/office/powerpoint/2010/main" val="42935323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37C31-9303-BA1A-8043-41A50A59EFD3}"/>
              </a:ext>
            </a:extLst>
          </p:cNvPr>
          <p:cNvSpPr>
            <a:spLocks noGrp="1"/>
          </p:cNvSpPr>
          <p:nvPr>
            <p:ph type="title"/>
          </p:nvPr>
        </p:nvSpPr>
        <p:spPr/>
        <p:txBody>
          <a:bodyPr>
            <a:normAutofit/>
          </a:bodyPr>
          <a:lstStyle/>
          <a:p>
            <a:r>
              <a:rPr lang="en-US" sz="2000" b="1" u="sng" dirty="0">
                <a:latin typeface="Times New Roman" panose="02020603050405020304" pitchFamily="18" charset="0"/>
                <a:cs typeface="Times New Roman" panose="02020603050405020304" pitchFamily="18" charset="0"/>
              </a:rPr>
              <a:t>Advantages</a:t>
            </a:r>
            <a:endParaRPr lang="en-IN" sz="2000" b="1" u="sng"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7148064B-49BF-64E9-D904-24370B778FBA}"/>
              </a:ext>
            </a:extLst>
          </p:cNvPr>
          <p:cNvSpPr>
            <a:spLocks noGrp="1" noChangeArrowheads="1"/>
          </p:cNvSpPr>
          <p:nvPr>
            <p:ph idx="1"/>
          </p:nvPr>
        </p:nvSpPr>
        <p:spPr bwMode="auto">
          <a:xfrm>
            <a:off x="1141413" y="2171562"/>
            <a:ext cx="9905998"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 cost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Simple design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Easy to use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Socially beneficial</a:t>
            </a:r>
          </a:p>
        </p:txBody>
      </p:sp>
      <p:pic>
        <p:nvPicPr>
          <p:cNvPr id="5" name="Google Shape;201;p24">
            <a:extLst>
              <a:ext uri="{FF2B5EF4-FFF2-40B4-BE49-F238E27FC236}">
                <a16:creationId xmlns:a16="http://schemas.microsoft.com/office/drawing/2014/main" id="{B1209ACC-5E90-34D1-73D8-229480AAC1CF}"/>
              </a:ext>
            </a:extLst>
          </p:cNvPr>
          <p:cNvPicPr preferRelativeResize="0"/>
          <p:nvPr/>
        </p:nvPicPr>
        <p:blipFill rotWithShape="1">
          <a:blip r:embed="rId2"/>
          <a:srcRect/>
          <a:stretch>
            <a:fillRect/>
          </a:stretch>
        </p:blipFill>
        <p:spPr>
          <a:xfrm>
            <a:off x="10920412" y="158750"/>
            <a:ext cx="981075" cy="838200"/>
          </a:xfrm>
          <a:prstGeom prst="rect">
            <a:avLst/>
          </a:prstGeom>
          <a:noFill/>
          <a:ln>
            <a:noFill/>
          </a:ln>
        </p:spPr>
      </p:pic>
    </p:spTree>
    <p:extLst>
      <p:ext uri="{BB962C8B-B14F-4D97-AF65-F5344CB8AC3E}">
        <p14:creationId xmlns:p14="http://schemas.microsoft.com/office/powerpoint/2010/main" val="29293888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8ECD1-69FC-DACB-DD29-6C9D55746827}"/>
              </a:ext>
            </a:extLst>
          </p:cNvPr>
          <p:cNvSpPr>
            <a:spLocks noGrp="1"/>
          </p:cNvSpPr>
          <p:nvPr>
            <p:ph type="title"/>
          </p:nvPr>
        </p:nvSpPr>
        <p:spPr>
          <a:xfrm>
            <a:off x="838200" y="593725"/>
            <a:ext cx="10515600" cy="1325563"/>
          </a:xfrm>
        </p:spPr>
        <p:txBody>
          <a:bodyPr>
            <a:normAutofit/>
          </a:bodyPr>
          <a:lstStyle/>
          <a:p>
            <a:r>
              <a:rPr lang="en-US" sz="2000" b="1" u="sng" dirty="0">
                <a:latin typeface="Times New Roman" panose="02020603050405020304" pitchFamily="18" charset="0"/>
                <a:ea typeface="Microsoft Sans Serif" panose="020B0604020202020204" pitchFamily="34" charset="0"/>
                <a:cs typeface="Times New Roman" panose="02020603050405020304" pitchFamily="18" charset="0"/>
              </a:rPr>
              <a:t>System Architecture/Proposed work Block diagram</a:t>
            </a:r>
            <a:endParaRPr lang="en-IN" sz="2000" b="1" u="sng" dirty="0"/>
          </a:p>
        </p:txBody>
      </p:sp>
      <p:sp>
        <p:nvSpPr>
          <p:cNvPr id="3" name="Content Placeholder 2">
            <a:extLst>
              <a:ext uri="{FF2B5EF4-FFF2-40B4-BE49-F238E27FC236}">
                <a16:creationId xmlns:a16="http://schemas.microsoft.com/office/drawing/2014/main" id="{764338C8-7517-C263-3520-95354F800985}"/>
              </a:ext>
            </a:extLst>
          </p:cNvPr>
          <p:cNvSpPr>
            <a:spLocks noGrp="1"/>
          </p:cNvSpPr>
          <p:nvPr>
            <p:ph idx="1"/>
          </p:nvPr>
        </p:nvSpPr>
        <p:spPr>
          <a:xfrm>
            <a:off x="838200" y="2213769"/>
            <a:ext cx="10515600" cy="3790792"/>
          </a:xfrm>
        </p:spPr>
        <p:txBody>
          <a:bodyPr>
            <a:normAutofit/>
          </a:bodyPr>
          <a:lstStyle/>
          <a:p>
            <a:pPr marL="0" indent="0">
              <a:buNone/>
            </a:pPr>
            <a:r>
              <a:rPr lang="en-US" sz="1800" b="1" dirty="0">
                <a:latin typeface="Times New Roman" panose="02020603050405020304" pitchFamily="18" charset="0"/>
                <a:cs typeface="Times New Roman" panose="02020603050405020304" pitchFamily="18" charset="0"/>
              </a:rPr>
              <a:t>  System Architecture </a:t>
            </a:r>
          </a:p>
          <a:p>
            <a:pPr marL="0" indent="0">
              <a:buNone/>
            </a:pPr>
            <a:endParaRPr lang="en-US" sz="1800" b="1" i="1"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Our system is designed to convert spoken words into Braille</a:t>
            </a:r>
          </a:p>
          <a:p>
            <a:r>
              <a:rPr lang="en-US" sz="1800" dirty="0">
                <a:latin typeface="Times New Roman" panose="02020603050405020304" pitchFamily="18" charset="0"/>
                <a:cs typeface="Times New Roman" panose="02020603050405020304" pitchFamily="18" charset="0"/>
              </a:rPr>
              <a:t>It mainly helps visually impaired people understand voice-based information</a:t>
            </a:r>
          </a:p>
          <a:p>
            <a:r>
              <a:rPr lang="en-US" sz="1800" dirty="0">
                <a:latin typeface="Times New Roman" panose="02020603050405020304" pitchFamily="18" charset="0"/>
                <a:cs typeface="Times New Roman" panose="02020603050405020304" pitchFamily="18" charset="0"/>
              </a:rPr>
              <a:t>The system uses a combination of software and hardware</a:t>
            </a:r>
          </a:p>
          <a:p>
            <a:r>
              <a:rPr lang="en-US" sz="1800" dirty="0">
                <a:latin typeface="Times New Roman" panose="02020603050405020304" pitchFamily="18" charset="0"/>
                <a:cs typeface="Times New Roman" panose="02020603050405020304" pitchFamily="18" charset="0"/>
              </a:rPr>
              <a:t>Voice input is processed and shown as Braille dots</a:t>
            </a:r>
          </a:p>
        </p:txBody>
      </p:sp>
      <p:pic>
        <p:nvPicPr>
          <p:cNvPr id="4" name="Google Shape;201;p24">
            <a:extLst>
              <a:ext uri="{FF2B5EF4-FFF2-40B4-BE49-F238E27FC236}">
                <a16:creationId xmlns:a16="http://schemas.microsoft.com/office/drawing/2014/main" id="{3CB4FBB6-C4B2-2E3D-FBAD-D5842561FF9E}"/>
              </a:ext>
            </a:extLst>
          </p:cNvPr>
          <p:cNvPicPr preferRelativeResize="0"/>
          <p:nvPr/>
        </p:nvPicPr>
        <p:blipFill rotWithShape="1">
          <a:blip r:embed="rId2"/>
          <a:srcRect/>
          <a:stretch>
            <a:fillRect/>
          </a:stretch>
        </p:blipFill>
        <p:spPr>
          <a:xfrm>
            <a:off x="10928879" y="158750"/>
            <a:ext cx="981075" cy="838200"/>
          </a:xfrm>
          <a:prstGeom prst="rect">
            <a:avLst/>
          </a:prstGeom>
          <a:noFill/>
          <a:ln>
            <a:noFill/>
          </a:ln>
        </p:spPr>
      </p:pic>
    </p:spTree>
    <p:extLst>
      <p:ext uri="{BB962C8B-B14F-4D97-AF65-F5344CB8AC3E}">
        <p14:creationId xmlns:p14="http://schemas.microsoft.com/office/powerpoint/2010/main" val="13428804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8F49B-C6A6-E6C2-9A0E-C6F9CC3144CC}"/>
              </a:ext>
            </a:extLst>
          </p:cNvPr>
          <p:cNvSpPr>
            <a:spLocks noGrp="1"/>
          </p:cNvSpPr>
          <p:nvPr>
            <p:ph type="title"/>
          </p:nvPr>
        </p:nvSpPr>
        <p:spPr>
          <a:xfrm>
            <a:off x="838200" y="167005"/>
            <a:ext cx="10515600" cy="1325563"/>
          </a:xfrm>
        </p:spPr>
        <p:txBody>
          <a:bodyPr>
            <a:normAutofit/>
          </a:bodyPr>
          <a:lstStyle/>
          <a:p>
            <a:r>
              <a:rPr lang="en-IN" sz="2000" b="1" dirty="0">
                <a:latin typeface="Times New Roman" panose="02020603050405020304" pitchFamily="18" charset="0"/>
                <a:cs typeface="Times New Roman" panose="02020603050405020304" pitchFamily="18" charset="0"/>
              </a:rPr>
              <a:t>PROPOSED WORK BLOCK DIAGRAM</a:t>
            </a:r>
          </a:p>
        </p:txBody>
      </p:sp>
      <p:sp>
        <p:nvSpPr>
          <p:cNvPr id="3" name="Content Placeholder 2">
            <a:extLst>
              <a:ext uri="{FF2B5EF4-FFF2-40B4-BE49-F238E27FC236}">
                <a16:creationId xmlns:a16="http://schemas.microsoft.com/office/drawing/2014/main" id="{DC45B686-323C-216A-BB2D-832CADDD7EBD}"/>
              </a:ext>
            </a:extLst>
          </p:cNvPr>
          <p:cNvSpPr>
            <a:spLocks noGrp="1"/>
          </p:cNvSpPr>
          <p:nvPr>
            <p:ph idx="1"/>
          </p:nvPr>
        </p:nvSpPr>
        <p:spPr>
          <a:xfrm>
            <a:off x="838200" y="1401128"/>
            <a:ext cx="9433560" cy="5167312"/>
          </a:xfrm>
        </p:spPr>
        <p:txBody>
          <a:bodyPr>
            <a:noAutofit/>
          </a:bodyPr>
          <a:lstStyle/>
          <a:p>
            <a:pPr marL="0" indent="0">
              <a:buNone/>
            </a:pPr>
            <a:r>
              <a:rPr lang="en-IN" sz="1800" b="1" dirty="0">
                <a:latin typeface="Times New Roman" panose="02020603050405020304" pitchFamily="18" charset="0"/>
                <a:cs typeface="Times New Roman" panose="02020603050405020304" pitchFamily="18" charset="0"/>
              </a:rPr>
              <a:t>  Block Diagram of the System</a:t>
            </a:r>
          </a:p>
          <a:p>
            <a:pPr marL="0" indent="0">
              <a:buNone/>
            </a:pPr>
            <a:r>
              <a:rPr lang="en-IN" sz="1800" b="1" dirty="0">
                <a:latin typeface="Times New Roman" panose="02020603050405020304" pitchFamily="18" charset="0"/>
                <a:cs typeface="Times New Roman" panose="02020603050405020304" pitchFamily="18" charset="0"/>
              </a:rPr>
              <a:t>                                                                  User Voice</a:t>
            </a:r>
          </a:p>
          <a:p>
            <a:pPr marL="0" indent="0">
              <a:buNone/>
            </a:pPr>
            <a:r>
              <a:rPr lang="en-IN" sz="1800" b="1" dirty="0">
                <a:latin typeface="Times New Roman" panose="02020603050405020304" pitchFamily="18" charset="0"/>
                <a:cs typeface="Times New Roman" panose="02020603050405020304" pitchFamily="18" charset="0"/>
              </a:rPr>
              <a:t>                                                                        ↓</a:t>
            </a:r>
          </a:p>
          <a:p>
            <a:pPr marL="0" indent="0">
              <a:buNone/>
            </a:pPr>
            <a:r>
              <a:rPr lang="en-IN" sz="1800" b="1" dirty="0">
                <a:latin typeface="Times New Roman" panose="02020603050405020304" pitchFamily="18" charset="0"/>
                <a:cs typeface="Times New Roman" panose="02020603050405020304" pitchFamily="18" charset="0"/>
              </a:rPr>
              <a:t>                                                                 Microphone</a:t>
            </a:r>
          </a:p>
          <a:p>
            <a:pPr marL="0" indent="0">
              <a:buNone/>
            </a:pPr>
            <a:r>
              <a:rPr lang="en-IN" sz="1800" b="1" dirty="0">
                <a:latin typeface="Times New Roman" panose="02020603050405020304" pitchFamily="18" charset="0"/>
                <a:cs typeface="Times New Roman" panose="02020603050405020304" pitchFamily="18" charset="0"/>
              </a:rPr>
              <a:t>                                                                        ↓</a:t>
            </a:r>
          </a:p>
          <a:p>
            <a:pPr marL="0" indent="0">
              <a:buNone/>
            </a:pPr>
            <a:r>
              <a:rPr lang="en-IN" sz="1800" b="1" dirty="0">
                <a:latin typeface="Times New Roman" panose="02020603050405020304" pitchFamily="18" charset="0"/>
                <a:cs typeface="Times New Roman" panose="02020603050405020304" pitchFamily="18" charset="0"/>
              </a:rPr>
              <a:t>                                                         Speech-to-Text Module</a:t>
            </a:r>
          </a:p>
          <a:p>
            <a:pPr marL="0" indent="0">
              <a:buNone/>
            </a:pPr>
            <a:r>
              <a:rPr lang="en-IN" sz="1800" b="1" dirty="0">
                <a:latin typeface="Times New Roman" panose="02020603050405020304" pitchFamily="18" charset="0"/>
                <a:cs typeface="Times New Roman" panose="02020603050405020304" pitchFamily="18" charset="0"/>
              </a:rPr>
              <a:t>                                                                        ↓</a:t>
            </a:r>
          </a:p>
          <a:p>
            <a:pPr marL="0" indent="0">
              <a:buNone/>
            </a:pPr>
            <a:r>
              <a:rPr lang="en-IN" sz="1800" b="1" dirty="0">
                <a:latin typeface="Times New Roman" panose="02020603050405020304" pitchFamily="18" charset="0"/>
                <a:cs typeface="Times New Roman" panose="02020603050405020304" pitchFamily="18" charset="0"/>
              </a:rPr>
              <a:t>                                                         Text to Braille Converter</a:t>
            </a:r>
          </a:p>
          <a:p>
            <a:pPr marL="0" indent="0">
              <a:buNone/>
            </a:pPr>
            <a:r>
              <a:rPr lang="en-IN" sz="1800" b="1" dirty="0">
                <a:latin typeface="Times New Roman" panose="02020603050405020304" pitchFamily="18" charset="0"/>
                <a:cs typeface="Times New Roman" panose="02020603050405020304" pitchFamily="18" charset="0"/>
              </a:rPr>
              <a:t>                                                                        ↓</a:t>
            </a:r>
          </a:p>
          <a:p>
            <a:pPr marL="0" indent="0">
              <a:buNone/>
            </a:pPr>
            <a:r>
              <a:rPr lang="en-IN" sz="1800" b="1" dirty="0">
                <a:latin typeface="Times New Roman" panose="02020603050405020304" pitchFamily="18" charset="0"/>
                <a:cs typeface="Times New Roman" panose="02020603050405020304" pitchFamily="18" charset="0"/>
              </a:rPr>
              <a:t>                                                              ESP32 / Arduino</a:t>
            </a:r>
          </a:p>
          <a:p>
            <a:pPr marL="0" indent="0">
              <a:buNone/>
            </a:pPr>
            <a:r>
              <a:rPr lang="en-IN" sz="1800" b="1" dirty="0">
                <a:latin typeface="Times New Roman" panose="02020603050405020304" pitchFamily="18" charset="0"/>
                <a:cs typeface="Times New Roman" panose="02020603050405020304" pitchFamily="18" charset="0"/>
              </a:rPr>
              <a:t>                                                                        ↓</a:t>
            </a:r>
          </a:p>
          <a:p>
            <a:pPr marL="0" indent="0">
              <a:buNone/>
            </a:pPr>
            <a:r>
              <a:rPr lang="en-IN" sz="1800" b="1" dirty="0">
                <a:latin typeface="Times New Roman" panose="02020603050405020304" pitchFamily="18" charset="0"/>
                <a:cs typeface="Times New Roman" panose="02020603050405020304" pitchFamily="18" charset="0"/>
              </a:rPr>
              <a:t>                                                               Driver Circuit</a:t>
            </a:r>
          </a:p>
          <a:p>
            <a:pPr marL="0" indent="0">
              <a:buNone/>
            </a:pPr>
            <a:r>
              <a:rPr lang="en-IN" sz="1800" b="1" dirty="0">
                <a:latin typeface="Times New Roman" panose="02020603050405020304" pitchFamily="18" charset="0"/>
                <a:cs typeface="Times New Roman" panose="02020603050405020304" pitchFamily="18" charset="0"/>
              </a:rPr>
              <a:t>                                                                        ↓</a:t>
            </a:r>
          </a:p>
          <a:p>
            <a:pPr marL="0" indent="0">
              <a:buNone/>
            </a:pPr>
            <a:r>
              <a:rPr lang="en-IN" sz="1800" b="1" dirty="0">
                <a:latin typeface="Times New Roman" panose="02020603050405020304" pitchFamily="18" charset="0"/>
                <a:cs typeface="Times New Roman" panose="02020603050405020304" pitchFamily="18" charset="0"/>
              </a:rPr>
              <a:t>                                                           Braille Output Unit</a:t>
            </a:r>
          </a:p>
        </p:txBody>
      </p:sp>
      <p:pic>
        <p:nvPicPr>
          <p:cNvPr id="4" name="Google Shape;201;p24">
            <a:extLst>
              <a:ext uri="{FF2B5EF4-FFF2-40B4-BE49-F238E27FC236}">
                <a16:creationId xmlns:a16="http://schemas.microsoft.com/office/drawing/2014/main" id="{EB5851E3-77B6-C22F-3C1E-9743407D30F5}"/>
              </a:ext>
            </a:extLst>
          </p:cNvPr>
          <p:cNvPicPr preferRelativeResize="0"/>
          <p:nvPr/>
        </p:nvPicPr>
        <p:blipFill rotWithShape="1">
          <a:blip r:embed="rId2"/>
          <a:srcRect/>
          <a:stretch>
            <a:fillRect/>
          </a:stretch>
        </p:blipFill>
        <p:spPr>
          <a:xfrm>
            <a:off x="10928879" y="158750"/>
            <a:ext cx="981075" cy="838200"/>
          </a:xfrm>
          <a:prstGeom prst="rect">
            <a:avLst/>
          </a:prstGeom>
          <a:noFill/>
          <a:ln>
            <a:noFill/>
          </a:ln>
        </p:spPr>
      </p:pic>
    </p:spTree>
    <p:extLst>
      <p:ext uri="{BB962C8B-B14F-4D97-AF65-F5344CB8AC3E}">
        <p14:creationId xmlns:p14="http://schemas.microsoft.com/office/powerpoint/2010/main" val="8614029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F370B-24C5-30A9-BFDF-3F7C253A1499}"/>
              </a:ext>
            </a:extLst>
          </p:cNvPr>
          <p:cNvSpPr>
            <a:spLocks noGrp="1"/>
          </p:cNvSpPr>
          <p:nvPr>
            <p:ph type="title"/>
          </p:nvPr>
        </p:nvSpPr>
        <p:spPr>
          <a:xfrm>
            <a:off x="838200" y="18255"/>
            <a:ext cx="10515600" cy="1325563"/>
          </a:xfrm>
        </p:spPr>
        <p:txBody>
          <a:bodyPr>
            <a:normAutofit/>
          </a:bodyPr>
          <a:lstStyle/>
          <a:p>
            <a:r>
              <a:rPr lang="en-IN" sz="2000" b="1" dirty="0">
                <a:latin typeface="Times New Roman" panose="02020603050405020304" pitchFamily="18" charset="0"/>
                <a:cs typeface="Times New Roman" panose="02020603050405020304" pitchFamily="18" charset="0"/>
              </a:rPr>
              <a:t>BLOCK DIAGRAM WORKING</a:t>
            </a:r>
          </a:p>
        </p:txBody>
      </p:sp>
      <p:sp>
        <p:nvSpPr>
          <p:cNvPr id="3" name="Content Placeholder 2">
            <a:extLst>
              <a:ext uri="{FF2B5EF4-FFF2-40B4-BE49-F238E27FC236}">
                <a16:creationId xmlns:a16="http://schemas.microsoft.com/office/drawing/2014/main" id="{829AC656-5130-902A-6682-9ED15C4BA332}"/>
              </a:ext>
            </a:extLst>
          </p:cNvPr>
          <p:cNvSpPr>
            <a:spLocks noGrp="1"/>
          </p:cNvSpPr>
          <p:nvPr>
            <p:ph idx="1"/>
          </p:nvPr>
        </p:nvSpPr>
        <p:spPr>
          <a:xfrm>
            <a:off x="838200" y="1587658"/>
            <a:ext cx="10515600" cy="5087462"/>
          </a:xfrm>
        </p:spPr>
        <p:txBody>
          <a:bodyPr/>
          <a:lstStyle/>
          <a:p>
            <a:pPr marL="0" indent="0">
              <a:buNone/>
            </a:pPr>
            <a:r>
              <a:rPr lang="en-US" sz="1800" b="1" dirty="0">
                <a:latin typeface="Times New Roman" panose="02020603050405020304" pitchFamily="18" charset="0"/>
                <a:cs typeface="Times New Roman" panose="02020603050405020304" pitchFamily="18" charset="0"/>
              </a:rPr>
              <a:t>  How the System Works </a:t>
            </a:r>
          </a:p>
          <a:p>
            <a:pPr marL="0" indent="0">
              <a:buNone/>
            </a:pPr>
            <a:endParaRPr lang="en-US" sz="1800" b="1"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First, the user speaks near the microphone</a:t>
            </a:r>
          </a:p>
          <a:p>
            <a:r>
              <a:rPr lang="en-US" sz="1800" dirty="0">
                <a:latin typeface="Times New Roman" panose="02020603050405020304" pitchFamily="18" charset="0"/>
                <a:cs typeface="Times New Roman" panose="02020603050405020304" pitchFamily="18" charset="0"/>
              </a:rPr>
              <a:t>The microphone listens and captures the voice</a:t>
            </a:r>
          </a:p>
          <a:p>
            <a:r>
              <a:rPr lang="en-US" sz="1800" dirty="0">
                <a:latin typeface="Times New Roman" panose="02020603050405020304" pitchFamily="18" charset="0"/>
                <a:cs typeface="Times New Roman" panose="02020603050405020304" pitchFamily="18" charset="0"/>
              </a:rPr>
              <a:t>The system converts the voice into text</a:t>
            </a:r>
          </a:p>
          <a:p>
            <a:r>
              <a:rPr lang="en-US" sz="1800" dirty="0">
                <a:latin typeface="Times New Roman" panose="02020603050405020304" pitchFamily="18" charset="0"/>
                <a:cs typeface="Times New Roman" panose="02020603050405020304" pitchFamily="18" charset="0"/>
              </a:rPr>
              <a:t>That text is changed into Braille format</a:t>
            </a:r>
          </a:p>
          <a:p>
            <a:r>
              <a:rPr lang="en-US" sz="1800" dirty="0">
                <a:latin typeface="Times New Roman" panose="02020603050405020304" pitchFamily="18" charset="0"/>
                <a:cs typeface="Times New Roman" panose="02020603050405020304" pitchFamily="18" charset="0"/>
              </a:rPr>
              <a:t>The controller controls the solenoids</a:t>
            </a:r>
          </a:p>
          <a:p>
            <a:r>
              <a:rPr lang="en-US" sz="1800" dirty="0">
                <a:latin typeface="Times New Roman" panose="02020603050405020304" pitchFamily="18" charset="0"/>
                <a:cs typeface="Times New Roman" panose="02020603050405020304" pitchFamily="18" charset="0"/>
              </a:rPr>
              <a:t>Finally, Braille dots are displayed</a:t>
            </a:r>
          </a:p>
          <a:p>
            <a:pPr marL="0" indent="0">
              <a:buNone/>
            </a:pPr>
            <a:endParaRPr lang="en-IN" dirty="0"/>
          </a:p>
        </p:txBody>
      </p:sp>
      <p:pic>
        <p:nvPicPr>
          <p:cNvPr id="4" name="Google Shape;201;p24">
            <a:extLst>
              <a:ext uri="{FF2B5EF4-FFF2-40B4-BE49-F238E27FC236}">
                <a16:creationId xmlns:a16="http://schemas.microsoft.com/office/drawing/2014/main" id="{29098189-93F2-13E5-EDD0-9C98B7478FCC}"/>
              </a:ext>
            </a:extLst>
          </p:cNvPr>
          <p:cNvPicPr preferRelativeResize="0"/>
          <p:nvPr/>
        </p:nvPicPr>
        <p:blipFill rotWithShape="1">
          <a:blip r:embed="rId2"/>
          <a:srcRect/>
          <a:stretch>
            <a:fillRect/>
          </a:stretch>
        </p:blipFill>
        <p:spPr>
          <a:xfrm>
            <a:off x="10928879" y="158750"/>
            <a:ext cx="981075" cy="838200"/>
          </a:xfrm>
          <a:prstGeom prst="rect">
            <a:avLst/>
          </a:prstGeom>
          <a:noFill/>
          <a:ln>
            <a:noFill/>
          </a:ln>
        </p:spPr>
      </p:pic>
    </p:spTree>
    <p:extLst>
      <p:ext uri="{BB962C8B-B14F-4D97-AF65-F5344CB8AC3E}">
        <p14:creationId xmlns:p14="http://schemas.microsoft.com/office/powerpoint/2010/main" val="20675461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89D32-F064-538C-D39B-37FC9768DDEE}"/>
              </a:ext>
            </a:extLst>
          </p:cNvPr>
          <p:cNvSpPr>
            <a:spLocks noGrp="1"/>
          </p:cNvSpPr>
          <p:nvPr>
            <p:ph type="title"/>
          </p:nvPr>
        </p:nvSpPr>
        <p:spPr>
          <a:xfrm>
            <a:off x="838200" y="18255"/>
            <a:ext cx="10515600" cy="1325563"/>
          </a:xfrm>
        </p:spPr>
        <p:txBody>
          <a:bodyPr>
            <a:normAutofit/>
          </a:bodyPr>
          <a:lstStyle/>
          <a:p>
            <a:r>
              <a:rPr lang="en-IN" sz="2000" b="1" u="sng" dirty="0">
                <a:latin typeface="Times New Roman" panose="02020603050405020304" pitchFamily="18" charset="0"/>
                <a:cs typeface="Times New Roman" panose="02020603050405020304" pitchFamily="18" charset="0"/>
              </a:rPr>
              <a:t>UML DIAGRAMS (CSE &amp; ALLIED)</a:t>
            </a:r>
          </a:p>
        </p:txBody>
      </p:sp>
      <p:pic>
        <p:nvPicPr>
          <p:cNvPr id="5" name="Content Placeholder 4">
            <a:extLst>
              <a:ext uri="{FF2B5EF4-FFF2-40B4-BE49-F238E27FC236}">
                <a16:creationId xmlns:a16="http://schemas.microsoft.com/office/drawing/2014/main" id="{B05C6936-9175-DFF1-6D2F-3087F0553BCE}"/>
              </a:ext>
            </a:extLst>
          </p:cNvPr>
          <p:cNvPicPr>
            <a:picLocks noGrp="1" noChangeAspect="1"/>
          </p:cNvPicPr>
          <p:nvPr>
            <p:ph idx="1"/>
          </p:nvPr>
        </p:nvPicPr>
        <p:blipFill>
          <a:blip r:embed="rId2"/>
          <a:stretch>
            <a:fillRect/>
          </a:stretch>
        </p:blipFill>
        <p:spPr>
          <a:xfrm>
            <a:off x="2338027" y="1481138"/>
            <a:ext cx="7515945" cy="4351337"/>
          </a:xfrm>
          <a:prstGeom prst="rect">
            <a:avLst/>
          </a:prstGeom>
        </p:spPr>
      </p:pic>
      <p:pic>
        <p:nvPicPr>
          <p:cNvPr id="6" name="Google Shape;201;p24">
            <a:extLst>
              <a:ext uri="{FF2B5EF4-FFF2-40B4-BE49-F238E27FC236}">
                <a16:creationId xmlns:a16="http://schemas.microsoft.com/office/drawing/2014/main" id="{9D19E5DB-7878-AB3B-36A9-E148C654D586}"/>
              </a:ext>
            </a:extLst>
          </p:cNvPr>
          <p:cNvPicPr preferRelativeResize="0"/>
          <p:nvPr/>
        </p:nvPicPr>
        <p:blipFill rotWithShape="1">
          <a:blip r:embed="rId3"/>
          <a:srcRect/>
          <a:stretch>
            <a:fillRect/>
          </a:stretch>
        </p:blipFill>
        <p:spPr>
          <a:xfrm>
            <a:off x="10928879" y="158750"/>
            <a:ext cx="981075" cy="838200"/>
          </a:xfrm>
          <a:prstGeom prst="rect">
            <a:avLst/>
          </a:prstGeom>
          <a:noFill/>
          <a:ln>
            <a:noFill/>
          </a:ln>
        </p:spPr>
      </p:pic>
    </p:spTree>
    <p:extLst>
      <p:ext uri="{BB962C8B-B14F-4D97-AF65-F5344CB8AC3E}">
        <p14:creationId xmlns:p14="http://schemas.microsoft.com/office/powerpoint/2010/main" val="1230131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A98D8-7A14-2369-5CCC-5305682F2CDE}"/>
              </a:ext>
            </a:extLst>
          </p:cNvPr>
          <p:cNvSpPr>
            <a:spLocks noGrp="1"/>
          </p:cNvSpPr>
          <p:nvPr>
            <p:ph type="title"/>
          </p:nvPr>
        </p:nvSpPr>
        <p:spPr/>
        <p:txBody>
          <a:bodyPr/>
          <a:lstStyle/>
          <a:p>
            <a:r>
              <a:rPr lang="en-US" dirty="0"/>
              <a:t> </a:t>
            </a:r>
            <a:endParaRPr lang="en-IN" dirty="0"/>
          </a:p>
        </p:txBody>
      </p:sp>
      <p:sp>
        <p:nvSpPr>
          <p:cNvPr id="3" name="Content Placeholder 2">
            <a:extLst>
              <a:ext uri="{FF2B5EF4-FFF2-40B4-BE49-F238E27FC236}">
                <a16:creationId xmlns:a16="http://schemas.microsoft.com/office/drawing/2014/main" id="{27719067-B5B3-F63E-E7AF-BE9F6A76C2FC}"/>
              </a:ext>
            </a:extLst>
          </p:cNvPr>
          <p:cNvSpPr>
            <a:spLocks noGrp="1"/>
          </p:cNvSpPr>
          <p:nvPr>
            <p:ph idx="1"/>
          </p:nvPr>
        </p:nvSpPr>
        <p:spPr/>
        <p:txBody>
          <a:bodyPr/>
          <a:lstStyle/>
          <a:p>
            <a:pPr marL="0" indent="0">
              <a:buNone/>
            </a:pPr>
            <a:r>
              <a:rPr lang="en-US" sz="1800" b="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UML Diagrams Overview</a:t>
            </a:r>
          </a:p>
          <a:p>
            <a:pPr marL="0" indent="0">
              <a:buNone/>
            </a:pPr>
            <a:endParaRPr lang="en-US" sz="1800" b="1"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UML diagrams help us understand how the system works</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They show interaction between user and system</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Mainly used in computer science related branches</a:t>
            </a:r>
          </a:p>
          <a:p>
            <a:endParaRPr lang="en-IN" dirty="0"/>
          </a:p>
        </p:txBody>
      </p:sp>
      <p:pic>
        <p:nvPicPr>
          <p:cNvPr id="4" name="Google Shape;201;p24">
            <a:extLst>
              <a:ext uri="{FF2B5EF4-FFF2-40B4-BE49-F238E27FC236}">
                <a16:creationId xmlns:a16="http://schemas.microsoft.com/office/drawing/2014/main" id="{A3B9317F-24B3-7155-13D0-E379DEBEA771}"/>
              </a:ext>
            </a:extLst>
          </p:cNvPr>
          <p:cNvPicPr preferRelativeResize="0"/>
          <p:nvPr/>
        </p:nvPicPr>
        <p:blipFill rotWithShape="1">
          <a:blip r:embed="rId2"/>
          <a:srcRect/>
          <a:stretch>
            <a:fillRect/>
          </a:stretch>
        </p:blipFill>
        <p:spPr>
          <a:xfrm>
            <a:off x="10928879" y="158750"/>
            <a:ext cx="981075" cy="838200"/>
          </a:xfrm>
          <a:prstGeom prst="rect">
            <a:avLst/>
          </a:prstGeom>
          <a:noFill/>
          <a:ln>
            <a:noFill/>
          </a:ln>
        </p:spPr>
      </p:pic>
    </p:spTree>
    <p:extLst>
      <p:ext uri="{BB962C8B-B14F-4D97-AF65-F5344CB8AC3E}">
        <p14:creationId xmlns:p14="http://schemas.microsoft.com/office/powerpoint/2010/main" val="14462116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56855-BCC1-CB94-6316-4A6E17502DE6}"/>
              </a:ext>
            </a:extLst>
          </p:cNvPr>
          <p:cNvSpPr>
            <a:spLocks noGrp="1"/>
          </p:cNvSpPr>
          <p:nvPr>
            <p:ph type="title"/>
          </p:nvPr>
        </p:nvSpPr>
        <p:spPr/>
        <p:txBody>
          <a:bodyPr>
            <a:normAutofit/>
          </a:bodyPr>
          <a:lstStyle/>
          <a:p>
            <a:r>
              <a:rPr lang="en-IN" sz="2000" b="1" dirty="0">
                <a:latin typeface="Times New Roman" panose="02020603050405020304" pitchFamily="18" charset="0"/>
                <a:cs typeface="Times New Roman" panose="02020603050405020304" pitchFamily="18" charset="0"/>
              </a:rPr>
              <a:t>DFD (DATA FLOW DIAGRAM)</a:t>
            </a:r>
          </a:p>
        </p:txBody>
      </p:sp>
      <p:sp>
        <p:nvSpPr>
          <p:cNvPr id="3" name="Content Placeholder 2">
            <a:extLst>
              <a:ext uri="{FF2B5EF4-FFF2-40B4-BE49-F238E27FC236}">
                <a16:creationId xmlns:a16="http://schemas.microsoft.com/office/drawing/2014/main" id="{68A2C725-5731-1C31-33F6-AA1992D5698D}"/>
              </a:ext>
            </a:extLst>
          </p:cNvPr>
          <p:cNvSpPr>
            <a:spLocks noGrp="1"/>
          </p:cNvSpPr>
          <p:nvPr>
            <p:ph idx="1"/>
          </p:nvPr>
        </p:nvSpPr>
        <p:spPr>
          <a:xfrm>
            <a:off x="838200" y="1560582"/>
            <a:ext cx="10515600" cy="4351338"/>
          </a:xfrm>
        </p:spPr>
        <p:txBody>
          <a:bodyPr/>
          <a:lstStyle/>
          <a:p>
            <a:pPr marL="0" indent="0">
              <a:buNone/>
            </a:pPr>
            <a:r>
              <a:rPr lang="en-US" sz="1800" b="1" dirty="0">
                <a:latin typeface="Times New Roman" panose="02020603050405020304" pitchFamily="18" charset="0"/>
                <a:cs typeface="Times New Roman" panose="02020603050405020304" pitchFamily="18" charset="0"/>
              </a:rPr>
              <a:t>   DFD Overview </a:t>
            </a:r>
          </a:p>
          <a:p>
            <a:pPr marL="0" indent="0">
              <a:buNone/>
            </a:pPr>
            <a:endParaRPr lang="en-US" sz="1800" b="1"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DFD shows how data moves inside the system</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Voice data is processed step by step</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Used to explain system flow clearly</a:t>
            </a:r>
          </a:p>
          <a:p>
            <a:endParaRPr lang="en-IN" dirty="0"/>
          </a:p>
        </p:txBody>
      </p:sp>
      <p:pic>
        <p:nvPicPr>
          <p:cNvPr id="4" name="Google Shape;201;p24">
            <a:extLst>
              <a:ext uri="{FF2B5EF4-FFF2-40B4-BE49-F238E27FC236}">
                <a16:creationId xmlns:a16="http://schemas.microsoft.com/office/drawing/2014/main" id="{23025807-BDF5-C71E-526A-767B23BC7967}"/>
              </a:ext>
            </a:extLst>
          </p:cNvPr>
          <p:cNvPicPr preferRelativeResize="0"/>
          <p:nvPr/>
        </p:nvPicPr>
        <p:blipFill rotWithShape="1">
          <a:blip r:embed="rId2"/>
          <a:srcRect/>
          <a:stretch>
            <a:fillRect/>
          </a:stretch>
        </p:blipFill>
        <p:spPr>
          <a:xfrm>
            <a:off x="10928879" y="158750"/>
            <a:ext cx="981075" cy="838200"/>
          </a:xfrm>
          <a:prstGeom prst="rect">
            <a:avLst/>
          </a:prstGeom>
          <a:noFill/>
          <a:ln>
            <a:noFill/>
          </a:ln>
        </p:spPr>
      </p:pic>
    </p:spTree>
    <p:extLst>
      <p:ext uri="{BB962C8B-B14F-4D97-AF65-F5344CB8AC3E}">
        <p14:creationId xmlns:p14="http://schemas.microsoft.com/office/powerpoint/2010/main" val="9604309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5AE9C-95B1-6F5B-751C-896E65283BE7}"/>
              </a:ext>
            </a:extLst>
          </p:cNvPr>
          <p:cNvSpPr>
            <a:spLocks noGrp="1"/>
          </p:cNvSpPr>
          <p:nvPr>
            <p:ph type="title"/>
          </p:nvPr>
        </p:nvSpPr>
        <p:spPr>
          <a:xfrm>
            <a:off x="838200" y="139838"/>
            <a:ext cx="10515600" cy="1325563"/>
          </a:xfrm>
        </p:spPr>
        <p:txBody>
          <a:bodyPr>
            <a:normAutofit/>
          </a:bodyPr>
          <a:lstStyle/>
          <a:p>
            <a:r>
              <a:rPr lang="en-IN" sz="2000" b="1" dirty="0">
                <a:latin typeface="Times New Roman" panose="02020603050405020304" pitchFamily="18" charset="0"/>
                <a:cs typeface="Times New Roman" panose="02020603050405020304" pitchFamily="18" charset="0"/>
              </a:rPr>
              <a:t>DFD  Level 0 &amp; Level 1</a:t>
            </a:r>
          </a:p>
        </p:txBody>
      </p:sp>
      <p:sp>
        <p:nvSpPr>
          <p:cNvPr id="3" name="Content Placeholder 2">
            <a:extLst>
              <a:ext uri="{FF2B5EF4-FFF2-40B4-BE49-F238E27FC236}">
                <a16:creationId xmlns:a16="http://schemas.microsoft.com/office/drawing/2014/main" id="{A35CE22A-EEAA-175E-5880-48992E6C4466}"/>
              </a:ext>
            </a:extLst>
          </p:cNvPr>
          <p:cNvSpPr>
            <a:spLocks noGrp="1"/>
          </p:cNvSpPr>
          <p:nvPr>
            <p:ph idx="1"/>
          </p:nvPr>
        </p:nvSpPr>
        <p:spPr>
          <a:xfrm>
            <a:off x="838200" y="1311965"/>
            <a:ext cx="10515600" cy="4864998"/>
          </a:xfrm>
        </p:spPr>
        <p:txBody>
          <a:bodyPr/>
          <a:lstStyle/>
          <a:p>
            <a:pPr marL="0" indent="0">
              <a:buNone/>
            </a:pPr>
            <a:r>
              <a:rPr lang="en-US" sz="1800" b="1" dirty="0">
                <a:latin typeface="Times New Roman" panose="02020603050405020304" pitchFamily="18" charset="0"/>
                <a:cs typeface="Times New Roman" panose="02020603050405020304" pitchFamily="18" charset="0"/>
              </a:rPr>
              <a:t>   Level 0 DFD (Context Diagram)</a:t>
            </a:r>
          </a:p>
          <a:p>
            <a:endParaRPr lang="en-US" sz="1800" b="1"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User gives voice input</a:t>
            </a:r>
          </a:p>
          <a:p>
            <a:r>
              <a:rPr lang="en-US" sz="1800" dirty="0">
                <a:latin typeface="Times New Roman" panose="02020603050405020304" pitchFamily="18" charset="0"/>
                <a:cs typeface="Times New Roman" panose="02020603050405020304" pitchFamily="18" charset="0"/>
              </a:rPr>
              <a:t>System processes the input</a:t>
            </a:r>
          </a:p>
          <a:p>
            <a:r>
              <a:rPr lang="en-US" sz="1800" dirty="0">
                <a:latin typeface="Times New Roman" panose="02020603050405020304" pitchFamily="18" charset="0"/>
                <a:cs typeface="Times New Roman" panose="02020603050405020304" pitchFamily="18" charset="0"/>
              </a:rPr>
              <a:t>User receives Braille output</a:t>
            </a:r>
          </a:p>
          <a:p>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    Level 1 DFD (Humanized)</a:t>
            </a:r>
          </a:p>
          <a:p>
            <a:endParaRPr lang="en-US" sz="1800" b="1"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Voice is converted into text</a:t>
            </a:r>
          </a:p>
          <a:p>
            <a:r>
              <a:rPr lang="en-US" sz="1800" dirty="0">
                <a:latin typeface="Times New Roman" panose="02020603050405020304" pitchFamily="18" charset="0"/>
                <a:cs typeface="Times New Roman" panose="02020603050405020304" pitchFamily="18" charset="0"/>
              </a:rPr>
              <a:t>Text is converted into Braille</a:t>
            </a:r>
          </a:p>
          <a:p>
            <a:r>
              <a:rPr lang="en-US" sz="1800" dirty="0">
                <a:latin typeface="Times New Roman" panose="02020603050405020304" pitchFamily="18" charset="0"/>
                <a:cs typeface="Times New Roman" panose="02020603050405020304" pitchFamily="18" charset="0"/>
              </a:rPr>
              <a:t>Braille data is sent to the controller</a:t>
            </a:r>
          </a:p>
          <a:p>
            <a:r>
              <a:rPr lang="en-US" sz="1800" dirty="0">
                <a:latin typeface="Times New Roman" panose="02020603050405020304" pitchFamily="18" charset="0"/>
                <a:cs typeface="Times New Roman" panose="02020603050405020304" pitchFamily="18" charset="0"/>
              </a:rPr>
              <a:t>Output is shown using Braille dots</a:t>
            </a:r>
          </a:p>
          <a:p>
            <a:endParaRPr lang="en-IN" dirty="0"/>
          </a:p>
        </p:txBody>
      </p:sp>
      <p:pic>
        <p:nvPicPr>
          <p:cNvPr id="4" name="Google Shape;201;p24">
            <a:extLst>
              <a:ext uri="{FF2B5EF4-FFF2-40B4-BE49-F238E27FC236}">
                <a16:creationId xmlns:a16="http://schemas.microsoft.com/office/drawing/2014/main" id="{D8ADF604-1894-C531-425F-A3A855928439}"/>
              </a:ext>
            </a:extLst>
          </p:cNvPr>
          <p:cNvPicPr preferRelativeResize="0"/>
          <p:nvPr/>
        </p:nvPicPr>
        <p:blipFill rotWithShape="1">
          <a:blip r:embed="rId2"/>
          <a:srcRect/>
          <a:stretch>
            <a:fillRect/>
          </a:stretch>
        </p:blipFill>
        <p:spPr>
          <a:xfrm>
            <a:off x="10928879" y="158750"/>
            <a:ext cx="981075" cy="838200"/>
          </a:xfrm>
          <a:prstGeom prst="rect">
            <a:avLst/>
          </a:prstGeom>
          <a:noFill/>
          <a:ln>
            <a:noFill/>
          </a:ln>
        </p:spPr>
      </p:pic>
    </p:spTree>
    <p:extLst>
      <p:ext uri="{BB962C8B-B14F-4D97-AF65-F5344CB8AC3E}">
        <p14:creationId xmlns:p14="http://schemas.microsoft.com/office/powerpoint/2010/main" val="11834283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0E3DA-AF44-0D1E-309C-3D1953E368B5}"/>
              </a:ext>
            </a:extLst>
          </p:cNvPr>
          <p:cNvSpPr>
            <a:spLocks noGrp="1"/>
          </p:cNvSpPr>
          <p:nvPr>
            <p:ph type="title"/>
          </p:nvPr>
        </p:nvSpPr>
        <p:spPr>
          <a:xfrm>
            <a:off x="838200" y="0"/>
            <a:ext cx="10515600" cy="1325563"/>
          </a:xfrm>
        </p:spPr>
        <p:txBody>
          <a:bodyPr>
            <a:normAutofit/>
          </a:bodyPr>
          <a:lstStyle/>
          <a:p>
            <a:r>
              <a:rPr lang="en-IN" sz="2000" b="1" dirty="0">
                <a:latin typeface="Times New Roman" panose="02020603050405020304" pitchFamily="18" charset="0"/>
                <a:cs typeface="Times New Roman" panose="02020603050405020304" pitchFamily="18" charset="0"/>
              </a:rPr>
              <a:t>PROTOTYPE (OTHERS)</a:t>
            </a:r>
          </a:p>
        </p:txBody>
      </p:sp>
      <p:sp>
        <p:nvSpPr>
          <p:cNvPr id="3" name="Content Placeholder 2">
            <a:extLst>
              <a:ext uri="{FF2B5EF4-FFF2-40B4-BE49-F238E27FC236}">
                <a16:creationId xmlns:a16="http://schemas.microsoft.com/office/drawing/2014/main" id="{39FD926B-FB0F-D5DF-5DA3-270B255CE6B6}"/>
              </a:ext>
            </a:extLst>
          </p:cNvPr>
          <p:cNvSpPr>
            <a:spLocks noGrp="1"/>
          </p:cNvSpPr>
          <p:nvPr>
            <p:ph idx="1"/>
          </p:nvPr>
        </p:nvSpPr>
        <p:spPr>
          <a:xfrm>
            <a:off x="838200" y="1494320"/>
            <a:ext cx="10515600" cy="5025749"/>
          </a:xfrm>
        </p:spPr>
        <p:txBody>
          <a:bodyPr>
            <a:normAutofit/>
          </a:bodyPr>
          <a:lstStyle/>
          <a:p>
            <a:pPr marL="0" indent="0">
              <a:buNone/>
            </a:pPr>
            <a:r>
              <a:rPr lang="en-US" b="1" dirty="0"/>
              <a:t>  </a:t>
            </a:r>
            <a:r>
              <a:rPr lang="en-US" sz="1800" b="1" dirty="0">
                <a:latin typeface="Times New Roman" panose="02020603050405020304" pitchFamily="18" charset="0"/>
                <a:cs typeface="Times New Roman" panose="02020603050405020304" pitchFamily="18" charset="0"/>
              </a:rPr>
              <a:t>Prototype Overview</a:t>
            </a:r>
          </a:p>
          <a:p>
            <a:r>
              <a:rPr lang="en-US" sz="1800" dirty="0">
                <a:latin typeface="Times New Roman" panose="02020603050405020304" pitchFamily="18" charset="0"/>
                <a:cs typeface="Times New Roman" panose="02020603050405020304" pitchFamily="18" charset="0"/>
              </a:rPr>
              <a:t>Prototype is a working model of our system</a:t>
            </a:r>
          </a:p>
          <a:p>
            <a:r>
              <a:rPr lang="en-US" sz="1800" dirty="0">
                <a:latin typeface="Times New Roman" panose="02020603050405020304" pitchFamily="18" charset="0"/>
                <a:cs typeface="Times New Roman" panose="02020603050405020304" pitchFamily="18" charset="0"/>
              </a:rPr>
              <a:t>It shows how voice can be converted into Braille</a:t>
            </a:r>
          </a:p>
          <a:p>
            <a:r>
              <a:rPr lang="en-US" sz="1800" dirty="0">
                <a:latin typeface="Times New Roman" panose="02020603050405020304" pitchFamily="18" charset="0"/>
                <a:cs typeface="Times New Roman" panose="02020603050405020304" pitchFamily="18" charset="0"/>
              </a:rPr>
              <a:t>It works in real time</a:t>
            </a:r>
          </a:p>
          <a:p>
            <a:endParaRPr lang="en-US" sz="1800" dirty="0">
              <a:latin typeface="Times New Roman" panose="02020603050405020304" pitchFamily="18" charset="0"/>
              <a:cs typeface="Times New Roman" panose="02020603050405020304" pitchFamily="18" charset="0"/>
            </a:endParaRPr>
          </a:p>
          <a:p>
            <a:pPr marL="0" indent="0">
              <a:buNone/>
            </a:pPr>
            <a:r>
              <a:rPr lang="en-IN" sz="1800" b="1" dirty="0"/>
              <a:t>   </a:t>
            </a:r>
            <a:r>
              <a:rPr lang="en-IN" sz="1800" b="1" dirty="0">
                <a:latin typeface="Times New Roman" panose="02020603050405020304" pitchFamily="18" charset="0"/>
                <a:cs typeface="Times New Roman" panose="02020603050405020304" pitchFamily="18" charset="0"/>
              </a:rPr>
              <a:t>Components Used</a:t>
            </a:r>
          </a:p>
          <a:p>
            <a:r>
              <a:rPr lang="en-IN" sz="1800" dirty="0">
                <a:latin typeface="Times New Roman" panose="02020603050405020304" pitchFamily="18" charset="0"/>
                <a:cs typeface="Times New Roman" panose="02020603050405020304" pitchFamily="18" charset="0"/>
              </a:rPr>
              <a:t>Microphone</a:t>
            </a:r>
          </a:p>
          <a:p>
            <a:r>
              <a:rPr lang="en-IN" sz="1800" dirty="0">
                <a:latin typeface="Times New Roman" panose="02020603050405020304" pitchFamily="18" charset="0"/>
                <a:cs typeface="Times New Roman" panose="02020603050405020304" pitchFamily="18" charset="0"/>
              </a:rPr>
              <a:t>ESP32 / Arduino</a:t>
            </a:r>
          </a:p>
          <a:p>
            <a:r>
              <a:rPr lang="en-IN" sz="1800" dirty="0">
                <a:latin typeface="Times New Roman" panose="02020603050405020304" pitchFamily="18" charset="0"/>
                <a:cs typeface="Times New Roman" panose="02020603050405020304" pitchFamily="18" charset="0"/>
              </a:rPr>
              <a:t>Solenoids</a:t>
            </a:r>
          </a:p>
          <a:p>
            <a:r>
              <a:rPr lang="en-IN" sz="1800" dirty="0">
                <a:latin typeface="Times New Roman" panose="02020603050405020304" pitchFamily="18" charset="0"/>
                <a:cs typeface="Times New Roman" panose="02020603050405020304" pitchFamily="18" charset="0"/>
              </a:rPr>
              <a:t>Driver circuit</a:t>
            </a:r>
          </a:p>
          <a:p>
            <a:r>
              <a:rPr lang="en-IN" sz="1800" dirty="0">
                <a:latin typeface="Times New Roman" panose="02020603050405020304" pitchFamily="18" charset="0"/>
                <a:cs typeface="Times New Roman" panose="02020603050405020304" pitchFamily="18" charset="0"/>
              </a:rPr>
              <a:t>Power supply</a:t>
            </a:r>
          </a:p>
          <a:p>
            <a:endParaRPr lang="en-US" sz="1800" dirty="0">
              <a:latin typeface="Times New Roman" panose="02020603050405020304" pitchFamily="18" charset="0"/>
              <a:cs typeface="Times New Roman" panose="02020603050405020304" pitchFamily="18" charset="0"/>
            </a:endParaRPr>
          </a:p>
          <a:p>
            <a:endParaRPr lang="en-IN" dirty="0"/>
          </a:p>
        </p:txBody>
      </p:sp>
      <p:pic>
        <p:nvPicPr>
          <p:cNvPr id="4" name="Google Shape;201;p24">
            <a:extLst>
              <a:ext uri="{FF2B5EF4-FFF2-40B4-BE49-F238E27FC236}">
                <a16:creationId xmlns:a16="http://schemas.microsoft.com/office/drawing/2014/main" id="{D984E8F4-0908-68A1-C50A-76C8F0E46A09}"/>
              </a:ext>
            </a:extLst>
          </p:cNvPr>
          <p:cNvPicPr preferRelativeResize="0"/>
          <p:nvPr/>
        </p:nvPicPr>
        <p:blipFill rotWithShape="1">
          <a:blip r:embed="rId2"/>
          <a:srcRect/>
          <a:stretch>
            <a:fillRect/>
          </a:stretch>
        </p:blipFill>
        <p:spPr>
          <a:xfrm>
            <a:off x="10928879" y="158750"/>
            <a:ext cx="981075" cy="838200"/>
          </a:xfrm>
          <a:prstGeom prst="rect">
            <a:avLst/>
          </a:prstGeom>
          <a:noFill/>
          <a:ln>
            <a:noFill/>
          </a:ln>
        </p:spPr>
      </p:pic>
    </p:spTree>
    <p:extLst>
      <p:ext uri="{BB962C8B-B14F-4D97-AF65-F5344CB8AC3E}">
        <p14:creationId xmlns:p14="http://schemas.microsoft.com/office/powerpoint/2010/main" val="11914559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C44D8-EA85-0567-B752-AF1BC651CB5D}"/>
              </a:ext>
            </a:extLst>
          </p:cNvPr>
          <p:cNvSpPr>
            <a:spLocks noGrp="1"/>
          </p:cNvSpPr>
          <p:nvPr>
            <p:ph type="title"/>
          </p:nvPr>
        </p:nvSpPr>
        <p:spPr/>
        <p:txBody>
          <a:bodyPr>
            <a:normAutofit/>
          </a:bodyPr>
          <a:lstStyle/>
          <a:p>
            <a:r>
              <a:rPr lang="en-IN" sz="2000" b="1" dirty="0">
                <a:latin typeface="Times New Roman" panose="02020603050405020304" pitchFamily="18" charset="0"/>
                <a:cs typeface="Times New Roman" panose="02020603050405020304" pitchFamily="18" charset="0"/>
              </a:rPr>
              <a:t>PROTOTYPE WORKING</a:t>
            </a:r>
          </a:p>
        </p:txBody>
      </p:sp>
      <p:sp>
        <p:nvSpPr>
          <p:cNvPr id="3" name="Content Placeholder 2">
            <a:extLst>
              <a:ext uri="{FF2B5EF4-FFF2-40B4-BE49-F238E27FC236}">
                <a16:creationId xmlns:a16="http://schemas.microsoft.com/office/drawing/2014/main" id="{0FDBCCDA-8B28-2783-F4BF-317E7E410151}"/>
              </a:ext>
            </a:extLst>
          </p:cNvPr>
          <p:cNvSpPr>
            <a:spLocks noGrp="1"/>
          </p:cNvSpPr>
          <p:nvPr>
            <p:ph idx="1"/>
          </p:nvPr>
        </p:nvSpPr>
        <p:spPr/>
        <p:txBody>
          <a:bodyPr/>
          <a:lstStyle/>
          <a:p>
            <a:r>
              <a:rPr lang="en-US" sz="1800" dirty="0">
                <a:latin typeface="Times New Roman" panose="02020603050405020304" pitchFamily="18" charset="0"/>
                <a:cs typeface="Times New Roman" panose="02020603050405020304" pitchFamily="18" charset="0"/>
              </a:rPr>
              <a:t>User speaks near the microphone</a:t>
            </a:r>
          </a:p>
          <a:p>
            <a:r>
              <a:rPr lang="en-US" sz="1800" dirty="0">
                <a:latin typeface="Times New Roman" panose="02020603050405020304" pitchFamily="18" charset="0"/>
                <a:cs typeface="Times New Roman" panose="02020603050405020304" pitchFamily="18" charset="0"/>
              </a:rPr>
              <a:t>System listens and understands the voice</a:t>
            </a:r>
          </a:p>
          <a:p>
            <a:r>
              <a:rPr lang="en-US" sz="1800" dirty="0">
                <a:latin typeface="Times New Roman" panose="02020603050405020304" pitchFamily="18" charset="0"/>
                <a:cs typeface="Times New Roman" panose="02020603050405020304" pitchFamily="18" charset="0"/>
              </a:rPr>
              <a:t>Voice is converted into Braille</a:t>
            </a:r>
          </a:p>
          <a:p>
            <a:r>
              <a:rPr lang="en-US" sz="1800" dirty="0">
                <a:latin typeface="Times New Roman" panose="02020603050405020304" pitchFamily="18" charset="0"/>
                <a:cs typeface="Times New Roman" panose="02020603050405020304" pitchFamily="18" charset="0"/>
              </a:rPr>
              <a:t>Braille dots are raised using solenoids</a:t>
            </a:r>
          </a:p>
          <a:p>
            <a:r>
              <a:rPr lang="en-US" sz="1800" dirty="0">
                <a:latin typeface="Times New Roman" panose="02020603050405020304" pitchFamily="18" charset="0"/>
                <a:cs typeface="Times New Roman" panose="02020603050405020304" pitchFamily="18" charset="0"/>
              </a:rPr>
              <a:t>User reads output by touch</a:t>
            </a:r>
          </a:p>
          <a:p>
            <a:endParaRPr lang="en-IN" dirty="0"/>
          </a:p>
        </p:txBody>
      </p:sp>
      <p:pic>
        <p:nvPicPr>
          <p:cNvPr id="4" name="Google Shape;201;p24">
            <a:extLst>
              <a:ext uri="{FF2B5EF4-FFF2-40B4-BE49-F238E27FC236}">
                <a16:creationId xmlns:a16="http://schemas.microsoft.com/office/drawing/2014/main" id="{DE319166-D539-E813-5D1D-113546228598}"/>
              </a:ext>
            </a:extLst>
          </p:cNvPr>
          <p:cNvPicPr preferRelativeResize="0"/>
          <p:nvPr/>
        </p:nvPicPr>
        <p:blipFill rotWithShape="1">
          <a:blip r:embed="rId2"/>
          <a:srcRect/>
          <a:stretch>
            <a:fillRect/>
          </a:stretch>
        </p:blipFill>
        <p:spPr>
          <a:xfrm>
            <a:off x="10928879" y="158750"/>
            <a:ext cx="981075" cy="838200"/>
          </a:xfrm>
          <a:prstGeom prst="rect">
            <a:avLst/>
          </a:prstGeom>
          <a:noFill/>
          <a:ln>
            <a:noFill/>
          </a:ln>
        </p:spPr>
      </p:pic>
    </p:spTree>
    <p:extLst>
      <p:ext uri="{BB962C8B-B14F-4D97-AF65-F5344CB8AC3E}">
        <p14:creationId xmlns:p14="http://schemas.microsoft.com/office/powerpoint/2010/main" val="29125197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94FA0-BC21-0000-97FD-5D907728A36E}"/>
              </a:ext>
            </a:extLst>
          </p:cNvPr>
          <p:cNvSpPr>
            <a:spLocks noGrp="1"/>
          </p:cNvSpPr>
          <p:nvPr>
            <p:ph type="title"/>
          </p:nvPr>
        </p:nvSpPr>
        <p:spPr>
          <a:xfrm>
            <a:off x="838200" y="365126"/>
            <a:ext cx="10515600" cy="530614"/>
          </a:xfrm>
        </p:spPr>
        <p:txBody>
          <a:bodyPr>
            <a:normAutofit/>
          </a:bodyPr>
          <a:lstStyle/>
          <a:p>
            <a:r>
              <a:rPr lang="en-US" sz="2000" b="1" u="sng" dirty="0">
                <a:latin typeface="Times New Roman" panose="02020603050405020304" pitchFamily="18" charset="0"/>
                <a:cs typeface="Times New Roman" panose="02020603050405020304" pitchFamily="18" charset="0"/>
              </a:rPr>
              <a:t>Implementation (Part of the Code)</a:t>
            </a:r>
            <a:endParaRPr lang="en-IN" sz="2000"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9F340E9-8303-4E95-0538-635883C9D180}"/>
              </a:ext>
            </a:extLst>
          </p:cNvPr>
          <p:cNvSpPr>
            <a:spLocks noGrp="1"/>
          </p:cNvSpPr>
          <p:nvPr>
            <p:ph idx="1"/>
          </p:nvPr>
        </p:nvSpPr>
        <p:spPr>
          <a:xfrm>
            <a:off x="838200" y="998376"/>
            <a:ext cx="10515600" cy="5178587"/>
          </a:xfrm>
        </p:spPr>
        <p:txBody>
          <a:bodyPr>
            <a:normAutofit/>
          </a:bodyPr>
          <a:lstStyle/>
          <a:p>
            <a:pPr marL="0" indent="0">
              <a:buNone/>
            </a:pPr>
            <a:r>
              <a:rPr lang="en-IN" sz="1800" b="1" dirty="0">
                <a:latin typeface="Times New Roman" panose="02020603050405020304" pitchFamily="18" charset="0"/>
                <a:cs typeface="Times New Roman" panose="02020603050405020304" pitchFamily="18" charset="0"/>
              </a:rPr>
              <a:t>  Speech Recognition Module</a:t>
            </a:r>
          </a:p>
          <a:p>
            <a:pPr marL="0" indent="0">
              <a:buNone/>
            </a:pPr>
            <a:endParaRPr lang="en-IN" sz="1800" b="1"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import </a:t>
            </a:r>
            <a:r>
              <a:rPr lang="en-IN" sz="1800" dirty="0" err="1">
                <a:latin typeface="Times New Roman" panose="02020603050405020304" pitchFamily="18" charset="0"/>
                <a:cs typeface="Times New Roman" panose="02020603050405020304" pitchFamily="18" charset="0"/>
              </a:rPr>
              <a:t>speech_recognition</a:t>
            </a:r>
            <a:r>
              <a:rPr lang="en-IN" sz="1800" dirty="0">
                <a:latin typeface="Times New Roman" panose="02020603050405020304" pitchFamily="18" charset="0"/>
                <a:cs typeface="Times New Roman" panose="02020603050405020304" pitchFamily="18" charset="0"/>
              </a:rPr>
              <a:t> as </a:t>
            </a:r>
            <a:r>
              <a:rPr lang="en-IN" sz="1800" dirty="0" err="1">
                <a:latin typeface="Times New Roman" panose="02020603050405020304" pitchFamily="18" charset="0"/>
                <a:cs typeface="Times New Roman" panose="02020603050405020304" pitchFamily="18" charset="0"/>
              </a:rPr>
              <a:t>sr</a:t>
            </a: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r = </a:t>
            </a:r>
            <a:r>
              <a:rPr lang="en-IN" sz="1800" dirty="0" err="1">
                <a:latin typeface="Times New Roman" panose="02020603050405020304" pitchFamily="18" charset="0"/>
                <a:cs typeface="Times New Roman" panose="02020603050405020304" pitchFamily="18" charset="0"/>
              </a:rPr>
              <a:t>sr.Recognizer</a:t>
            </a:r>
            <a:r>
              <a:rPr lang="en-IN" sz="1800" dirty="0">
                <a:latin typeface="Times New Roman" panose="02020603050405020304" pitchFamily="18" charset="0"/>
                <a:cs typeface="Times New Roman" panose="02020603050405020304" pitchFamily="18" charset="0"/>
              </a:rPr>
              <a:t>()</a:t>
            </a:r>
          </a:p>
          <a:p>
            <a:pPr marL="0" indent="0">
              <a:buNone/>
            </a:pPr>
            <a:r>
              <a:rPr lang="en-IN" sz="1800" dirty="0">
                <a:latin typeface="Times New Roman" panose="02020603050405020304" pitchFamily="18" charset="0"/>
                <a:cs typeface="Times New Roman" panose="02020603050405020304" pitchFamily="18" charset="0"/>
              </a:rPr>
              <a:t>with </a:t>
            </a:r>
            <a:r>
              <a:rPr lang="en-IN" sz="1800" dirty="0" err="1">
                <a:latin typeface="Times New Roman" panose="02020603050405020304" pitchFamily="18" charset="0"/>
                <a:cs typeface="Times New Roman" panose="02020603050405020304" pitchFamily="18" charset="0"/>
              </a:rPr>
              <a:t>sr.Microphone</a:t>
            </a:r>
            <a:r>
              <a:rPr lang="en-IN" sz="1800" dirty="0">
                <a:latin typeface="Times New Roman" panose="02020603050405020304" pitchFamily="18" charset="0"/>
                <a:cs typeface="Times New Roman" panose="02020603050405020304" pitchFamily="18" charset="0"/>
              </a:rPr>
              <a:t>() as source:</a:t>
            </a:r>
          </a:p>
          <a:p>
            <a:pPr marL="0" indent="0">
              <a:buNone/>
            </a:pPr>
            <a:r>
              <a:rPr lang="en-IN" sz="1800" dirty="0">
                <a:latin typeface="Times New Roman" panose="02020603050405020304" pitchFamily="18" charset="0"/>
                <a:cs typeface="Times New Roman" panose="02020603050405020304" pitchFamily="18" charset="0"/>
              </a:rPr>
              <a:t>    print("Speak now...")</a:t>
            </a:r>
          </a:p>
          <a:p>
            <a:pPr marL="0" indent="0">
              <a:buNone/>
            </a:pPr>
            <a:r>
              <a:rPr lang="en-IN" sz="1800" dirty="0">
                <a:latin typeface="Times New Roman" panose="02020603050405020304" pitchFamily="18" charset="0"/>
                <a:cs typeface="Times New Roman" panose="02020603050405020304" pitchFamily="18" charset="0"/>
              </a:rPr>
              <a:t>    audio = </a:t>
            </a:r>
            <a:r>
              <a:rPr lang="en-IN" sz="1800" dirty="0" err="1">
                <a:latin typeface="Times New Roman" panose="02020603050405020304" pitchFamily="18" charset="0"/>
                <a:cs typeface="Times New Roman" panose="02020603050405020304" pitchFamily="18" charset="0"/>
              </a:rPr>
              <a:t>r.listen</a:t>
            </a:r>
            <a:r>
              <a:rPr lang="en-IN" sz="1800" dirty="0">
                <a:latin typeface="Times New Roman" panose="02020603050405020304" pitchFamily="18" charset="0"/>
                <a:cs typeface="Times New Roman" panose="02020603050405020304" pitchFamily="18" charset="0"/>
              </a:rPr>
              <a:t>(source)</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text = </a:t>
            </a:r>
            <a:r>
              <a:rPr lang="en-IN" sz="1800" dirty="0" err="1">
                <a:latin typeface="Times New Roman" panose="02020603050405020304" pitchFamily="18" charset="0"/>
                <a:cs typeface="Times New Roman" panose="02020603050405020304" pitchFamily="18" charset="0"/>
              </a:rPr>
              <a:t>r.recognize_google</a:t>
            </a:r>
            <a:r>
              <a:rPr lang="en-IN" sz="1800" dirty="0">
                <a:latin typeface="Times New Roman" panose="02020603050405020304" pitchFamily="18" charset="0"/>
                <a:cs typeface="Times New Roman" panose="02020603050405020304" pitchFamily="18" charset="0"/>
              </a:rPr>
              <a:t>(audio)</a:t>
            </a:r>
          </a:p>
          <a:p>
            <a:pPr marL="0" indent="0">
              <a:buNone/>
            </a:pPr>
            <a:r>
              <a:rPr lang="en-IN" sz="1800" dirty="0">
                <a:latin typeface="Times New Roman" panose="02020603050405020304" pitchFamily="18" charset="0"/>
                <a:cs typeface="Times New Roman" panose="02020603050405020304" pitchFamily="18" charset="0"/>
              </a:rPr>
              <a:t>print(text)</a:t>
            </a:r>
          </a:p>
        </p:txBody>
      </p:sp>
      <p:pic>
        <p:nvPicPr>
          <p:cNvPr id="4" name="Google Shape;201;p24">
            <a:extLst>
              <a:ext uri="{FF2B5EF4-FFF2-40B4-BE49-F238E27FC236}">
                <a16:creationId xmlns:a16="http://schemas.microsoft.com/office/drawing/2014/main" id="{0CC107F4-F9ED-446C-CDF5-DA62D73B6E4D}"/>
              </a:ext>
            </a:extLst>
          </p:cNvPr>
          <p:cNvPicPr preferRelativeResize="0"/>
          <p:nvPr/>
        </p:nvPicPr>
        <p:blipFill rotWithShape="1">
          <a:blip r:embed="rId2"/>
          <a:srcRect/>
          <a:stretch>
            <a:fillRect/>
          </a:stretch>
        </p:blipFill>
        <p:spPr>
          <a:xfrm>
            <a:off x="10920412" y="168081"/>
            <a:ext cx="981075" cy="838200"/>
          </a:xfrm>
          <a:prstGeom prst="rect">
            <a:avLst/>
          </a:prstGeom>
          <a:noFill/>
          <a:ln>
            <a:noFill/>
          </a:ln>
        </p:spPr>
      </p:pic>
    </p:spTree>
    <p:extLst>
      <p:ext uri="{BB962C8B-B14F-4D97-AF65-F5344CB8AC3E}">
        <p14:creationId xmlns:p14="http://schemas.microsoft.com/office/powerpoint/2010/main" val="19949066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02975-E98E-ACB6-41E2-56BDBF36AB68}"/>
              </a:ext>
            </a:extLst>
          </p:cNvPr>
          <p:cNvSpPr>
            <a:spLocks noGrp="1"/>
          </p:cNvSpPr>
          <p:nvPr>
            <p:ph type="title"/>
          </p:nvPr>
        </p:nvSpPr>
        <p:spPr>
          <a:xfrm>
            <a:off x="838200" y="365126"/>
            <a:ext cx="10515600" cy="539944"/>
          </a:xfrm>
        </p:spPr>
        <p:txBody>
          <a:bodyPr>
            <a:normAutofit fontScale="90000"/>
          </a:bodyPr>
          <a:lstStyle/>
          <a:p>
            <a:r>
              <a:rPr lang="en-US" dirty="0"/>
              <a:t> </a:t>
            </a:r>
            <a:endParaRPr lang="en-IN" dirty="0"/>
          </a:p>
        </p:txBody>
      </p:sp>
      <p:sp>
        <p:nvSpPr>
          <p:cNvPr id="3" name="Content Placeholder 2">
            <a:extLst>
              <a:ext uri="{FF2B5EF4-FFF2-40B4-BE49-F238E27FC236}">
                <a16:creationId xmlns:a16="http://schemas.microsoft.com/office/drawing/2014/main" id="{24B6BFD9-43C9-1ADD-7216-200219E7E4A5}"/>
              </a:ext>
            </a:extLst>
          </p:cNvPr>
          <p:cNvSpPr>
            <a:spLocks noGrp="1"/>
          </p:cNvSpPr>
          <p:nvPr>
            <p:ph idx="1"/>
          </p:nvPr>
        </p:nvSpPr>
        <p:spPr>
          <a:xfrm>
            <a:off x="838200" y="755780"/>
            <a:ext cx="10515600" cy="5421183"/>
          </a:xfrm>
        </p:spPr>
        <p:txBody>
          <a:bodyPr>
            <a:normAutofit/>
          </a:bodyPr>
          <a:lstStyle/>
          <a:p>
            <a:pPr marL="0" indent="0">
              <a:buNone/>
            </a:pPr>
            <a:r>
              <a:rPr lang="en-IN" sz="1800" b="1" dirty="0">
                <a:latin typeface="Times New Roman" panose="02020603050405020304" pitchFamily="18" charset="0"/>
                <a:cs typeface="Times New Roman" panose="02020603050405020304" pitchFamily="18" charset="0"/>
              </a:rPr>
              <a:t>  Braille Conversion Logic</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err="1">
                <a:latin typeface="Times New Roman" panose="02020603050405020304" pitchFamily="18" charset="0"/>
                <a:cs typeface="Times New Roman" panose="02020603050405020304" pitchFamily="18" charset="0"/>
              </a:rPr>
              <a:t>braille_dict</a:t>
            </a:r>
            <a:r>
              <a:rPr lang="en-IN" sz="1800" dirty="0">
                <a:latin typeface="Times New Roman" panose="02020603050405020304" pitchFamily="18" charset="0"/>
                <a:cs typeface="Times New Roman" panose="02020603050405020304" pitchFamily="18" charset="0"/>
              </a:rPr>
              <a:t> = {</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'a':'⠁','b':'⠃','c':'⠉','d':'⠙','e':'⠑',</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'f':'⠋','g':'⠛','h':'⠓','</a:t>
            </a:r>
            <a:r>
              <a:rPr lang="en-IN" sz="1800" dirty="0" err="1">
                <a:latin typeface="Times New Roman" panose="02020603050405020304" pitchFamily="18" charset="0"/>
                <a:cs typeface="Times New Roman" panose="02020603050405020304" pitchFamily="18" charset="0"/>
              </a:rPr>
              <a:t>i</a:t>
            </a:r>
            <a:r>
              <a:rPr lang="en-IN" sz="1800" dirty="0">
                <a:latin typeface="Times New Roman" panose="02020603050405020304" pitchFamily="18" charset="0"/>
                <a:cs typeface="Times New Roman" panose="02020603050405020304" pitchFamily="18" charset="0"/>
              </a:rPr>
              <a:t>':'⠊','j':'⠚'</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a:t>
            </a:r>
            <a:br>
              <a:rPr lang="en-IN" sz="1800" dirty="0">
                <a:latin typeface="Times New Roman" panose="02020603050405020304" pitchFamily="18" charset="0"/>
                <a:cs typeface="Times New Roman" panose="02020603050405020304" pitchFamily="18" charset="0"/>
              </a:rPr>
            </a:b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def </a:t>
            </a:r>
            <a:r>
              <a:rPr lang="en-IN" sz="1800" dirty="0" err="1">
                <a:latin typeface="Times New Roman" panose="02020603050405020304" pitchFamily="18" charset="0"/>
                <a:cs typeface="Times New Roman" panose="02020603050405020304" pitchFamily="18" charset="0"/>
              </a:rPr>
              <a:t>text_to_braille</a:t>
            </a:r>
            <a:r>
              <a:rPr lang="en-IN" sz="1800" dirty="0">
                <a:latin typeface="Times New Roman" panose="02020603050405020304" pitchFamily="18" charset="0"/>
                <a:cs typeface="Times New Roman" panose="02020603050405020304" pitchFamily="18" charset="0"/>
              </a:rPr>
              <a:t>(text):</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return ''.join(</a:t>
            </a:r>
            <a:r>
              <a:rPr lang="en-IN" sz="1800" dirty="0" err="1">
                <a:latin typeface="Times New Roman" panose="02020603050405020304" pitchFamily="18" charset="0"/>
                <a:cs typeface="Times New Roman" panose="02020603050405020304" pitchFamily="18" charset="0"/>
              </a:rPr>
              <a:t>braille_dict.get</a:t>
            </a:r>
            <a:r>
              <a:rPr lang="en-IN" sz="1800" dirty="0">
                <a:latin typeface="Times New Roman" panose="02020603050405020304" pitchFamily="18" charset="0"/>
                <a:cs typeface="Times New Roman" panose="02020603050405020304" pitchFamily="18" charset="0"/>
              </a:rPr>
              <a:t>(</a:t>
            </a:r>
            <a:r>
              <a:rPr lang="en-IN" sz="1800" dirty="0" err="1">
                <a:latin typeface="Times New Roman" panose="02020603050405020304" pitchFamily="18" charset="0"/>
                <a:cs typeface="Times New Roman" panose="02020603050405020304" pitchFamily="18" charset="0"/>
              </a:rPr>
              <a:t>ch</a:t>
            </a:r>
            <a:r>
              <a:rPr lang="en-IN" sz="1800" dirty="0">
                <a:latin typeface="Times New Roman" panose="02020603050405020304" pitchFamily="18" charset="0"/>
                <a:cs typeface="Times New Roman" panose="02020603050405020304" pitchFamily="18" charset="0"/>
              </a:rPr>
              <a:t>,' ') for </a:t>
            </a:r>
            <a:r>
              <a:rPr lang="en-IN" sz="1800" dirty="0" err="1">
                <a:latin typeface="Times New Roman" panose="02020603050405020304" pitchFamily="18" charset="0"/>
                <a:cs typeface="Times New Roman" panose="02020603050405020304" pitchFamily="18" charset="0"/>
              </a:rPr>
              <a:t>ch</a:t>
            </a:r>
            <a:r>
              <a:rPr lang="en-IN" sz="1800" dirty="0">
                <a:latin typeface="Times New Roman" panose="02020603050405020304" pitchFamily="18" charset="0"/>
                <a:cs typeface="Times New Roman" panose="02020603050405020304" pitchFamily="18" charset="0"/>
              </a:rPr>
              <a:t> in text)</a:t>
            </a:r>
          </a:p>
          <a:p>
            <a:pPr marL="0" indent="0">
              <a:buNone/>
            </a:pPr>
            <a:r>
              <a:rPr lang="en-IN" sz="1800" b="1" dirty="0">
                <a:latin typeface="Times New Roman" panose="02020603050405020304" pitchFamily="18" charset="0"/>
                <a:cs typeface="Times New Roman" panose="02020603050405020304" pitchFamily="18" charset="0"/>
              </a:rPr>
              <a:t>     Modules Used</a:t>
            </a:r>
          </a:p>
          <a:p>
            <a:pPr marL="0" indent="0">
              <a:buNone/>
            </a:pPr>
            <a:r>
              <a:rPr lang="en-IN" sz="1800" dirty="0" err="1">
                <a:latin typeface="Times New Roman" panose="02020603050405020304" pitchFamily="18" charset="0"/>
                <a:cs typeface="Times New Roman" panose="02020603050405020304" pitchFamily="18" charset="0"/>
              </a:rPr>
              <a:t>i</a:t>
            </a:r>
            <a:r>
              <a:rPr lang="en-IN" sz="1800" dirty="0">
                <a:latin typeface="Times New Roman" panose="02020603050405020304" pitchFamily="18" charset="0"/>
                <a:cs typeface="Times New Roman" panose="02020603050405020304" pitchFamily="18" charset="0"/>
              </a:rPr>
              <a:t>)  Speech Recognition Module</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ii) Text Processing Module</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iii) Braille Conversion Logic</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iv) Output Display (Software/Hardware)</a:t>
            </a:r>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a:p>
            <a:pPr marL="0" indent="0">
              <a:buNone/>
            </a:pPr>
            <a:r>
              <a:rPr lang="en-IN" sz="1800" b="1" dirty="0">
                <a:latin typeface="Times New Roman" panose="02020603050405020304" pitchFamily="18" charset="0"/>
                <a:cs typeface="Times New Roman" panose="02020603050405020304" pitchFamily="18" charset="0"/>
              </a:rPr>
              <a:t>    Working Flow</a:t>
            </a:r>
          </a:p>
          <a:p>
            <a:r>
              <a:rPr lang="en-IN" sz="1800" dirty="0">
                <a:latin typeface="Times New Roman" panose="02020603050405020304" pitchFamily="18" charset="0"/>
                <a:cs typeface="Times New Roman" panose="02020603050405020304" pitchFamily="18" charset="0"/>
              </a:rPr>
              <a:t>Speech Input → Text Conversion → Braille Translation → Output Display</a:t>
            </a:r>
          </a:p>
          <a:p>
            <a:pPr marL="0" indent="0">
              <a:buNone/>
            </a:pPr>
            <a:endParaRPr lang="en-IN" sz="1800" dirty="0">
              <a:latin typeface="Times New Roman" panose="02020603050405020304" pitchFamily="18" charset="0"/>
              <a:cs typeface="Times New Roman" panose="02020603050405020304" pitchFamily="18" charset="0"/>
            </a:endParaRPr>
          </a:p>
          <a:p>
            <a:endParaRPr lang="en-IN" dirty="0"/>
          </a:p>
        </p:txBody>
      </p:sp>
      <p:pic>
        <p:nvPicPr>
          <p:cNvPr id="4" name="Google Shape;201;p24">
            <a:extLst>
              <a:ext uri="{FF2B5EF4-FFF2-40B4-BE49-F238E27FC236}">
                <a16:creationId xmlns:a16="http://schemas.microsoft.com/office/drawing/2014/main" id="{F79D1F27-5007-697E-827A-28E37DEFDFEE}"/>
              </a:ext>
            </a:extLst>
          </p:cNvPr>
          <p:cNvPicPr preferRelativeResize="0"/>
          <p:nvPr/>
        </p:nvPicPr>
        <p:blipFill rotWithShape="1">
          <a:blip r:embed="rId2"/>
          <a:srcRect/>
          <a:stretch>
            <a:fillRect/>
          </a:stretch>
        </p:blipFill>
        <p:spPr>
          <a:xfrm>
            <a:off x="10920412" y="158750"/>
            <a:ext cx="981075" cy="838200"/>
          </a:xfrm>
          <a:prstGeom prst="rect">
            <a:avLst/>
          </a:prstGeom>
          <a:noFill/>
          <a:ln>
            <a:noFill/>
          </a:ln>
        </p:spPr>
      </p:pic>
    </p:spTree>
    <p:extLst>
      <p:ext uri="{BB962C8B-B14F-4D97-AF65-F5344CB8AC3E}">
        <p14:creationId xmlns:p14="http://schemas.microsoft.com/office/powerpoint/2010/main" val="38615554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2CDA7-097C-0881-F9A4-2366D4CDA53F}"/>
              </a:ext>
            </a:extLst>
          </p:cNvPr>
          <p:cNvSpPr>
            <a:spLocks noGrp="1"/>
          </p:cNvSpPr>
          <p:nvPr>
            <p:ph type="title"/>
          </p:nvPr>
        </p:nvSpPr>
        <p:spPr>
          <a:xfrm>
            <a:off x="838200" y="365126"/>
            <a:ext cx="10515600" cy="437308"/>
          </a:xfrm>
        </p:spPr>
        <p:txBody>
          <a:bodyPr>
            <a:normAutofit fontScale="90000"/>
          </a:bodyPr>
          <a:lstStyle/>
          <a:p>
            <a:r>
              <a:rPr lang="en-US" dirty="0"/>
              <a:t> </a:t>
            </a:r>
            <a:endParaRPr lang="en-IN" dirty="0"/>
          </a:p>
        </p:txBody>
      </p:sp>
      <p:sp>
        <p:nvSpPr>
          <p:cNvPr id="3" name="Content Placeholder 2">
            <a:extLst>
              <a:ext uri="{FF2B5EF4-FFF2-40B4-BE49-F238E27FC236}">
                <a16:creationId xmlns:a16="http://schemas.microsoft.com/office/drawing/2014/main" id="{C28D447E-C579-955C-EAA7-6AE5B133C8EA}"/>
              </a:ext>
            </a:extLst>
          </p:cNvPr>
          <p:cNvSpPr>
            <a:spLocks noGrp="1"/>
          </p:cNvSpPr>
          <p:nvPr>
            <p:ph idx="1"/>
          </p:nvPr>
        </p:nvSpPr>
        <p:spPr>
          <a:xfrm>
            <a:off x="838200" y="494522"/>
            <a:ext cx="10515600" cy="5682441"/>
          </a:xfrm>
        </p:spPr>
        <p:txBody>
          <a:bodyPr>
            <a:normAutofit/>
          </a:bodyPr>
          <a:lstStyle/>
          <a:p>
            <a:pPr marL="0" indent="0">
              <a:buNone/>
            </a:pPr>
            <a:r>
              <a:rPr lang="en-IN" sz="1800" b="1" dirty="0">
                <a:latin typeface="Times New Roman" panose="02020603050405020304" pitchFamily="18" charset="0"/>
                <a:cs typeface="Times New Roman" panose="02020603050405020304" pitchFamily="18" charset="0"/>
              </a:rPr>
              <a:t> Working Flow</a:t>
            </a:r>
          </a:p>
          <a:p>
            <a:r>
              <a:rPr lang="en-IN" sz="1800" dirty="0">
                <a:latin typeface="Times New Roman" panose="02020603050405020304" pitchFamily="18" charset="0"/>
                <a:cs typeface="Times New Roman" panose="02020603050405020304" pitchFamily="18" charset="0"/>
              </a:rPr>
              <a:t>Speech Input → Text Conversion → Braille Translation → Output Display</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Working:</a:t>
            </a:r>
          </a:p>
          <a:p>
            <a:pPr marL="0" indent="0">
              <a:buNone/>
            </a:pPr>
            <a:endParaRPr lang="en-US" sz="1800" b="1"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The implementation phase focuses on converting spoken words into Braille output using software and hardware components.</a:t>
            </a:r>
          </a:p>
          <a:p>
            <a:r>
              <a:rPr lang="en-US" sz="1800" dirty="0">
                <a:latin typeface="Times New Roman" panose="02020603050405020304" pitchFamily="18" charset="0"/>
                <a:cs typeface="Times New Roman" panose="02020603050405020304" pitchFamily="18" charset="0"/>
              </a:rPr>
              <a:t>First, the system captures the user’s voice through a microphone using a speech recognition module. The spoken words are converted into text using Google’s speech recognition engine.</a:t>
            </a:r>
          </a:p>
          <a:p>
            <a:r>
              <a:rPr lang="en-US" sz="1800" dirty="0">
                <a:latin typeface="Times New Roman" panose="02020603050405020304" pitchFamily="18" charset="0"/>
                <a:cs typeface="Times New Roman" panose="02020603050405020304" pitchFamily="18" charset="0"/>
              </a:rPr>
              <a:t>Next, the converted text is processed using a Braille conversion algorithm. Each character in the text is matched with its corresponding Braille pattern stored in a dictionary.</a:t>
            </a:r>
          </a:p>
          <a:p>
            <a:r>
              <a:rPr lang="en-US" sz="1800" dirty="0">
                <a:latin typeface="Times New Roman" panose="02020603050405020304" pitchFamily="18" charset="0"/>
                <a:cs typeface="Times New Roman" panose="02020603050405020304" pitchFamily="18" charset="0"/>
              </a:rPr>
              <a:t>Finally, the Braille output is displayed either:</a:t>
            </a:r>
          </a:p>
          <a:p>
            <a:r>
              <a:rPr lang="en-US" sz="1800" dirty="0">
                <a:latin typeface="Times New Roman" panose="02020603050405020304" pitchFamily="18" charset="0"/>
                <a:cs typeface="Times New Roman" panose="02020603050405020304" pitchFamily="18" charset="0"/>
              </a:rPr>
              <a:t>on the screen as Braille symbols, or</a:t>
            </a:r>
          </a:p>
          <a:p>
            <a:r>
              <a:rPr lang="en-US" sz="1800" dirty="0">
                <a:latin typeface="Times New Roman" panose="02020603050405020304" pitchFamily="18" charset="0"/>
                <a:cs typeface="Times New Roman" panose="02020603050405020304" pitchFamily="18" charset="0"/>
              </a:rPr>
              <a:t>through Arduino-controlled pins that activate Braille dots.</a:t>
            </a:r>
          </a:p>
          <a:p>
            <a:r>
              <a:rPr lang="en-US" sz="1800" dirty="0">
                <a:latin typeface="Times New Roman" panose="02020603050405020304" pitchFamily="18" charset="0"/>
                <a:cs typeface="Times New Roman" panose="02020603050405020304" pitchFamily="18" charset="0"/>
              </a:rPr>
              <a:t>This step-by-step processing enables real-time voice-to-Braille conversion, making the system helpful for visually impaired users.</a:t>
            </a:r>
          </a:p>
        </p:txBody>
      </p:sp>
      <p:pic>
        <p:nvPicPr>
          <p:cNvPr id="4" name="Google Shape;201;p24">
            <a:extLst>
              <a:ext uri="{FF2B5EF4-FFF2-40B4-BE49-F238E27FC236}">
                <a16:creationId xmlns:a16="http://schemas.microsoft.com/office/drawing/2014/main" id="{C592DBF3-F0C2-E073-B24D-B1FC5D6FA113}"/>
              </a:ext>
            </a:extLst>
          </p:cNvPr>
          <p:cNvPicPr preferRelativeResize="0"/>
          <p:nvPr/>
        </p:nvPicPr>
        <p:blipFill rotWithShape="1">
          <a:blip r:embed="rId2"/>
          <a:srcRect/>
          <a:stretch>
            <a:fillRect/>
          </a:stretch>
        </p:blipFill>
        <p:spPr>
          <a:xfrm>
            <a:off x="10920412" y="158750"/>
            <a:ext cx="981075" cy="838200"/>
          </a:xfrm>
          <a:prstGeom prst="rect">
            <a:avLst/>
          </a:prstGeom>
          <a:noFill/>
          <a:ln>
            <a:noFill/>
          </a:ln>
        </p:spPr>
      </p:pic>
    </p:spTree>
    <p:extLst>
      <p:ext uri="{BB962C8B-B14F-4D97-AF65-F5344CB8AC3E}">
        <p14:creationId xmlns:p14="http://schemas.microsoft.com/office/powerpoint/2010/main" val="12476974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7B4BB-FE90-F5E0-6B6F-2CCE3BB57D94}"/>
              </a:ext>
            </a:extLst>
          </p:cNvPr>
          <p:cNvSpPr>
            <a:spLocks noGrp="1"/>
          </p:cNvSpPr>
          <p:nvPr>
            <p:ph type="title"/>
          </p:nvPr>
        </p:nvSpPr>
        <p:spPr>
          <a:xfrm>
            <a:off x="731520" y="18255"/>
            <a:ext cx="10515600" cy="1325563"/>
          </a:xfrm>
        </p:spPr>
        <p:txBody>
          <a:bodyPr>
            <a:normAutofit/>
          </a:bodyPr>
          <a:lstStyle/>
          <a:p>
            <a:r>
              <a:rPr lang="en-IN" sz="2000" b="1" u="sng" dirty="0">
                <a:latin typeface="Times New Roman" panose="02020603050405020304" pitchFamily="18" charset="0"/>
                <a:ea typeface="Tahoma" panose="020B0604030504040204" pitchFamily="34" charset="0"/>
                <a:cs typeface="Times New Roman" panose="02020603050405020304" pitchFamily="18" charset="0"/>
              </a:rPr>
              <a:t>Testing / Simulation</a:t>
            </a:r>
          </a:p>
        </p:txBody>
      </p:sp>
      <p:sp>
        <p:nvSpPr>
          <p:cNvPr id="3" name="Content Placeholder 2">
            <a:extLst>
              <a:ext uri="{FF2B5EF4-FFF2-40B4-BE49-F238E27FC236}">
                <a16:creationId xmlns:a16="http://schemas.microsoft.com/office/drawing/2014/main" id="{B153C119-ED6C-A5B8-2D93-9227BD632D5A}"/>
              </a:ext>
            </a:extLst>
          </p:cNvPr>
          <p:cNvSpPr>
            <a:spLocks noGrp="1"/>
          </p:cNvSpPr>
          <p:nvPr>
            <p:ph idx="1"/>
          </p:nvPr>
        </p:nvSpPr>
        <p:spPr>
          <a:xfrm>
            <a:off x="838200" y="1325880"/>
            <a:ext cx="10515600" cy="4851083"/>
          </a:xfrm>
        </p:spPr>
        <p:txBody>
          <a:bodyPr/>
          <a:lstStyle/>
          <a:p>
            <a:pPr marL="0" indent="0">
              <a:buNone/>
            </a:pPr>
            <a:r>
              <a:rPr lang="en-IN" sz="1800" b="1" i="1"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Testing Methods</a:t>
            </a:r>
          </a:p>
          <a:p>
            <a:pPr marL="0" indent="0">
              <a:buNone/>
            </a:pPr>
            <a:r>
              <a:rPr lang="en-IN" sz="1800" dirty="0" err="1">
                <a:latin typeface="Times New Roman" panose="02020603050405020304" pitchFamily="18" charset="0"/>
                <a:cs typeface="Times New Roman" panose="02020603050405020304" pitchFamily="18" charset="0"/>
              </a:rPr>
              <a:t>i</a:t>
            </a:r>
            <a:r>
              <a:rPr lang="en-IN" sz="1800" dirty="0">
                <a:latin typeface="Times New Roman" panose="02020603050405020304" pitchFamily="18" charset="0"/>
                <a:cs typeface="Times New Roman" panose="02020603050405020304" pitchFamily="18" charset="0"/>
              </a:rPr>
              <a:t>)  Voice input tested with multiple words</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ii) Tested in noisy and quiet environments</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iii) Verified Braille output accuracy</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iv)  Simulated Braille output on screen</a:t>
            </a:r>
          </a:p>
          <a:p>
            <a:endParaRPr lang="en-IN" dirty="0"/>
          </a:p>
        </p:txBody>
      </p:sp>
      <p:graphicFrame>
        <p:nvGraphicFramePr>
          <p:cNvPr id="6" name="Table 5">
            <a:extLst>
              <a:ext uri="{FF2B5EF4-FFF2-40B4-BE49-F238E27FC236}">
                <a16:creationId xmlns:a16="http://schemas.microsoft.com/office/drawing/2014/main" id="{48F80F1A-04D6-3A23-0BE5-70C58C59B31D}"/>
              </a:ext>
            </a:extLst>
          </p:cNvPr>
          <p:cNvGraphicFramePr>
            <a:graphicFrameLocks noGrp="1"/>
          </p:cNvGraphicFramePr>
          <p:nvPr>
            <p:extLst>
              <p:ext uri="{D42A27DB-BD31-4B8C-83A1-F6EECF244321}">
                <p14:modId xmlns:p14="http://schemas.microsoft.com/office/powerpoint/2010/main" val="3679053817"/>
              </p:ext>
            </p:extLst>
          </p:nvPr>
        </p:nvGraphicFramePr>
        <p:xfrm>
          <a:off x="838200" y="3452654"/>
          <a:ext cx="10515600" cy="1097280"/>
        </p:xfrm>
        <a:graphic>
          <a:graphicData uri="http://schemas.openxmlformats.org/drawingml/2006/table">
            <a:tbl>
              <a:tblPr/>
              <a:tblGrid>
                <a:gridCol w="3505200">
                  <a:extLst>
                    <a:ext uri="{9D8B030D-6E8A-4147-A177-3AD203B41FA5}">
                      <a16:colId xmlns:a16="http://schemas.microsoft.com/office/drawing/2014/main" val="2696090700"/>
                    </a:ext>
                  </a:extLst>
                </a:gridCol>
                <a:gridCol w="3505200">
                  <a:extLst>
                    <a:ext uri="{9D8B030D-6E8A-4147-A177-3AD203B41FA5}">
                      <a16:colId xmlns:a16="http://schemas.microsoft.com/office/drawing/2014/main" val="1699352124"/>
                    </a:ext>
                  </a:extLst>
                </a:gridCol>
                <a:gridCol w="3505200">
                  <a:extLst>
                    <a:ext uri="{9D8B030D-6E8A-4147-A177-3AD203B41FA5}">
                      <a16:colId xmlns:a16="http://schemas.microsoft.com/office/drawing/2014/main" val="3425775708"/>
                    </a:ext>
                  </a:extLst>
                </a:gridCol>
              </a:tblGrid>
              <a:tr h="0">
                <a:tc>
                  <a:txBody>
                    <a:bodyPr/>
                    <a:lstStyle/>
                    <a:p>
                      <a:pPr>
                        <a:buNone/>
                      </a:pPr>
                      <a:r>
                        <a:rPr lang="en-IN" b="1" dirty="0">
                          <a:latin typeface="Times New Roman" panose="02020603050405020304" pitchFamily="18" charset="0"/>
                          <a:cs typeface="Times New Roman" panose="02020603050405020304" pitchFamily="18" charset="0"/>
                        </a:rPr>
                        <a:t>Voice Input</a:t>
                      </a:r>
                    </a:p>
                  </a:txBody>
                  <a:tcPr anchor="ctr">
                    <a:lnL>
                      <a:noFill/>
                    </a:lnL>
                    <a:lnR>
                      <a:noFill/>
                    </a:lnR>
                    <a:lnT>
                      <a:noFill/>
                    </a:lnT>
                    <a:lnB>
                      <a:noFill/>
                    </a:lnB>
                    <a:noFill/>
                  </a:tcPr>
                </a:tc>
                <a:tc>
                  <a:txBody>
                    <a:bodyPr/>
                    <a:lstStyle/>
                    <a:p>
                      <a:pPr>
                        <a:buNone/>
                      </a:pPr>
                      <a:r>
                        <a:rPr lang="en-IN" b="1" dirty="0">
                          <a:latin typeface="Times New Roman" panose="02020603050405020304" pitchFamily="18" charset="0"/>
                          <a:cs typeface="Times New Roman" panose="02020603050405020304" pitchFamily="18" charset="0"/>
                        </a:rPr>
                        <a:t>Text Output</a:t>
                      </a:r>
                    </a:p>
                  </a:txBody>
                  <a:tcPr anchor="ctr">
                    <a:lnL>
                      <a:noFill/>
                    </a:lnL>
                    <a:lnR>
                      <a:noFill/>
                    </a:lnR>
                    <a:lnT>
                      <a:noFill/>
                    </a:lnT>
                    <a:lnB>
                      <a:noFill/>
                    </a:lnB>
                    <a:noFill/>
                  </a:tcPr>
                </a:tc>
                <a:tc>
                  <a:txBody>
                    <a:bodyPr/>
                    <a:lstStyle/>
                    <a:p>
                      <a:pPr>
                        <a:buNone/>
                      </a:pPr>
                      <a:r>
                        <a:rPr lang="en-IN" b="1" dirty="0">
                          <a:latin typeface="Times New Roman" panose="02020603050405020304" pitchFamily="18" charset="0"/>
                          <a:cs typeface="Times New Roman" panose="02020603050405020304" pitchFamily="18" charset="0"/>
                        </a:rPr>
                        <a:t>Braille Output</a:t>
                      </a:r>
                    </a:p>
                  </a:txBody>
                  <a:tcPr anchor="ctr">
                    <a:lnL>
                      <a:noFill/>
                    </a:lnL>
                    <a:lnR>
                      <a:noFill/>
                    </a:lnR>
                    <a:lnT>
                      <a:noFill/>
                    </a:lnT>
                    <a:lnB>
                      <a:noFill/>
                    </a:lnB>
                    <a:noFill/>
                  </a:tcPr>
                </a:tc>
                <a:extLst>
                  <a:ext uri="{0D108BD9-81ED-4DB2-BD59-A6C34878D82A}">
                    <a16:rowId xmlns:a16="http://schemas.microsoft.com/office/drawing/2014/main" val="807615457"/>
                  </a:ext>
                </a:extLst>
              </a:tr>
              <a:tr h="0">
                <a:tc>
                  <a:txBody>
                    <a:bodyPr/>
                    <a:lstStyle/>
                    <a:p>
                      <a:pPr>
                        <a:buNone/>
                      </a:pPr>
                      <a:r>
                        <a:rPr lang="en-IN">
                          <a:latin typeface="Times New Roman" panose="02020603050405020304" pitchFamily="18" charset="0"/>
                          <a:cs typeface="Times New Roman" panose="02020603050405020304" pitchFamily="18" charset="0"/>
                        </a:rPr>
                        <a:t>Hello</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hello</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a:t>
                      </a:r>
                    </a:p>
                  </a:txBody>
                  <a:tcPr anchor="ctr">
                    <a:lnL>
                      <a:noFill/>
                    </a:lnL>
                    <a:lnR>
                      <a:noFill/>
                    </a:lnR>
                    <a:lnT>
                      <a:noFill/>
                    </a:lnT>
                    <a:lnB>
                      <a:noFill/>
                    </a:lnB>
                    <a:noFill/>
                  </a:tcPr>
                </a:tc>
                <a:extLst>
                  <a:ext uri="{0D108BD9-81ED-4DB2-BD59-A6C34878D82A}">
                    <a16:rowId xmlns:a16="http://schemas.microsoft.com/office/drawing/2014/main" val="1606144939"/>
                  </a:ext>
                </a:extLst>
              </a:tr>
              <a:tr h="0">
                <a:tc>
                  <a:txBody>
                    <a:bodyPr/>
                    <a:lstStyle/>
                    <a:p>
                      <a:pPr>
                        <a:buNone/>
                      </a:pPr>
                      <a:r>
                        <a:rPr lang="en-IN">
                          <a:latin typeface="Times New Roman" panose="02020603050405020304" pitchFamily="18" charset="0"/>
                          <a:cs typeface="Times New Roman" panose="02020603050405020304" pitchFamily="18" charset="0"/>
                        </a:rPr>
                        <a:t>Good</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good</a:t>
                      </a:r>
                    </a:p>
                  </a:txBody>
                  <a:tcPr anchor="ctr">
                    <a:lnL>
                      <a:noFill/>
                    </a:lnL>
                    <a:lnR>
                      <a:noFill/>
                    </a:lnR>
                    <a:lnT>
                      <a:noFill/>
                    </a:lnT>
                    <a:lnB>
                      <a:noFill/>
                    </a:lnB>
                    <a:noFill/>
                  </a:tcPr>
                </a:tc>
                <a:tc>
                  <a:txBody>
                    <a:bodyPr/>
                    <a:lstStyle/>
                    <a:p>
                      <a:pPr>
                        <a:buNone/>
                      </a:pPr>
                      <a:r>
                        <a:rPr lang="en-IN" dirty="0">
                          <a:latin typeface="Times New Roman" panose="02020603050405020304" pitchFamily="18" charset="0"/>
                          <a:cs typeface="Times New Roman" panose="02020603050405020304" pitchFamily="18" charset="0"/>
                        </a:rPr>
                        <a:t>⠛⠕⠕⠙</a:t>
                      </a:r>
                    </a:p>
                  </a:txBody>
                  <a:tcPr anchor="ctr">
                    <a:lnL>
                      <a:noFill/>
                    </a:lnL>
                    <a:lnR>
                      <a:noFill/>
                    </a:lnR>
                    <a:lnT>
                      <a:noFill/>
                    </a:lnT>
                    <a:lnB>
                      <a:noFill/>
                    </a:lnB>
                    <a:noFill/>
                  </a:tcPr>
                </a:tc>
                <a:extLst>
                  <a:ext uri="{0D108BD9-81ED-4DB2-BD59-A6C34878D82A}">
                    <a16:rowId xmlns:a16="http://schemas.microsoft.com/office/drawing/2014/main" val="694241117"/>
                  </a:ext>
                </a:extLst>
              </a:tr>
            </a:tbl>
          </a:graphicData>
        </a:graphic>
      </p:graphicFrame>
      <p:pic>
        <p:nvPicPr>
          <p:cNvPr id="4" name="Google Shape;201;p24">
            <a:extLst>
              <a:ext uri="{FF2B5EF4-FFF2-40B4-BE49-F238E27FC236}">
                <a16:creationId xmlns:a16="http://schemas.microsoft.com/office/drawing/2014/main" id="{95F92577-7220-1CF4-B9E0-E1A64859C6D3}"/>
              </a:ext>
            </a:extLst>
          </p:cNvPr>
          <p:cNvPicPr preferRelativeResize="0"/>
          <p:nvPr/>
        </p:nvPicPr>
        <p:blipFill rotWithShape="1">
          <a:blip r:embed="rId2"/>
          <a:srcRect/>
          <a:stretch>
            <a:fillRect/>
          </a:stretch>
        </p:blipFill>
        <p:spPr>
          <a:xfrm>
            <a:off x="10920412" y="158750"/>
            <a:ext cx="981075" cy="838200"/>
          </a:xfrm>
          <a:prstGeom prst="rect">
            <a:avLst/>
          </a:prstGeom>
          <a:noFill/>
          <a:ln>
            <a:noFill/>
          </a:ln>
        </p:spPr>
      </p:pic>
    </p:spTree>
    <p:extLst>
      <p:ext uri="{BB962C8B-B14F-4D97-AF65-F5344CB8AC3E}">
        <p14:creationId xmlns:p14="http://schemas.microsoft.com/office/powerpoint/2010/main" val="2270805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C428B-7E07-25B8-A43F-69F34D05AB74}"/>
              </a:ext>
            </a:extLst>
          </p:cNvPr>
          <p:cNvSpPr>
            <a:spLocks noGrp="1"/>
          </p:cNvSpPr>
          <p:nvPr>
            <p:ph type="title"/>
          </p:nvPr>
        </p:nvSpPr>
        <p:spPr>
          <a:xfrm>
            <a:off x="838200" y="365125"/>
            <a:ext cx="10515600" cy="823595"/>
          </a:xfrm>
        </p:spPr>
        <p:txBody>
          <a:bodyPr>
            <a:normAutofit/>
          </a:bodyPr>
          <a:lstStyle/>
          <a:p>
            <a:r>
              <a:rPr lang="en-IN" sz="2000" b="1" u="sng" dirty="0">
                <a:latin typeface="Times New Roman" panose="02020603050405020304" pitchFamily="18" charset="0"/>
                <a:cs typeface="Times New Roman" panose="02020603050405020304" pitchFamily="18" charset="0"/>
              </a:rPr>
              <a:t>Results And Discussions</a:t>
            </a:r>
          </a:p>
        </p:txBody>
      </p:sp>
      <p:sp>
        <p:nvSpPr>
          <p:cNvPr id="3" name="Content Placeholder 2">
            <a:extLst>
              <a:ext uri="{FF2B5EF4-FFF2-40B4-BE49-F238E27FC236}">
                <a16:creationId xmlns:a16="http://schemas.microsoft.com/office/drawing/2014/main" id="{9FE7711E-3100-E72B-7A78-174C18F38F7E}"/>
              </a:ext>
            </a:extLst>
          </p:cNvPr>
          <p:cNvSpPr>
            <a:spLocks noGrp="1"/>
          </p:cNvSpPr>
          <p:nvPr>
            <p:ph idx="1"/>
          </p:nvPr>
        </p:nvSpPr>
        <p:spPr>
          <a:xfrm>
            <a:off x="838200" y="1188720"/>
            <a:ext cx="10515600" cy="4988243"/>
          </a:xfrm>
        </p:spPr>
        <p:txBody>
          <a:bodyPr/>
          <a:lstStyle/>
          <a:p>
            <a:pPr marL="0" indent="0">
              <a:buNone/>
            </a:pPr>
            <a:r>
              <a:rPr lang="en-US" sz="1800" b="1" dirty="0">
                <a:latin typeface="Times New Roman" panose="02020603050405020304" pitchFamily="18" charset="0"/>
                <a:cs typeface="Times New Roman" panose="02020603050405020304" pitchFamily="18" charset="0"/>
              </a:rPr>
              <a:t> Results</a:t>
            </a:r>
          </a:p>
          <a:p>
            <a:pPr marL="0" indent="0">
              <a:buNone/>
            </a:pP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Speech successfully converted to text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ii)  Text accurately converted to Braille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iii)  System works in real-time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iv)  Output readable for visually impaired users</a:t>
            </a:r>
          </a:p>
          <a:p>
            <a:endParaRPr lang="en-IN" dirty="0"/>
          </a:p>
          <a:p>
            <a:pPr marL="0" indent="0">
              <a:buNone/>
            </a:pPr>
            <a:r>
              <a:rPr lang="en-US" sz="1800" b="1" dirty="0">
                <a:latin typeface="Times New Roman" panose="02020603050405020304" pitchFamily="18" charset="0"/>
                <a:cs typeface="Times New Roman" panose="02020603050405020304" pitchFamily="18" charset="0"/>
              </a:rPr>
              <a:t>   Discussion</a:t>
            </a:r>
          </a:p>
          <a:p>
            <a:r>
              <a:rPr lang="en-US" sz="1800" dirty="0">
                <a:latin typeface="Times New Roman" panose="02020603050405020304" pitchFamily="18" charset="0"/>
                <a:cs typeface="Times New Roman" panose="02020603050405020304" pitchFamily="18" charset="0"/>
              </a:rPr>
              <a:t>Accuracy depends on voice clarity</a:t>
            </a:r>
          </a:p>
          <a:p>
            <a:r>
              <a:rPr lang="en-US" sz="1800" dirty="0">
                <a:latin typeface="Times New Roman" panose="02020603050405020304" pitchFamily="18" charset="0"/>
                <a:cs typeface="Times New Roman" panose="02020603050405020304" pitchFamily="18" charset="0"/>
              </a:rPr>
              <a:t>Noise may slightly affect recognition</a:t>
            </a:r>
          </a:p>
          <a:p>
            <a:r>
              <a:rPr lang="en-US" sz="1800" dirty="0">
                <a:latin typeface="Times New Roman" panose="02020603050405020304" pitchFamily="18" charset="0"/>
                <a:cs typeface="Times New Roman" panose="02020603050405020304" pitchFamily="18" charset="0"/>
              </a:rPr>
              <a:t>Processing speed is fast and efficient</a:t>
            </a:r>
          </a:p>
          <a:p>
            <a:r>
              <a:rPr lang="en-US" sz="1800" dirty="0">
                <a:latin typeface="Times New Roman" panose="02020603050405020304" pitchFamily="18" charset="0"/>
                <a:cs typeface="Times New Roman" panose="02020603050405020304" pitchFamily="18" charset="0"/>
              </a:rPr>
              <a:t>Low-cost solution compared to commercial devices</a:t>
            </a:r>
          </a:p>
          <a:p>
            <a:endParaRPr lang="en-IN" dirty="0"/>
          </a:p>
        </p:txBody>
      </p:sp>
      <p:pic>
        <p:nvPicPr>
          <p:cNvPr id="4" name="Google Shape;201;p24">
            <a:extLst>
              <a:ext uri="{FF2B5EF4-FFF2-40B4-BE49-F238E27FC236}">
                <a16:creationId xmlns:a16="http://schemas.microsoft.com/office/drawing/2014/main" id="{285D57C7-4F5D-C94B-23EC-3287703D26AA}"/>
              </a:ext>
            </a:extLst>
          </p:cNvPr>
          <p:cNvPicPr preferRelativeResize="0"/>
          <p:nvPr/>
        </p:nvPicPr>
        <p:blipFill rotWithShape="1">
          <a:blip r:embed="rId2"/>
          <a:srcRect/>
          <a:stretch>
            <a:fillRect/>
          </a:stretch>
        </p:blipFill>
        <p:spPr>
          <a:xfrm>
            <a:off x="10920412" y="158750"/>
            <a:ext cx="981075" cy="838200"/>
          </a:xfrm>
          <a:prstGeom prst="rect">
            <a:avLst/>
          </a:prstGeom>
          <a:noFill/>
          <a:ln>
            <a:noFill/>
          </a:ln>
        </p:spPr>
      </p:pic>
    </p:spTree>
    <p:extLst>
      <p:ext uri="{BB962C8B-B14F-4D97-AF65-F5344CB8AC3E}">
        <p14:creationId xmlns:p14="http://schemas.microsoft.com/office/powerpoint/2010/main" val="18199409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4E5CF-898F-EEB8-BC06-98EA1405E024}"/>
              </a:ext>
            </a:extLst>
          </p:cNvPr>
          <p:cNvSpPr>
            <a:spLocks noGrp="1"/>
          </p:cNvSpPr>
          <p:nvPr>
            <p:ph type="title"/>
          </p:nvPr>
        </p:nvSpPr>
        <p:spPr>
          <a:xfrm>
            <a:off x="838200" y="365126"/>
            <a:ext cx="10515600" cy="463550"/>
          </a:xfrm>
        </p:spPr>
        <p:txBody>
          <a:bodyPr>
            <a:normAutofit/>
          </a:bodyPr>
          <a:lstStyle/>
          <a:p>
            <a:r>
              <a:rPr lang="en-IN" sz="2000" b="1" u="sng" dirty="0">
                <a:latin typeface="Times New Roman" panose="02020603050405020304" pitchFamily="18" charset="0"/>
                <a:cs typeface="Times New Roman" panose="02020603050405020304" pitchFamily="18" charset="0"/>
              </a:rPr>
              <a:t>Conclusions And Future Scope</a:t>
            </a:r>
          </a:p>
        </p:txBody>
      </p:sp>
      <p:sp>
        <p:nvSpPr>
          <p:cNvPr id="3" name="Content Placeholder 2">
            <a:extLst>
              <a:ext uri="{FF2B5EF4-FFF2-40B4-BE49-F238E27FC236}">
                <a16:creationId xmlns:a16="http://schemas.microsoft.com/office/drawing/2014/main" id="{CDBFAD63-5402-C77D-F77A-D9E38B40118C}"/>
              </a:ext>
            </a:extLst>
          </p:cNvPr>
          <p:cNvSpPr>
            <a:spLocks noGrp="1"/>
          </p:cNvSpPr>
          <p:nvPr>
            <p:ph idx="1"/>
          </p:nvPr>
        </p:nvSpPr>
        <p:spPr>
          <a:xfrm>
            <a:off x="838200" y="1157288"/>
            <a:ext cx="10515600" cy="5019675"/>
          </a:xfrm>
        </p:spPr>
        <p:txBody>
          <a:bodyPr/>
          <a:lstStyle/>
          <a:p>
            <a:pPr marL="0" indent="0">
              <a:buNone/>
            </a:pPr>
            <a:r>
              <a:rPr lang="en-US" sz="1800" b="1" dirty="0">
                <a:latin typeface="Times New Roman" panose="02020603050405020304" pitchFamily="18" charset="0"/>
                <a:cs typeface="Times New Roman" panose="02020603050405020304" pitchFamily="18" charset="0"/>
              </a:rPr>
              <a:t>    Conclusion</a:t>
            </a:r>
          </a:p>
          <a:p>
            <a:r>
              <a:rPr lang="en-US" sz="1800" dirty="0">
                <a:latin typeface="Times New Roman" panose="02020603050405020304" pitchFamily="18" charset="0"/>
                <a:cs typeface="Times New Roman" panose="02020603050405020304" pitchFamily="18" charset="0"/>
              </a:rPr>
              <a:t>Developed a real-time voice-to-Braille system</a:t>
            </a:r>
          </a:p>
          <a:p>
            <a:r>
              <a:rPr lang="en-US" sz="1800" dirty="0">
                <a:latin typeface="Times New Roman" panose="02020603050405020304" pitchFamily="18" charset="0"/>
                <a:cs typeface="Times New Roman" panose="02020603050405020304" pitchFamily="18" charset="0"/>
              </a:rPr>
              <a:t>Helps visually impaired users access information</a:t>
            </a:r>
          </a:p>
          <a:p>
            <a:r>
              <a:rPr lang="en-US" sz="1800" dirty="0">
                <a:latin typeface="Times New Roman" panose="02020603050405020304" pitchFamily="18" charset="0"/>
                <a:cs typeface="Times New Roman" panose="02020603050405020304" pitchFamily="18" charset="0"/>
              </a:rPr>
              <a:t>Affordable and easy to use</a:t>
            </a:r>
          </a:p>
          <a:p>
            <a:r>
              <a:rPr lang="en-US" sz="1800" dirty="0">
                <a:latin typeface="Times New Roman" panose="02020603050405020304" pitchFamily="18" charset="0"/>
                <a:cs typeface="Times New Roman" panose="02020603050405020304" pitchFamily="18" charset="0"/>
              </a:rPr>
              <a:t>Demonstrates assistive technology innovation</a:t>
            </a:r>
          </a:p>
          <a:p>
            <a:endParaRPr lang="en-IN" dirty="0"/>
          </a:p>
          <a:p>
            <a:pPr marL="0" indent="0">
              <a:buNone/>
            </a:pPr>
            <a:r>
              <a:rPr lang="en-IN" sz="1800" b="1" dirty="0">
                <a:latin typeface="Times New Roman" panose="02020603050405020304" pitchFamily="18" charset="0"/>
                <a:cs typeface="Times New Roman" panose="02020603050405020304" pitchFamily="18" charset="0"/>
              </a:rPr>
              <a:t>    Future Scope</a:t>
            </a:r>
          </a:p>
          <a:p>
            <a:pPr marL="0" indent="0">
              <a:buNone/>
            </a:pPr>
            <a:r>
              <a:rPr lang="en-IN" sz="1800" dirty="0" err="1">
                <a:latin typeface="Times New Roman" panose="02020603050405020304" pitchFamily="18" charset="0"/>
                <a:cs typeface="Times New Roman" panose="02020603050405020304" pitchFamily="18" charset="0"/>
              </a:rPr>
              <a:t>i</a:t>
            </a:r>
            <a:r>
              <a:rPr lang="en-IN" sz="1800" dirty="0">
                <a:latin typeface="Times New Roman" panose="02020603050405020304" pitchFamily="18" charset="0"/>
                <a:cs typeface="Times New Roman" panose="02020603050405020304" pitchFamily="18" charset="0"/>
              </a:rPr>
              <a:t>)  Add multi-language support</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ii)  Improve noise filtering accuracy</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iii)  Integrate mobile app connectivity</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iv)  Develop portable wearable device</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v)  Add rechargeable battery support</a:t>
            </a:r>
          </a:p>
          <a:p>
            <a:endParaRPr lang="en-IN" dirty="0"/>
          </a:p>
        </p:txBody>
      </p:sp>
      <p:pic>
        <p:nvPicPr>
          <p:cNvPr id="4" name="Google Shape;201;p24">
            <a:extLst>
              <a:ext uri="{FF2B5EF4-FFF2-40B4-BE49-F238E27FC236}">
                <a16:creationId xmlns:a16="http://schemas.microsoft.com/office/drawing/2014/main" id="{F87B8350-3941-F095-06B2-ED5CE74126E4}"/>
              </a:ext>
            </a:extLst>
          </p:cNvPr>
          <p:cNvPicPr preferRelativeResize="0"/>
          <p:nvPr/>
        </p:nvPicPr>
        <p:blipFill rotWithShape="1">
          <a:blip r:embed="rId2"/>
          <a:srcRect/>
          <a:stretch>
            <a:fillRect/>
          </a:stretch>
        </p:blipFill>
        <p:spPr>
          <a:xfrm>
            <a:off x="10920412" y="158750"/>
            <a:ext cx="981075" cy="838200"/>
          </a:xfrm>
          <a:prstGeom prst="rect">
            <a:avLst/>
          </a:prstGeom>
          <a:noFill/>
          <a:ln>
            <a:noFill/>
          </a:ln>
        </p:spPr>
      </p:pic>
    </p:spTree>
    <p:extLst>
      <p:ext uri="{BB962C8B-B14F-4D97-AF65-F5344CB8AC3E}">
        <p14:creationId xmlns:p14="http://schemas.microsoft.com/office/powerpoint/2010/main" val="20963717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F9E8F-625C-ED02-8577-2350545E0D92}"/>
              </a:ext>
            </a:extLst>
          </p:cNvPr>
          <p:cNvSpPr>
            <a:spLocks noGrp="1"/>
          </p:cNvSpPr>
          <p:nvPr>
            <p:ph type="title"/>
          </p:nvPr>
        </p:nvSpPr>
        <p:spPr>
          <a:xfrm>
            <a:off x="1141413" y="618518"/>
            <a:ext cx="9905998" cy="580362"/>
          </a:xfrm>
        </p:spPr>
        <p:txBody>
          <a:bodyPr>
            <a:normAutofit/>
          </a:bodyPr>
          <a:lstStyle/>
          <a:p>
            <a:r>
              <a:rPr lang="en-US" sz="2000" b="1" u="sng" dirty="0">
                <a:latin typeface="Times New Roman" panose="02020603050405020304" pitchFamily="18" charset="0"/>
                <a:cs typeface="Times New Roman" panose="02020603050405020304" pitchFamily="18" charset="0"/>
              </a:rPr>
              <a:t>References</a:t>
            </a:r>
            <a:endParaRPr lang="en-IN" sz="2000" b="1" u="sng"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E0DA468B-C314-A57E-8E5D-E952923F0A04}"/>
              </a:ext>
            </a:extLst>
          </p:cNvPr>
          <p:cNvGraphicFramePr>
            <a:graphicFrameLocks noGrp="1"/>
          </p:cNvGraphicFramePr>
          <p:nvPr>
            <p:ph idx="1"/>
            <p:extLst>
              <p:ext uri="{D42A27DB-BD31-4B8C-83A1-F6EECF244321}">
                <p14:modId xmlns:p14="http://schemas.microsoft.com/office/powerpoint/2010/main" val="3103981745"/>
              </p:ext>
            </p:extLst>
          </p:nvPr>
        </p:nvGraphicFramePr>
        <p:xfrm>
          <a:off x="524933" y="1564640"/>
          <a:ext cx="10522476" cy="4307840"/>
        </p:xfrm>
        <a:graphic>
          <a:graphicData uri="http://schemas.openxmlformats.org/drawingml/2006/table">
            <a:tbl>
              <a:tblPr/>
              <a:tblGrid>
                <a:gridCol w="10522476">
                  <a:extLst>
                    <a:ext uri="{9D8B030D-6E8A-4147-A177-3AD203B41FA5}">
                      <a16:colId xmlns:a16="http://schemas.microsoft.com/office/drawing/2014/main" val="1620853103"/>
                    </a:ext>
                  </a:extLst>
                </a:gridCol>
              </a:tblGrid>
              <a:tr h="4307840">
                <a:tc>
                  <a:txBody>
                    <a:bodyPr/>
                    <a:lstStyle/>
                    <a:p>
                      <a:pPr marL="0" indent="0">
                        <a:buNone/>
                      </a:pPr>
                      <a:r>
                        <a:rPr lang="en-IN" b="1" dirty="0">
                          <a:solidFill>
                            <a:schemeClr val="tx1"/>
                          </a:solidFill>
                          <a:latin typeface="Times New Roman" panose="02020603050405020304" pitchFamily="18" charset="0"/>
                          <a:cs typeface="Times New Roman" panose="02020603050405020304" pitchFamily="18" charset="0"/>
                        </a:rPr>
                        <a:t>1. </a:t>
                      </a:r>
                      <a:r>
                        <a:rPr lang="en-IN" dirty="0">
                          <a:latin typeface="Times New Roman" panose="02020603050405020304" pitchFamily="18" charset="0"/>
                          <a:cs typeface="Times New Roman" panose="02020603050405020304" pitchFamily="18" charset="0"/>
                        </a:rPr>
                        <a:t>M. </a:t>
                      </a:r>
                      <a:r>
                        <a:rPr lang="en-IN" dirty="0" err="1">
                          <a:latin typeface="Times New Roman" panose="02020603050405020304" pitchFamily="18" charset="0"/>
                          <a:cs typeface="Times New Roman" panose="02020603050405020304" pitchFamily="18" charset="0"/>
                        </a:rPr>
                        <a:t>Etezad</a:t>
                      </a:r>
                      <a:r>
                        <a:rPr lang="en-IN" dirty="0">
                          <a:latin typeface="Times New Roman" panose="02020603050405020304" pitchFamily="18" charset="0"/>
                          <a:cs typeface="Times New Roman" panose="02020603050405020304" pitchFamily="18" charset="0"/>
                        </a:rPr>
                        <a:t>, R. Joshi, and F. L. Cibrian, “Advancements in Refreshable Braille Display Technology: A Comprehensive Survey,” </a:t>
                      </a:r>
                      <a:r>
                        <a:rPr lang="en-IN" i="1" dirty="0">
                          <a:latin typeface="Times New Roman" panose="02020603050405020304" pitchFamily="18" charset="0"/>
                          <a:cs typeface="Times New Roman" panose="02020603050405020304" pitchFamily="18" charset="0"/>
                        </a:rPr>
                        <a:t>Displays</a:t>
                      </a:r>
                      <a:r>
                        <a:rPr lang="en-IN" dirty="0">
                          <a:latin typeface="Times New Roman" panose="02020603050405020304" pitchFamily="18" charset="0"/>
                          <a:cs typeface="Times New Roman" panose="02020603050405020304" pitchFamily="18" charset="0"/>
                        </a:rPr>
                        <a:t>, vol. 90, 2025. </a:t>
                      </a:r>
                      <a:r>
                        <a:rPr lang="en-IN" dirty="0">
                          <a:latin typeface="Times New Roman" panose="02020603050405020304" pitchFamily="18" charset="0"/>
                          <a:cs typeface="Times New Roman" panose="02020603050405020304" pitchFamily="18" charset="0"/>
                          <a:hlinkClick r:id="rId2"/>
                        </a:rPr>
                        <a:t>Chapman University Digital Commons</a:t>
                      </a: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r>
                        <a:rPr lang="en-IN" b="1" dirty="0">
                          <a:solidFill>
                            <a:schemeClr val="tx1"/>
                          </a:solidFill>
                          <a:latin typeface="Times New Roman" panose="02020603050405020304" pitchFamily="18" charset="0"/>
                          <a:cs typeface="Times New Roman" panose="02020603050405020304" pitchFamily="18" charset="0"/>
                        </a:rPr>
                        <a:t>2. </a:t>
                      </a:r>
                      <a:r>
                        <a:rPr lang="en-IN" dirty="0">
                          <a:latin typeface="Times New Roman" panose="02020603050405020304" pitchFamily="18" charset="0"/>
                          <a:cs typeface="Times New Roman" panose="02020603050405020304" pitchFamily="18" charset="0"/>
                        </a:rPr>
                        <a:t>B. Bhanushali, A. Dhoot, P. Gandhi, and K. Mehta, “Refreshable Braille Displays,” </a:t>
                      </a:r>
                      <a:r>
                        <a:rPr lang="en-IN" i="1" dirty="0">
                          <a:latin typeface="Times New Roman" panose="02020603050405020304" pitchFamily="18" charset="0"/>
                          <a:cs typeface="Times New Roman" panose="02020603050405020304" pitchFamily="18" charset="0"/>
                        </a:rPr>
                        <a:t>Int. J. Computer Applications</a:t>
                      </a:r>
                      <a:r>
                        <a:rPr lang="en-IN" dirty="0">
                          <a:latin typeface="Times New Roman" panose="02020603050405020304" pitchFamily="18" charset="0"/>
                          <a:cs typeface="Times New Roman" panose="02020603050405020304" pitchFamily="18" charset="0"/>
                        </a:rPr>
                        <a:t>, vol. 180, no. 37, 2018. </a:t>
                      </a:r>
                      <a:r>
                        <a:rPr lang="en-IN" dirty="0">
                          <a:latin typeface="Times New Roman" panose="02020603050405020304" pitchFamily="18" charset="0"/>
                          <a:cs typeface="Times New Roman" panose="02020603050405020304" pitchFamily="18" charset="0"/>
                          <a:hlinkClick r:id="rId3"/>
                        </a:rPr>
                        <a:t>IJCA</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b="1" dirty="0">
                          <a:solidFill>
                            <a:schemeClr val="tx1"/>
                          </a:solidFill>
                          <a:latin typeface="Times New Roman" panose="02020603050405020304" pitchFamily="18" charset="0"/>
                          <a:cs typeface="Times New Roman" panose="02020603050405020304" pitchFamily="18" charset="0"/>
                        </a:rPr>
                        <a:t>3. </a:t>
                      </a:r>
                      <a:r>
                        <a:rPr lang="en-IN" dirty="0">
                          <a:latin typeface="Times New Roman" panose="02020603050405020304" pitchFamily="18" charset="0"/>
                          <a:cs typeface="Times New Roman" panose="02020603050405020304" pitchFamily="18" charset="0"/>
                        </a:rPr>
                        <a:t>“Visual and Tactile Perception Techniques for Braille Recognition,” </a:t>
                      </a:r>
                      <a:r>
                        <a:rPr lang="en-IN" i="1" dirty="0">
                          <a:latin typeface="Times New Roman" panose="02020603050405020304" pitchFamily="18" charset="0"/>
                          <a:cs typeface="Times New Roman" panose="02020603050405020304" pitchFamily="18" charset="0"/>
                        </a:rPr>
                        <a:t>Micro and Nano Systems Letters</a:t>
                      </a:r>
                      <a:r>
                        <a:rPr lang="en-IN" dirty="0">
                          <a:latin typeface="Times New Roman" panose="02020603050405020304" pitchFamily="18" charset="0"/>
                          <a:cs typeface="Times New Roman" panose="02020603050405020304" pitchFamily="18" charset="0"/>
                        </a:rPr>
                        <a:t>, 2023. </a:t>
                      </a:r>
                      <a:r>
                        <a:rPr lang="en-IN" dirty="0">
                          <a:latin typeface="Times New Roman" panose="02020603050405020304" pitchFamily="18" charset="0"/>
                          <a:cs typeface="Times New Roman" panose="02020603050405020304" pitchFamily="18" charset="0"/>
                          <a:hlinkClick r:id="rId4"/>
                        </a:rPr>
                        <a:t>SpringerLink</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b="1" dirty="0">
                          <a:solidFill>
                            <a:schemeClr val="tx1"/>
                          </a:solidFill>
                          <a:latin typeface="Times New Roman" panose="02020603050405020304" pitchFamily="18" charset="0"/>
                          <a:cs typeface="Times New Roman" panose="02020603050405020304" pitchFamily="18" charset="0"/>
                        </a:rPr>
                        <a:t>4. </a:t>
                      </a:r>
                      <a:r>
                        <a:rPr lang="en-IN" dirty="0">
                          <a:latin typeface="Times New Roman" panose="02020603050405020304" pitchFamily="18" charset="0"/>
                          <a:cs typeface="Times New Roman" panose="02020603050405020304" pitchFamily="18" charset="0"/>
                        </a:rPr>
                        <a:t>S. </a:t>
                      </a:r>
                      <a:r>
                        <a:rPr lang="en-IN" dirty="0" err="1">
                          <a:latin typeface="Times New Roman" panose="02020603050405020304" pitchFamily="18" charset="0"/>
                          <a:cs typeface="Times New Roman" panose="02020603050405020304" pitchFamily="18" charset="0"/>
                        </a:rPr>
                        <a:t>Alzalabny</a:t>
                      </a:r>
                      <a:r>
                        <a:rPr lang="en-IN" dirty="0">
                          <a:latin typeface="Times New Roman" panose="02020603050405020304" pitchFamily="18" charset="0"/>
                          <a:cs typeface="Times New Roman" panose="02020603050405020304" pitchFamily="18" charset="0"/>
                        </a:rPr>
                        <a:t>, O. </a:t>
                      </a:r>
                      <a:r>
                        <a:rPr lang="en-IN" dirty="0" err="1">
                          <a:latin typeface="Times New Roman" panose="02020603050405020304" pitchFamily="18" charset="0"/>
                          <a:cs typeface="Times New Roman" panose="02020603050405020304" pitchFamily="18" charset="0"/>
                        </a:rPr>
                        <a:t>Moured</a:t>
                      </a:r>
                      <a:r>
                        <a:rPr lang="en-IN" dirty="0">
                          <a:latin typeface="Times New Roman" panose="02020603050405020304" pitchFamily="18" charset="0"/>
                          <a:cs typeface="Times New Roman" panose="02020603050405020304" pitchFamily="18" charset="0"/>
                        </a:rPr>
                        <a:t>, K. Müller, et al., “Design and Evaluation of a Multisensory Tangible Game Device for Inclusive Pre‑Braille Literacy,” </a:t>
                      </a:r>
                      <a:r>
                        <a:rPr lang="en-IN" i="1" dirty="0">
                          <a:latin typeface="Times New Roman" panose="02020603050405020304" pitchFamily="18" charset="0"/>
                          <a:cs typeface="Times New Roman" panose="02020603050405020304" pitchFamily="18" charset="0"/>
                        </a:rPr>
                        <a:t>Education Sciences</a:t>
                      </a:r>
                      <a:r>
                        <a:rPr lang="en-IN" dirty="0">
                          <a:latin typeface="Times New Roman" panose="02020603050405020304" pitchFamily="18" charset="0"/>
                          <a:cs typeface="Times New Roman" panose="02020603050405020304" pitchFamily="18" charset="0"/>
                        </a:rPr>
                        <a:t>, 2025. </a:t>
                      </a:r>
                      <a:r>
                        <a:rPr lang="en-IN" dirty="0">
                          <a:latin typeface="Times New Roman" panose="02020603050405020304" pitchFamily="18" charset="0"/>
                          <a:cs typeface="Times New Roman" panose="02020603050405020304" pitchFamily="18" charset="0"/>
                          <a:hlinkClick r:id="rId5"/>
                        </a:rPr>
                        <a:t>MDPI</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b="1" dirty="0">
                          <a:solidFill>
                            <a:schemeClr val="tx1"/>
                          </a:solidFill>
                          <a:latin typeface="Times New Roman" panose="02020603050405020304" pitchFamily="18" charset="0"/>
                          <a:cs typeface="Times New Roman" panose="02020603050405020304" pitchFamily="18" charset="0"/>
                        </a:rPr>
                        <a:t>5. </a:t>
                      </a:r>
                      <a:r>
                        <a:rPr lang="en-IN" dirty="0">
                          <a:latin typeface="Times New Roman" panose="02020603050405020304" pitchFamily="18" charset="0"/>
                          <a:cs typeface="Times New Roman" panose="02020603050405020304" pitchFamily="18" charset="0"/>
                        </a:rPr>
                        <a:t>“Development and Evaluation of Refreshable Braille Display and Active Touch‑Reading System for Digital Reading,” PubMed, 2024. </a:t>
                      </a:r>
                      <a:r>
                        <a:rPr lang="en-IN" dirty="0">
                          <a:latin typeface="Times New Roman" panose="02020603050405020304" pitchFamily="18" charset="0"/>
                          <a:cs typeface="Times New Roman" panose="02020603050405020304" pitchFamily="18" charset="0"/>
                          <a:hlinkClick r:id="rId6"/>
                        </a:rPr>
                        <a:t>PubMed</a:t>
                      </a:r>
                      <a:endParaRPr lang="en-IN" dirty="0">
                        <a:latin typeface="Times New Roman" panose="02020603050405020304" pitchFamily="18" charset="0"/>
                        <a:cs typeface="Times New Roman" panose="02020603050405020304" pitchFamily="18" charset="0"/>
                      </a:endParaRPr>
                    </a:p>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3267139173"/>
                  </a:ext>
                </a:extLst>
              </a:tr>
            </a:tbl>
          </a:graphicData>
        </a:graphic>
      </p:graphicFrame>
      <p:pic>
        <p:nvPicPr>
          <p:cNvPr id="5" name="Google Shape;201;p24">
            <a:extLst>
              <a:ext uri="{FF2B5EF4-FFF2-40B4-BE49-F238E27FC236}">
                <a16:creationId xmlns:a16="http://schemas.microsoft.com/office/drawing/2014/main" id="{249990AF-FE3F-52C4-49D3-6A391A048ED4}"/>
              </a:ext>
            </a:extLst>
          </p:cNvPr>
          <p:cNvPicPr preferRelativeResize="0"/>
          <p:nvPr/>
        </p:nvPicPr>
        <p:blipFill rotWithShape="1">
          <a:blip r:embed="rId7"/>
          <a:srcRect/>
          <a:stretch>
            <a:fillRect/>
          </a:stretch>
        </p:blipFill>
        <p:spPr>
          <a:xfrm>
            <a:off x="10920412" y="158750"/>
            <a:ext cx="981075" cy="838200"/>
          </a:xfrm>
          <a:prstGeom prst="rect">
            <a:avLst/>
          </a:prstGeom>
          <a:noFill/>
          <a:ln>
            <a:noFill/>
          </a:ln>
        </p:spPr>
      </p:pic>
    </p:spTree>
    <p:extLst>
      <p:ext uri="{BB962C8B-B14F-4D97-AF65-F5344CB8AC3E}">
        <p14:creationId xmlns:p14="http://schemas.microsoft.com/office/powerpoint/2010/main" val="14901237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5E084-BC3F-7356-3394-3E9CE1D31D9A}"/>
              </a:ext>
            </a:extLst>
          </p:cNvPr>
          <p:cNvSpPr>
            <a:spLocks noGrp="1"/>
          </p:cNvSpPr>
          <p:nvPr>
            <p:ph type="title"/>
          </p:nvPr>
        </p:nvSpPr>
        <p:spPr>
          <a:xfrm>
            <a:off x="904347" y="779386"/>
            <a:ext cx="9905998" cy="507548"/>
          </a:xfrm>
        </p:spPr>
        <p:txBody>
          <a:bodyPr>
            <a:normAutofit/>
          </a:bodyPr>
          <a:lstStyle/>
          <a:p>
            <a:r>
              <a:rPr lang="en-US" sz="2000" b="1" dirty="0">
                <a:latin typeface="Times New Roman" panose="02020603050405020304" pitchFamily="18" charset="0"/>
                <a:cs typeface="Times New Roman" panose="02020603050405020304" pitchFamily="18" charset="0"/>
              </a:rPr>
              <a:t>References</a:t>
            </a:r>
            <a:endParaRPr lang="en-IN" sz="2000"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3D5A847C-BF03-DDAE-2410-0A9A26118395}"/>
              </a:ext>
            </a:extLst>
          </p:cNvPr>
          <p:cNvSpPr>
            <a:spLocks noGrp="1" noChangeArrowheads="1"/>
          </p:cNvSpPr>
          <p:nvPr>
            <p:ph idx="1"/>
          </p:nvPr>
        </p:nvSpPr>
        <p:spPr bwMode="auto">
          <a:xfrm>
            <a:off x="719667" y="1860541"/>
            <a:ext cx="10897567"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lang="en-US" altLang="en-US" sz="1800" b="1" dirty="0">
                <a:latin typeface="Times New Roman" panose="02020603050405020304" pitchFamily="18" charset="0"/>
                <a:cs typeface="Times New Roman" panose="02020603050405020304" pitchFamily="18" charset="0"/>
              </a:rPr>
              <a:t>6.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 N. Kamarudin et al., “Braille Display Systems for Blind People with Haptic Belt,”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 J. Human and Technology Interaction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vol. 5, 2021.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2"/>
              </a:rPr>
              <a:t>IJHATI</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1800" b="1" dirty="0">
                <a:latin typeface="Times New Roman" panose="02020603050405020304" pitchFamily="18" charset="0"/>
                <a:cs typeface="Times New Roman" panose="02020603050405020304" pitchFamily="18" charset="0"/>
              </a:rPr>
              <a:t>7.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 Suzuki et al.,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FluxMarker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Enhancing Tactile Graphics with Dynamic Tactile Markers,”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arXiv</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2017.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hlinkClick r:id="rId3"/>
              </a:rPr>
              <a:t>arXiv</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1800" b="1" dirty="0">
                <a:latin typeface="Times New Roman" panose="02020603050405020304" pitchFamily="18" charset="0"/>
                <a:cs typeface="Times New Roman" panose="02020603050405020304" pitchFamily="18" charset="0"/>
              </a:rPr>
              <a:t>8.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 Bhatnagar et al., “Pixelated Interactions: Exploring Pixel Art for Graphical Primitives on a Tactile Display,”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arXiv</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2023.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hlinkClick r:id="rId4"/>
              </a:rPr>
              <a:t>arXiv</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effectLst/>
                <a:latin typeface="Times New Roman" panose="02020603050405020304" pitchFamily="18" charset="0"/>
                <a:cs typeface="Times New Roman" panose="02020603050405020304" pitchFamily="18" charset="0"/>
              </a:rPr>
              <a:t>9.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Survey on Tactile Displays for Visually Impaired People,”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PubMed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5"/>
              </a:rPr>
              <a:t>PubMed</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1800" b="1" dirty="0">
                <a:latin typeface="Times New Roman" panose="02020603050405020304" pitchFamily="18" charset="0"/>
                <a:cs typeface="Times New Roman" panose="02020603050405020304" pitchFamily="18" charset="0"/>
              </a:rPr>
              <a:t>10.</a:t>
            </a:r>
            <a:r>
              <a:rPr lang="en-US" altLang="en-US" sz="1800" dirty="0">
                <a:solidFill>
                  <a:schemeClr val="bg1"/>
                </a:solidFill>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O’Modhrain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et al., “Designing Media for Visually‑Impaired Users of Refreshable Touch Displays: Possibilities and Pitfalls,”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IEEE Trans. on Haptics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2015.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6"/>
              </a:rPr>
              <a:t>Experts at U of M</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5" name="Google Shape;201;p24">
            <a:extLst>
              <a:ext uri="{FF2B5EF4-FFF2-40B4-BE49-F238E27FC236}">
                <a16:creationId xmlns:a16="http://schemas.microsoft.com/office/drawing/2014/main" id="{39A92E12-94F2-012A-B6A9-2C24791988C6}"/>
              </a:ext>
            </a:extLst>
          </p:cNvPr>
          <p:cNvPicPr preferRelativeResize="0"/>
          <p:nvPr/>
        </p:nvPicPr>
        <p:blipFill rotWithShape="1">
          <a:blip r:embed="rId7"/>
          <a:srcRect/>
          <a:stretch>
            <a:fillRect/>
          </a:stretch>
        </p:blipFill>
        <p:spPr>
          <a:xfrm>
            <a:off x="10928879" y="158750"/>
            <a:ext cx="981075" cy="838200"/>
          </a:xfrm>
          <a:prstGeom prst="rect">
            <a:avLst/>
          </a:prstGeom>
          <a:noFill/>
          <a:ln>
            <a:noFill/>
          </a:ln>
        </p:spPr>
      </p:pic>
    </p:spTree>
    <p:extLst>
      <p:ext uri="{BB962C8B-B14F-4D97-AF65-F5344CB8AC3E}">
        <p14:creationId xmlns:p14="http://schemas.microsoft.com/office/powerpoint/2010/main" val="37986101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AFE05-C2C5-71EC-6095-83D1109376F3}"/>
              </a:ext>
            </a:extLst>
          </p:cNvPr>
          <p:cNvSpPr>
            <a:spLocks noGrp="1"/>
          </p:cNvSpPr>
          <p:nvPr>
            <p:ph type="title"/>
          </p:nvPr>
        </p:nvSpPr>
        <p:spPr>
          <a:xfrm>
            <a:off x="3684851" y="2540450"/>
            <a:ext cx="4988454" cy="1478570"/>
          </a:xfrm>
        </p:spPr>
        <p:txBody>
          <a:bodyPr>
            <a:noAutofit/>
          </a:bodyPr>
          <a:lstStyle/>
          <a:p>
            <a:r>
              <a:rPr lang="en-US" sz="6000" dirty="0">
                <a:latin typeface="Times New Roman" panose="02020603050405020304" pitchFamily="18" charset="0"/>
                <a:cs typeface="Times New Roman" panose="02020603050405020304" pitchFamily="18" charset="0"/>
              </a:rPr>
              <a:t>Thank you</a:t>
            </a:r>
            <a:endParaRPr lang="en-IN" sz="6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1CA792E-FF5D-6905-BD9F-657EE791B3D4}"/>
              </a:ext>
            </a:extLst>
          </p:cNvPr>
          <p:cNvSpPr>
            <a:spLocks noGrp="1"/>
          </p:cNvSpPr>
          <p:nvPr>
            <p:ph idx="1"/>
          </p:nvPr>
        </p:nvSpPr>
        <p:spPr>
          <a:xfrm>
            <a:off x="1226079" y="4792134"/>
            <a:ext cx="9905999" cy="575734"/>
          </a:xfrm>
        </p:spPr>
        <p:txBody>
          <a:bodyPr/>
          <a:lstStyle/>
          <a:p>
            <a:pPr marL="0" indent="0">
              <a:buNone/>
            </a:pPr>
            <a:r>
              <a:rPr lang="en-US" dirty="0"/>
              <a:t> </a:t>
            </a:r>
            <a:endParaRPr lang="en-IN" dirty="0"/>
          </a:p>
        </p:txBody>
      </p:sp>
      <p:pic>
        <p:nvPicPr>
          <p:cNvPr id="4" name="Google Shape;201;p24">
            <a:extLst>
              <a:ext uri="{FF2B5EF4-FFF2-40B4-BE49-F238E27FC236}">
                <a16:creationId xmlns:a16="http://schemas.microsoft.com/office/drawing/2014/main" id="{01BDC430-1EC0-4F35-A713-34156797215F}"/>
              </a:ext>
            </a:extLst>
          </p:cNvPr>
          <p:cNvPicPr preferRelativeResize="0"/>
          <p:nvPr/>
        </p:nvPicPr>
        <p:blipFill rotWithShape="1">
          <a:blip r:embed="rId2"/>
          <a:srcRect/>
          <a:stretch>
            <a:fillRect/>
          </a:stretch>
        </p:blipFill>
        <p:spPr>
          <a:xfrm>
            <a:off x="10920412" y="158750"/>
            <a:ext cx="981075" cy="838200"/>
          </a:xfrm>
          <a:prstGeom prst="rect">
            <a:avLst/>
          </a:prstGeom>
          <a:noFill/>
          <a:ln>
            <a:noFill/>
          </a:ln>
        </p:spPr>
      </p:pic>
    </p:spTree>
    <p:extLst>
      <p:ext uri="{BB962C8B-B14F-4D97-AF65-F5344CB8AC3E}">
        <p14:creationId xmlns:p14="http://schemas.microsoft.com/office/powerpoint/2010/main" val="9073480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901</TotalTime>
  <Words>2283</Words>
  <Application>Microsoft Office PowerPoint</Application>
  <PresentationFormat>Widescreen</PresentationFormat>
  <Paragraphs>374</Paragraphs>
  <Slides>38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Aptos</vt:lpstr>
      <vt:lpstr>Aptos Display</vt:lpstr>
      <vt:lpstr>Arial</vt:lpstr>
      <vt:lpstr>Times New Roman</vt:lpstr>
      <vt:lpstr>Office Theme</vt:lpstr>
      <vt:lpstr>Voice Enabled Smart Braille Assistive System</vt:lpstr>
      <vt:lpstr>Voice Enabled Smart Braille Assistive System</vt:lpstr>
      <vt:lpstr>Outline</vt:lpstr>
      <vt:lpstr>Abstract</vt:lpstr>
      <vt:lpstr>Introduction  </vt:lpstr>
      <vt:lpstr>Literature survey</vt:lpstr>
      <vt:lpstr>PowerPoint Presentation</vt:lpstr>
      <vt:lpstr> </vt:lpstr>
      <vt:lpstr>Motivation</vt:lpstr>
      <vt:lpstr>Objective</vt:lpstr>
      <vt:lpstr>Existing Method</vt:lpstr>
      <vt:lpstr>Proposed Method</vt:lpstr>
      <vt:lpstr>PROPOSED WORK: SPEECH MODULE</vt:lpstr>
      <vt:lpstr> PROPOSED WORK: CONTROLLER UNIT</vt:lpstr>
      <vt:lpstr>PROPOSED WORK: BRAILLE OUTPUT UNIT</vt:lpstr>
      <vt:lpstr>Block Diagram</vt:lpstr>
      <vt:lpstr>Hardware Used</vt:lpstr>
      <vt:lpstr>Software Used</vt:lpstr>
      <vt:lpstr>Applications</vt:lpstr>
      <vt:lpstr>Advantages</vt:lpstr>
      <vt:lpstr>System Architecture/Proposed work Block diagram</vt:lpstr>
      <vt:lpstr>PROPOSED WORK BLOCK DIAGRAM</vt:lpstr>
      <vt:lpstr>BLOCK DIAGRAM WORKING</vt:lpstr>
      <vt:lpstr>UML DIAGRAMS (CSE &amp; ALLIED)</vt:lpstr>
      <vt:lpstr> </vt:lpstr>
      <vt:lpstr>DFD (DATA FLOW DIAGRAM)</vt:lpstr>
      <vt:lpstr>DFD  Level 0 &amp; Level 1</vt:lpstr>
      <vt:lpstr>PROTOTYPE (OTHERS)</vt:lpstr>
      <vt:lpstr>PROTOTYPE WORKING</vt:lpstr>
      <vt:lpstr>Implementation (Part of the Code)</vt:lpstr>
      <vt:lpstr> </vt:lpstr>
      <vt:lpstr> </vt:lpstr>
      <vt:lpstr>Testing / Simulation</vt:lpstr>
      <vt:lpstr>Results And Discussions</vt:lpstr>
      <vt:lpstr>Conclusions And Future Scope</vt:lpstr>
      <vt:lpstr>References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ANNEM VEERANJI REDDY</dc:creator>
  <cp:lastModifiedBy>ANNEM VEERANJI REDDY</cp:lastModifiedBy>
  <cp:revision>4</cp:revision>
  <dcterms:created xsi:type="dcterms:W3CDTF">2025-12-17T19:50:00Z</dcterms:created>
  <dcterms:modified xsi:type="dcterms:W3CDTF">2026-02-25T19:16:27Z</dcterms:modified>
</cp:coreProperties>
</file>